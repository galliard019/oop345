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326" r:id="rId6"/>
    <p:sldId id="516" r:id="rId7"/>
    <p:sldId id="517" r:id="rId8"/>
    <p:sldId id="518" r:id="rId9"/>
    <p:sldId id="519" r:id="rId10"/>
    <p:sldId id="520" r:id="rId11"/>
    <p:sldId id="521" r:id="rId12"/>
    <p:sldId id="522" r:id="rId13"/>
    <p:sldId id="523" r:id="rId14"/>
    <p:sldId id="524" r:id="rId15"/>
    <p:sldId id="525" r:id="rId16"/>
    <p:sldId id="526" r:id="rId17"/>
    <p:sldId id="527" r:id="rId18"/>
    <p:sldId id="528" r:id="rId19"/>
    <p:sldId id="529" r:id="rId20"/>
    <p:sldId id="530" r:id="rId21"/>
    <p:sldId id="531" r:id="rId22"/>
    <p:sldId id="534" r:id="rId23"/>
    <p:sldId id="533" r:id="rId24"/>
    <p:sldId id="535" r:id="rId25"/>
    <p:sldId id="536" r:id="rId26"/>
    <p:sldId id="538" r:id="rId27"/>
    <p:sldId id="537" r:id="rId28"/>
    <p:sldId id="532" r:id="rId29"/>
    <p:sldId id="539" r:id="rId30"/>
    <p:sldId id="540" r:id="rId31"/>
    <p:sldId id="541" r:id="rId32"/>
    <p:sldId id="542" r:id="rId33"/>
    <p:sldId id="543" r:id="rId34"/>
    <p:sldId id="544" r:id="rId35"/>
    <p:sldId id="545" r:id="rId36"/>
    <p:sldId id="546" r:id="rId37"/>
    <p:sldId id="547" r:id="rId38"/>
    <p:sldId id="548" r:id="rId39"/>
    <p:sldId id="549" r:id="rId40"/>
    <p:sldId id="550" r:id="rId41"/>
    <p:sldId id="465"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2" qsCatId="simple" csTypeId="urn:microsoft.com/office/officeart/2005/8/colors/accent0_3" csCatId="mainScheme" phldr="1"/>
      <dgm:spPr/>
      <dgm:t>
        <a:bodyPr/>
        <a:lstStyle/>
        <a:p>
          <a:endParaRPr lang="en-US"/>
        </a:p>
      </dgm:t>
    </dgm:pt>
    <dgm:pt modelId="{BDB074DC-2B99-4E3E-94AE-DB665F22A75A}">
      <dgm:prSet/>
      <dgm:spPr/>
      <dgm:t>
        <a:bodyPr/>
        <a:lstStyle/>
        <a:p>
          <a:r>
            <a:rPr lang="en-US" dirty="0"/>
            <a:t>Raw Pointers</a:t>
          </a:r>
        </a:p>
      </dgm:t>
    </dgm:pt>
    <dgm:pt modelId="{6D76834D-42F3-4B55-AE0B-316CE23DE843}" type="parTrans" cxnId="{FF59B4C0-E386-4CCC-8FC6-5BF90D699CB7}">
      <dgm:prSet/>
      <dgm:spPr/>
      <dgm:t>
        <a:bodyPr/>
        <a:lstStyle/>
        <a:p>
          <a:endParaRPr lang="en-CA"/>
        </a:p>
      </dgm:t>
    </dgm:pt>
    <dgm:pt modelId="{933A6189-028B-4DA6-94E3-4604F3839206}" type="sibTrans" cxnId="{FF59B4C0-E386-4CCC-8FC6-5BF90D699CB7}">
      <dgm:prSet phldrT="01" phldr="0"/>
      <dgm:spPr/>
      <dgm:t>
        <a:bodyPr/>
        <a:lstStyle/>
        <a:p>
          <a:r>
            <a:rPr lang="en-CA"/>
            <a:t>01</a:t>
          </a:r>
        </a:p>
      </dgm:t>
    </dgm:pt>
    <dgm:pt modelId="{FF617EB4-34A8-4836-8FDD-9B4173D5451B}">
      <dgm:prSet/>
      <dgm:spPr/>
      <dgm:t>
        <a:bodyPr/>
        <a:lstStyle/>
        <a:p>
          <a:r>
            <a:rPr lang="en-US" dirty="0"/>
            <a:t>Smart Pointers</a:t>
          </a:r>
        </a:p>
      </dgm:t>
    </dgm:pt>
    <dgm:pt modelId="{D77B5496-B76B-4338-AB00-EDD47D4016B1}" type="parTrans" cxnId="{2040B7FD-E3AE-483E-A81F-2686AC4A06D9}">
      <dgm:prSet/>
      <dgm:spPr/>
      <dgm:t>
        <a:bodyPr/>
        <a:lstStyle/>
        <a:p>
          <a:endParaRPr lang="en-CA"/>
        </a:p>
      </dgm:t>
    </dgm:pt>
    <dgm:pt modelId="{6262FE1D-864A-47C1-A77F-77A17071AFD5}" type="sibTrans" cxnId="{2040B7FD-E3AE-483E-A81F-2686AC4A06D9}">
      <dgm:prSet phldrT="02" phldr="0"/>
      <dgm:spPr/>
      <dgm:t>
        <a:bodyPr/>
        <a:lstStyle/>
        <a:p>
          <a:r>
            <a:rPr lang="en-CA"/>
            <a:t>02</a:t>
          </a:r>
        </a:p>
      </dgm:t>
    </dgm:pt>
    <dgm:pt modelId="{09F899AB-70CA-46DA-8F8C-58514A9FEF67}" type="pres">
      <dgm:prSet presAssocID="{15509919-36B5-4162-8899-417A9F93473B}" presName="Name0" presStyleCnt="0">
        <dgm:presLayoutVars>
          <dgm:animLvl val="lvl"/>
          <dgm:resizeHandles val="exact"/>
        </dgm:presLayoutVars>
      </dgm:prSet>
      <dgm:spPr/>
    </dgm:pt>
    <dgm:pt modelId="{97687EE4-A8DE-4890-A490-42EBAAEA170C}" type="pres">
      <dgm:prSet presAssocID="{BDB074DC-2B99-4E3E-94AE-DB665F22A75A}" presName="compositeNode" presStyleCnt="0">
        <dgm:presLayoutVars>
          <dgm:bulletEnabled val="1"/>
        </dgm:presLayoutVars>
      </dgm:prSet>
      <dgm:spPr/>
    </dgm:pt>
    <dgm:pt modelId="{1EBA119E-FDAA-4133-AB96-9F1AB7550D67}" type="pres">
      <dgm:prSet presAssocID="{BDB074DC-2B99-4E3E-94AE-DB665F22A75A}" presName="bgRect" presStyleLbl="alignNode1" presStyleIdx="0" presStyleCnt="2"/>
      <dgm:spPr/>
    </dgm:pt>
    <dgm:pt modelId="{3C24E713-917C-4471-93D7-3B9F367A13E8}" type="pres">
      <dgm:prSet presAssocID="{933A6189-028B-4DA6-94E3-4604F3839206}" presName="sibTransNodeRect" presStyleLbl="alignNode1" presStyleIdx="0" presStyleCnt="2">
        <dgm:presLayoutVars>
          <dgm:chMax val="0"/>
          <dgm:bulletEnabled val="1"/>
        </dgm:presLayoutVars>
      </dgm:prSet>
      <dgm:spPr/>
    </dgm:pt>
    <dgm:pt modelId="{5F2ED346-7903-4205-8F3E-1DB3D78CF9AC}" type="pres">
      <dgm:prSet presAssocID="{BDB074DC-2B99-4E3E-94AE-DB665F22A75A}" presName="nodeRect" presStyleLbl="alignNode1" presStyleIdx="0" presStyleCnt="2">
        <dgm:presLayoutVars>
          <dgm:bulletEnabled val="1"/>
        </dgm:presLayoutVars>
      </dgm:prSet>
      <dgm:spPr/>
    </dgm:pt>
    <dgm:pt modelId="{EB261F95-58AF-405C-AA59-32186296814C}" type="pres">
      <dgm:prSet presAssocID="{933A6189-028B-4DA6-94E3-4604F3839206}" presName="sibTrans" presStyleCnt="0"/>
      <dgm:spPr/>
    </dgm:pt>
    <dgm:pt modelId="{EF7380A2-35FB-4EE0-B763-1389088D3D57}" type="pres">
      <dgm:prSet presAssocID="{FF617EB4-34A8-4836-8FDD-9B4173D5451B}" presName="compositeNode" presStyleCnt="0">
        <dgm:presLayoutVars>
          <dgm:bulletEnabled val="1"/>
        </dgm:presLayoutVars>
      </dgm:prSet>
      <dgm:spPr/>
    </dgm:pt>
    <dgm:pt modelId="{A7C52984-606A-47F9-9899-36D3665AA137}" type="pres">
      <dgm:prSet presAssocID="{FF617EB4-34A8-4836-8FDD-9B4173D5451B}" presName="bgRect" presStyleLbl="alignNode1" presStyleIdx="1" presStyleCnt="2"/>
      <dgm:spPr/>
    </dgm:pt>
    <dgm:pt modelId="{76994057-DDA5-4BBC-9324-DD2B710792E6}" type="pres">
      <dgm:prSet presAssocID="{6262FE1D-864A-47C1-A77F-77A17071AFD5}" presName="sibTransNodeRect" presStyleLbl="alignNode1" presStyleIdx="1" presStyleCnt="2">
        <dgm:presLayoutVars>
          <dgm:chMax val="0"/>
          <dgm:bulletEnabled val="1"/>
        </dgm:presLayoutVars>
      </dgm:prSet>
      <dgm:spPr/>
    </dgm:pt>
    <dgm:pt modelId="{802C0836-2D3F-4D64-B84F-4FB8826B0F1D}" type="pres">
      <dgm:prSet presAssocID="{FF617EB4-34A8-4836-8FDD-9B4173D5451B}" presName="nodeRect" presStyleLbl="alignNode1" presStyleIdx="1" presStyleCnt="2">
        <dgm:presLayoutVars>
          <dgm:bulletEnabled val="1"/>
        </dgm:presLayoutVars>
      </dgm:prSet>
      <dgm:spPr/>
    </dgm:pt>
  </dgm:ptLst>
  <dgm:cxnLst>
    <dgm:cxn modelId="{F2557D12-8A93-4806-98AE-2D768FB4C30B}" type="presOf" srcId="{6262FE1D-864A-47C1-A77F-77A17071AFD5}" destId="{76994057-DDA5-4BBC-9324-DD2B710792E6}" srcOrd="0" destOrd="0" presId="urn:microsoft.com/office/officeart/2016/7/layout/LinearBlockProcessNumbered#1"/>
    <dgm:cxn modelId="{8685D928-992E-4058-AAEF-BE7B91A24C51}" type="presOf" srcId="{BDB074DC-2B99-4E3E-94AE-DB665F22A75A}" destId="{1EBA119E-FDAA-4133-AB96-9F1AB7550D67}" srcOrd="0" destOrd="0" presId="urn:microsoft.com/office/officeart/2016/7/layout/LinearBlockProcessNumbered#1"/>
    <dgm:cxn modelId="{A0BA7D46-2676-4AF2-97EA-FBFF1133611E}" type="presOf" srcId="{FF617EB4-34A8-4836-8FDD-9B4173D5451B}" destId="{A7C52984-606A-47F9-9899-36D3665AA137}" srcOrd="0" destOrd="0" presId="urn:microsoft.com/office/officeart/2016/7/layout/LinearBlockProcessNumbered#1"/>
    <dgm:cxn modelId="{0A010897-094A-47C8-A5E9-25057EB16840}" type="presOf" srcId="{933A6189-028B-4DA6-94E3-4604F3839206}" destId="{3C24E713-917C-4471-93D7-3B9F367A13E8}" srcOrd="0" destOrd="0" presId="urn:microsoft.com/office/officeart/2016/7/layout/LinearBlockProcessNumbered#1"/>
    <dgm:cxn modelId="{C52B3997-CA3C-443F-883B-3515A47106DF}" type="presOf" srcId="{FF617EB4-34A8-4836-8FDD-9B4173D5451B}" destId="{802C0836-2D3F-4D64-B84F-4FB8826B0F1D}" srcOrd="1" destOrd="0" presId="urn:microsoft.com/office/officeart/2016/7/layout/LinearBlockProcessNumbered#1"/>
    <dgm:cxn modelId="{FF59B4C0-E386-4CCC-8FC6-5BF90D699CB7}" srcId="{15509919-36B5-4162-8899-417A9F93473B}" destId="{BDB074DC-2B99-4E3E-94AE-DB665F22A75A}" srcOrd="0" destOrd="0" parTransId="{6D76834D-42F3-4B55-AE0B-316CE23DE843}" sibTransId="{933A6189-028B-4DA6-94E3-4604F3839206}"/>
    <dgm:cxn modelId="{840BB0C7-181A-4BA4-9324-C35937B4BA77}" type="presOf" srcId="{15509919-36B5-4162-8899-417A9F93473B}" destId="{09F899AB-70CA-46DA-8F8C-58514A9FEF67}" srcOrd="0" destOrd="0" presId="urn:microsoft.com/office/officeart/2016/7/layout/LinearBlockProcessNumbered#1"/>
    <dgm:cxn modelId="{823E19FC-C7C8-4A7A-AAD5-5204A89CE40F}" type="presOf" srcId="{BDB074DC-2B99-4E3E-94AE-DB665F22A75A}" destId="{5F2ED346-7903-4205-8F3E-1DB3D78CF9AC}" srcOrd="1" destOrd="0" presId="urn:microsoft.com/office/officeart/2016/7/layout/LinearBlockProcessNumbered#1"/>
    <dgm:cxn modelId="{2040B7FD-E3AE-483E-A81F-2686AC4A06D9}" srcId="{15509919-36B5-4162-8899-417A9F93473B}" destId="{FF617EB4-34A8-4836-8FDD-9B4173D5451B}" srcOrd="1" destOrd="0" parTransId="{D77B5496-B76B-4338-AB00-EDD47D4016B1}" sibTransId="{6262FE1D-864A-47C1-A77F-77A17071AFD5}"/>
    <dgm:cxn modelId="{19C9A7E3-B644-436B-91A1-C63CC4F9AB6D}" type="presParOf" srcId="{09F899AB-70CA-46DA-8F8C-58514A9FEF67}" destId="{97687EE4-A8DE-4890-A490-42EBAAEA170C}" srcOrd="0" destOrd="0" presId="urn:microsoft.com/office/officeart/2016/7/layout/LinearBlockProcessNumbered#1"/>
    <dgm:cxn modelId="{3EDC21CF-9BE0-4898-B283-9ABE9A9D392A}" type="presParOf" srcId="{97687EE4-A8DE-4890-A490-42EBAAEA170C}" destId="{1EBA119E-FDAA-4133-AB96-9F1AB7550D67}" srcOrd="0" destOrd="0" presId="urn:microsoft.com/office/officeart/2016/7/layout/LinearBlockProcessNumbered#1"/>
    <dgm:cxn modelId="{E67F8AEC-20BD-42E8-AAD8-8822FA2A75D7}" type="presParOf" srcId="{97687EE4-A8DE-4890-A490-42EBAAEA170C}" destId="{3C24E713-917C-4471-93D7-3B9F367A13E8}" srcOrd="1" destOrd="0" presId="urn:microsoft.com/office/officeart/2016/7/layout/LinearBlockProcessNumbered#1"/>
    <dgm:cxn modelId="{A1BF1EC2-F622-4F44-AC8A-C2938978C752}" type="presParOf" srcId="{97687EE4-A8DE-4890-A490-42EBAAEA170C}" destId="{5F2ED346-7903-4205-8F3E-1DB3D78CF9AC}" srcOrd="2" destOrd="0" presId="urn:microsoft.com/office/officeart/2016/7/layout/LinearBlockProcessNumbered#1"/>
    <dgm:cxn modelId="{71447305-656E-4D00-8D96-7FD3ED9F0856}" type="presParOf" srcId="{09F899AB-70CA-46DA-8F8C-58514A9FEF67}" destId="{EB261F95-58AF-405C-AA59-32186296814C}" srcOrd="1" destOrd="0" presId="urn:microsoft.com/office/officeart/2016/7/layout/LinearBlockProcessNumbered#1"/>
    <dgm:cxn modelId="{FBA0DD20-3F77-4699-AAA0-B65A257FD770}" type="presParOf" srcId="{09F899AB-70CA-46DA-8F8C-58514A9FEF67}" destId="{EF7380A2-35FB-4EE0-B763-1389088D3D57}" srcOrd="2" destOrd="0" presId="urn:microsoft.com/office/officeart/2016/7/layout/LinearBlockProcessNumbered#1"/>
    <dgm:cxn modelId="{D48B655A-A628-458D-9526-DE1922D953D9}" type="presParOf" srcId="{EF7380A2-35FB-4EE0-B763-1389088D3D57}" destId="{A7C52984-606A-47F9-9899-36D3665AA137}" srcOrd="0" destOrd="0" presId="urn:microsoft.com/office/officeart/2016/7/layout/LinearBlockProcessNumbered#1"/>
    <dgm:cxn modelId="{BC193D5E-4EA1-4574-8A2C-6DDC1E345980}" type="presParOf" srcId="{EF7380A2-35FB-4EE0-B763-1389088D3D57}" destId="{76994057-DDA5-4BBC-9324-DD2B710792E6}" srcOrd="1" destOrd="0" presId="urn:microsoft.com/office/officeart/2016/7/layout/LinearBlockProcessNumbered#1"/>
    <dgm:cxn modelId="{AC6911B1-129C-48FF-ADD0-79EFAC9A5B97}" type="presParOf" srcId="{EF7380A2-35FB-4EE0-B763-1389088D3D57}" destId="{802C0836-2D3F-4D64-B84F-4FB8826B0F1D}" srcOrd="2" destOrd="0" presId="urn:microsoft.com/office/officeart/2016/7/layout/LinearBlock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A119E-FDAA-4133-AB96-9F1AB7550D67}">
      <dsp:nvSpPr>
        <dsp:cNvPr id="0" name=""/>
        <dsp:cNvSpPr/>
      </dsp:nvSpPr>
      <dsp:spPr>
        <a:xfrm>
          <a:off x="3143" y="0"/>
          <a:ext cx="4832746" cy="3725612"/>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77368" tIns="0" rIns="477368" bIns="330200" numCol="1" spcCol="1270" anchor="t" anchorCtr="0">
          <a:noAutofit/>
        </a:bodyPr>
        <a:lstStyle/>
        <a:p>
          <a:pPr marL="0" lvl="0" indent="0" algn="l" defTabSz="1155700">
            <a:lnSpc>
              <a:spcPct val="90000"/>
            </a:lnSpc>
            <a:spcBef>
              <a:spcPct val="0"/>
            </a:spcBef>
            <a:spcAft>
              <a:spcPct val="35000"/>
            </a:spcAft>
            <a:buNone/>
          </a:pPr>
          <a:r>
            <a:rPr lang="en-US" sz="2600" kern="1200" dirty="0"/>
            <a:t>Raw Pointers</a:t>
          </a:r>
        </a:p>
      </dsp:txBody>
      <dsp:txXfrm>
        <a:off x="3143" y="1490244"/>
        <a:ext cx="4832746" cy="2235367"/>
      </dsp:txXfrm>
    </dsp:sp>
    <dsp:sp modelId="{3C24E713-917C-4471-93D7-3B9F367A13E8}">
      <dsp:nvSpPr>
        <dsp:cNvPr id="0" name=""/>
        <dsp:cNvSpPr/>
      </dsp:nvSpPr>
      <dsp:spPr>
        <a:xfrm>
          <a:off x="3143" y="0"/>
          <a:ext cx="4832746" cy="149024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477368" tIns="165100" rIns="477368" bIns="165100" numCol="1" spcCol="1270" anchor="ctr" anchorCtr="0">
          <a:noAutofit/>
        </a:bodyPr>
        <a:lstStyle/>
        <a:p>
          <a:pPr marL="0" lvl="0" indent="0" algn="l" defTabSz="2933700">
            <a:lnSpc>
              <a:spcPct val="90000"/>
            </a:lnSpc>
            <a:spcBef>
              <a:spcPct val="0"/>
            </a:spcBef>
            <a:spcAft>
              <a:spcPct val="35000"/>
            </a:spcAft>
            <a:buNone/>
          </a:pPr>
          <a:r>
            <a:rPr lang="en-CA" sz="6600" kern="1200"/>
            <a:t>01</a:t>
          </a:r>
        </a:p>
      </dsp:txBody>
      <dsp:txXfrm>
        <a:off x="3143" y="0"/>
        <a:ext cx="4832746" cy="1490244"/>
      </dsp:txXfrm>
    </dsp:sp>
    <dsp:sp modelId="{A7C52984-606A-47F9-9899-36D3665AA137}">
      <dsp:nvSpPr>
        <dsp:cNvPr id="0" name=""/>
        <dsp:cNvSpPr/>
      </dsp:nvSpPr>
      <dsp:spPr>
        <a:xfrm>
          <a:off x="5222509" y="0"/>
          <a:ext cx="4832746" cy="3725612"/>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77368" tIns="0" rIns="477368" bIns="330200" numCol="1" spcCol="1270" anchor="t" anchorCtr="0">
          <a:noAutofit/>
        </a:bodyPr>
        <a:lstStyle/>
        <a:p>
          <a:pPr marL="0" lvl="0" indent="0" algn="l" defTabSz="1155700">
            <a:lnSpc>
              <a:spcPct val="90000"/>
            </a:lnSpc>
            <a:spcBef>
              <a:spcPct val="0"/>
            </a:spcBef>
            <a:spcAft>
              <a:spcPct val="35000"/>
            </a:spcAft>
            <a:buNone/>
          </a:pPr>
          <a:r>
            <a:rPr lang="en-US" sz="2600" kern="1200" dirty="0"/>
            <a:t>Smart Pointers</a:t>
          </a:r>
        </a:p>
      </dsp:txBody>
      <dsp:txXfrm>
        <a:off x="5222509" y="1490244"/>
        <a:ext cx="4832746" cy="2235367"/>
      </dsp:txXfrm>
    </dsp:sp>
    <dsp:sp modelId="{76994057-DDA5-4BBC-9324-DD2B710792E6}">
      <dsp:nvSpPr>
        <dsp:cNvPr id="0" name=""/>
        <dsp:cNvSpPr/>
      </dsp:nvSpPr>
      <dsp:spPr>
        <a:xfrm>
          <a:off x="5222509" y="0"/>
          <a:ext cx="4832746" cy="149024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477368" tIns="165100" rIns="477368" bIns="165100" numCol="1" spcCol="1270" anchor="ctr" anchorCtr="0">
          <a:noAutofit/>
        </a:bodyPr>
        <a:lstStyle/>
        <a:p>
          <a:pPr marL="0" lvl="0" indent="0" algn="l" defTabSz="2933700">
            <a:lnSpc>
              <a:spcPct val="90000"/>
            </a:lnSpc>
            <a:spcBef>
              <a:spcPct val="0"/>
            </a:spcBef>
            <a:spcAft>
              <a:spcPct val="35000"/>
            </a:spcAft>
            <a:buNone/>
          </a:pPr>
          <a:r>
            <a:rPr lang="en-CA" sz="6600" kern="1200"/>
            <a:t>02</a:t>
          </a:r>
        </a:p>
      </dsp:txBody>
      <dsp:txXfrm>
        <a:off x="5222509" y="0"/>
        <a:ext cx="4832746" cy="149024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1">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2022-11-13</a:t>
            </a:fld>
            <a:endParaRPr lang="en-CA"/>
          </a:p>
        </p:txBody>
      </p:sp>
      <p:sp>
        <p:nvSpPr>
          <p:cNvPr id="5" name="Footer Placeholder 4"/>
          <p:cNvSpPr>
            <a:spLocks noGrp="1"/>
          </p:cNvSpPr>
          <p:nvPr>
            <p:ph type="ftr" sz="quarter" idx="11"/>
          </p:nvPr>
        </p:nvSpPr>
        <p:spPr>
          <a:xfrm>
            <a:off x="2416500" y="329307"/>
            <a:ext cx="4973915" cy="309201"/>
          </a:xfrm>
        </p:spPr>
        <p:txBody>
          <a:bodyPr/>
          <a:lstStyle/>
          <a:p>
            <a:endParaRPr lang="en-CA"/>
          </a:p>
        </p:txBody>
      </p:sp>
      <p:sp>
        <p:nvSpPr>
          <p:cNvPr id="6" name="Slide Number Placeholder 5"/>
          <p:cNvSpPr>
            <a:spLocks noGrp="1"/>
          </p:cNvSpPr>
          <p:nvPr>
            <p:ph type="sldNum" sz="quarter" idx="12"/>
          </p:nvPr>
        </p:nvSpPr>
        <p:spPr>
          <a:xfrm>
            <a:off x="1437664" y="798973"/>
            <a:ext cx="811019" cy="503578"/>
          </a:xfrm>
        </p:spPr>
        <p:txBody>
          <a:bodyPr/>
          <a:lstStyle/>
          <a:p>
            <a:fld id="{7F455954-5F39-4F31-A9AF-5AA67AF93FA5}" type="slidenum">
              <a:rPr lang="en-CA" smtClean="0"/>
              <a:t>‹#›</a:t>
            </a:fld>
            <a:endParaRPr lang="en-CA"/>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9961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353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62BAB-B2E1-48D8-9B65-1E7671A9725E}" type="datetimeFigureOut">
              <a:rPr lang="en-CA" smtClean="0"/>
              <a:t>2022-11-13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8220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162BAB-B2E1-48D8-9B65-1E7671A9725E}" type="datetimeFigureOut">
              <a:rPr lang="en-CA" smtClean="0"/>
              <a:t>2022-11-13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F455954-5F39-4F31-A9AF-5AA67AF93FA5}" type="slidenum">
              <a:rPr lang="en-CA" smtClean="0"/>
              <a:t>‹#›</a:t>
            </a:fld>
            <a:endParaRPr lang="en-CA"/>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162BAB-B2E1-48D8-9B65-1E7671A9725E}" type="datetimeFigureOut">
              <a:rPr lang="en-CA" smtClean="0"/>
              <a:t>2022-11-13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F455954-5F39-4F31-A9AF-5AA67AF93FA5}" type="slidenum">
              <a:rPr lang="en-CA" smtClean="0"/>
              <a:t>‹#›</a:t>
            </a:fld>
            <a:endParaRPr lang="en-CA"/>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709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162BAB-B2E1-48D8-9B65-1E7671A9725E}" type="datetimeFigureOut">
              <a:rPr lang="en-CA" smtClean="0"/>
              <a:t>2022-11-13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F455954-5F39-4F31-A9AF-5AA67AF93FA5}" type="slidenum">
              <a:rPr lang="en-CA" smtClean="0"/>
              <a:t>‹#›</a:t>
            </a:fld>
            <a:endParaRPr lang="en-CA"/>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9216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62BAB-B2E1-48D8-9B65-1E7671A9725E}" type="datetimeFigureOut">
              <a:rPr lang="en-CA" smtClean="0"/>
              <a:t>2022-11-13</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F455954-5F39-4F31-A9AF-5AA67AF93FA5}" type="slidenum">
              <a:rPr lang="en-CA" smtClean="0"/>
              <a:t>‹#›</a:t>
            </a:fld>
            <a:endParaRPr lang="en-CA"/>
          </a:p>
        </p:txBody>
      </p:sp>
    </p:spTree>
    <p:extLst>
      <p:ext uri="{BB962C8B-B14F-4D97-AF65-F5344CB8AC3E}">
        <p14:creationId xmlns:p14="http://schemas.microsoft.com/office/powerpoint/2010/main" val="2546473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162BAB-B2E1-48D8-9B65-1E7671A9725E}" type="datetimeFigureOut">
              <a:rPr lang="en-CA" smtClean="0"/>
              <a:t>2022-11-13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F455954-5F39-4F31-A9AF-5AA67AF93FA5}" type="slidenum">
              <a:rPr lang="en-CA" smtClean="0"/>
              <a:t>‹#›</a:t>
            </a:fld>
            <a:endParaRPr lang="en-CA"/>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3377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0162BAB-B2E1-48D8-9B65-1E7671A9725E}" type="datetimeFigureOut">
              <a:rPr lang="en-CA" smtClean="0"/>
              <a:t>2022-11-13</a:t>
            </a:fld>
            <a:endParaRPr lang="en-CA"/>
          </a:p>
        </p:txBody>
      </p:sp>
      <p:sp>
        <p:nvSpPr>
          <p:cNvPr id="6" name="Footer Placeholder 5"/>
          <p:cNvSpPr>
            <a:spLocks noGrp="1"/>
          </p:cNvSpPr>
          <p:nvPr>
            <p:ph type="ftr" sz="quarter" idx="11"/>
          </p:nvPr>
        </p:nvSpPr>
        <p:spPr>
          <a:xfrm>
            <a:off x="1447382" y="318640"/>
            <a:ext cx="5541004" cy="320931"/>
          </a:xfrm>
        </p:spPr>
        <p:txBody>
          <a:bodyPr/>
          <a:lstStyle/>
          <a:p>
            <a:endParaRPr lang="en-CA"/>
          </a:p>
        </p:txBody>
      </p:sp>
      <p:sp>
        <p:nvSpPr>
          <p:cNvPr id="7" name="Slide Number Placeholder 6"/>
          <p:cNvSpPr>
            <a:spLocks noGrp="1"/>
          </p:cNvSpPr>
          <p:nvPr>
            <p:ph type="sldNum" sz="quarter" idx="12"/>
          </p:nvPr>
        </p:nvSpPr>
        <p:spPr/>
        <p:txBody>
          <a:bodyPr/>
          <a:lstStyle/>
          <a:p>
            <a:fld id="{7F455954-5F39-4F31-A9AF-5AA67AF93FA5}" type="slidenum">
              <a:rPr lang="en-CA" smtClean="0"/>
              <a:t>‹#›</a:t>
            </a:fld>
            <a:endParaRPr lang="en-CA"/>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14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11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62BAB-B2E1-48D8-9B65-1E7671A9725E}" type="datetimeFigureOut">
              <a:rPr lang="en-CA" smtClean="0"/>
              <a:t>2022-11-13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455954-5F39-4F31-A9AF-5AA67AF93FA5}" type="slidenum">
              <a:rPr lang="en-CA" smtClean="0"/>
              <a:t>‹#›</a:t>
            </a:fld>
            <a:endParaRPr lang="en-CA"/>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1215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0162BAB-B2E1-48D8-9B65-1E7671A9725E}" type="datetimeFigureOut">
              <a:rPr lang="en-CA" smtClean="0"/>
              <a:t>2022-11-13</a:t>
            </a:fld>
            <a:endParaRPr lang="en-CA"/>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F455954-5F39-4F31-A9AF-5AA67AF93FA5}" type="slidenum">
              <a:rPr lang="en-CA" smtClean="0"/>
              <a:t>‹#›</a:t>
            </a:fld>
            <a:endParaRPr lang="en-CA"/>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4101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en.wikipedia.org/wiki/Raw_pointer#raw_point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hyperlink" Target="https://www.informit.com/articles/article.aspx?p=2085179" TargetMode="External"/><Relationship Id="rId2" Type="http://schemas.openxmlformats.org/officeDocument/2006/relationships/hyperlink" Target="https://www.codeproject.com/Articles/541067/Cplusplus-Smart-Pointers" TargetMode="External"/><Relationship Id="rId1" Type="http://schemas.openxmlformats.org/officeDocument/2006/relationships/slideLayout" Target="../slideLayouts/slideLayout2.xml"/><Relationship Id="rId6" Type="http://schemas.openxmlformats.org/officeDocument/2006/relationships/hyperlink" Target="https://www.informit.com/articles/article.aspx?p=21477" TargetMode="External"/><Relationship Id="rId5" Type="http://schemas.openxmlformats.org/officeDocument/2006/relationships/hyperlink" Target="https://www.umich.edu/~eecs381/handouts/C++17_smart_ptrs.pdf" TargetMode="External"/><Relationship Id="rId4" Type="http://schemas.openxmlformats.org/officeDocument/2006/relationships/hyperlink" Target="https://www.stroustrup.com/C++17FAQ.html#std-unique_pt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AA6C-3173-7A6B-F9D4-4EA1831D1A0D}"/>
              </a:ext>
            </a:extLst>
          </p:cNvPr>
          <p:cNvSpPr>
            <a:spLocks noGrp="1"/>
          </p:cNvSpPr>
          <p:nvPr>
            <p:ph type="ctrTitle"/>
          </p:nvPr>
        </p:nvSpPr>
        <p:spPr>
          <a:xfrm>
            <a:off x="1166454" y="714541"/>
            <a:ext cx="9099255" cy="2537251"/>
          </a:xfrm>
        </p:spPr>
        <p:txBody>
          <a:bodyPr anchor="ctr">
            <a:normAutofit/>
          </a:bodyPr>
          <a:lstStyle/>
          <a:p>
            <a:pPr algn="ctr"/>
            <a:r>
              <a:rPr lang="en-US" sz="5600" dirty="0">
                <a:solidFill>
                  <a:srgbClr val="454545"/>
                </a:solidFill>
              </a:rPr>
              <a:t>Object Oriented Software Development (C++) OOP345</a:t>
            </a:r>
            <a:endParaRPr lang="en-CA" sz="5600" dirty="0">
              <a:solidFill>
                <a:srgbClr val="454545"/>
              </a:solidFill>
            </a:endParaRPr>
          </a:p>
        </p:txBody>
      </p:sp>
      <p:sp>
        <p:nvSpPr>
          <p:cNvPr id="3" name="Subtitle 2">
            <a:extLst>
              <a:ext uri="{FF2B5EF4-FFF2-40B4-BE49-F238E27FC236}">
                <a16:creationId xmlns:a16="http://schemas.microsoft.com/office/drawing/2014/main" id="{EFE52409-3B7E-EAC5-87D5-997601A72A74}"/>
              </a:ext>
            </a:extLst>
          </p:cNvPr>
          <p:cNvSpPr>
            <a:spLocks noGrp="1"/>
          </p:cNvSpPr>
          <p:nvPr>
            <p:ph type="subTitle" idx="1"/>
          </p:nvPr>
        </p:nvSpPr>
        <p:spPr>
          <a:xfrm>
            <a:off x="1535372" y="4133234"/>
            <a:ext cx="9120954" cy="744373"/>
          </a:xfrm>
        </p:spPr>
        <p:txBody>
          <a:bodyPr>
            <a:normAutofit/>
          </a:bodyPr>
          <a:lstStyle/>
          <a:p>
            <a:pPr algn="ctr"/>
            <a:r>
              <a:rPr lang="en-US">
                <a:solidFill>
                  <a:schemeClr val="accent1"/>
                </a:solidFill>
              </a:rPr>
              <a:t>Madiha Kazmi</a:t>
            </a:r>
          </a:p>
          <a:p>
            <a:pPr algn="ctr"/>
            <a:endParaRPr lang="en-CA">
              <a:solidFill>
                <a:schemeClr val="accent1"/>
              </a:solidFill>
            </a:endParaRPr>
          </a:p>
        </p:txBody>
      </p:sp>
    </p:spTree>
    <p:extLst>
      <p:ext uri="{BB962C8B-B14F-4D97-AF65-F5344CB8AC3E}">
        <p14:creationId xmlns:p14="http://schemas.microsoft.com/office/powerpoint/2010/main" val="2944169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3BA5F5A-5672-98F6-8ED0-8A3EE704637A}"/>
              </a:ext>
            </a:extLst>
          </p:cNvPr>
          <p:cNvSpPr>
            <a:spLocks noChangeArrowheads="1"/>
          </p:cNvSpPr>
          <p:nvPr/>
        </p:nvSpPr>
        <p:spPr bwMode="auto">
          <a:xfrm>
            <a:off x="7555992" y="967819"/>
            <a:ext cx="3182405" cy="43111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0" defTabSz="914400" fontAlgn="base">
              <a:lnSpc>
                <a:spcPct val="90000"/>
              </a:lnSpc>
              <a:spcBef>
                <a:spcPct val="0"/>
              </a:spcBef>
              <a:spcAft>
                <a:spcPts val="600"/>
              </a:spcAft>
              <a:buClrTx/>
              <a:buSzTx/>
              <a:tabLst/>
            </a:pPr>
            <a:r>
              <a:rPr kumimoji="0" lang="en-US" altLang="en-US" sz="3200" u="none" strike="noStrike" cap="all" normalizeH="0">
                <a:ln>
                  <a:noFill/>
                </a:ln>
                <a:solidFill>
                  <a:srgbClr val="000001"/>
                </a:solidFill>
                <a:latin typeface="+mj-lt"/>
                <a:ea typeface="+mj-ea"/>
                <a:cs typeface="+mj-cs"/>
              </a:rPr>
              <a:t>Assessment Summary</a:t>
            </a:r>
          </a:p>
          <a:p>
            <a:pPr marL="0" marR="0" lvl="0" indent="0" defTabSz="914400" fontAlgn="base">
              <a:lnSpc>
                <a:spcPct val="90000"/>
              </a:lnSpc>
              <a:spcBef>
                <a:spcPct val="0"/>
              </a:spcBef>
              <a:spcAft>
                <a:spcPts val="600"/>
              </a:spcAft>
              <a:buClrTx/>
              <a:buSzTx/>
              <a:tabLst/>
            </a:pPr>
            <a:endParaRPr kumimoji="0" lang="en-US" altLang="en-US" sz="3200" u="none" strike="noStrike" cap="all" normalizeH="0">
              <a:ln>
                <a:noFill/>
              </a:ln>
              <a:solidFill>
                <a:srgbClr val="000001"/>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71CA1D62-1371-E3B3-998B-CBB67DE86277}"/>
              </a:ext>
            </a:extLst>
          </p:cNvPr>
          <p:cNvGraphicFramePr>
            <a:graphicFrameLocks noGrp="1"/>
          </p:cNvGraphicFramePr>
          <p:nvPr>
            <p:ph idx="1"/>
            <p:extLst>
              <p:ext uri="{D42A27DB-BD31-4B8C-83A1-F6EECF244321}">
                <p14:modId xmlns:p14="http://schemas.microsoft.com/office/powerpoint/2010/main" val="2978912299"/>
              </p:ext>
            </p:extLst>
          </p:nvPr>
        </p:nvGraphicFramePr>
        <p:xfrm>
          <a:off x="1271587" y="1662447"/>
          <a:ext cx="5139052" cy="2790162"/>
        </p:xfrm>
        <a:graphic>
          <a:graphicData uri="http://schemas.openxmlformats.org/drawingml/2006/table">
            <a:tbl>
              <a:tblPr firstRow="1" firstCol="1" bandRow="1">
                <a:solidFill>
                  <a:schemeClr val="bg1">
                    <a:lumMod val="95000"/>
                  </a:schemeClr>
                </a:solidFill>
                <a:tableStyleId>{8EC20E35-A176-4012-BC5E-935CFFF8708E}</a:tableStyleId>
              </a:tblPr>
              <a:tblGrid>
                <a:gridCol w="1552462">
                  <a:extLst>
                    <a:ext uri="{9D8B030D-6E8A-4147-A177-3AD203B41FA5}">
                      <a16:colId xmlns:a16="http://schemas.microsoft.com/office/drawing/2014/main" val="92823929"/>
                    </a:ext>
                  </a:extLst>
                </a:gridCol>
                <a:gridCol w="732145">
                  <a:extLst>
                    <a:ext uri="{9D8B030D-6E8A-4147-A177-3AD203B41FA5}">
                      <a16:colId xmlns:a16="http://schemas.microsoft.com/office/drawing/2014/main" val="1604581269"/>
                    </a:ext>
                  </a:extLst>
                </a:gridCol>
                <a:gridCol w="2854445">
                  <a:extLst>
                    <a:ext uri="{9D8B030D-6E8A-4147-A177-3AD203B41FA5}">
                      <a16:colId xmlns:a16="http://schemas.microsoft.com/office/drawing/2014/main" val="2608325291"/>
                    </a:ext>
                  </a:extLst>
                </a:gridCol>
              </a:tblGrid>
              <a:tr h="807473">
                <a:tc>
                  <a:txBody>
                    <a:bodyPr/>
                    <a:lstStyle/>
                    <a:p>
                      <a:pPr marL="58420">
                        <a:lnSpc>
                          <a:spcPct val="107000"/>
                        </a:lnSpc>
                        <a:spcAft>
                          <a:spcPts val="800"/>
                        </a:spcAft>
                      </a:pPr>
                      <a:r>
                        <a:rPr lang="en-US" sz="1900" b="1" cap="none" spc="0">
                          <a:solidFill>
                            <a:schemeClr val="tx1"/>
                          </a:solidFill>
                          <a:effectLst/>
                        </a:rPr>
                        <a:t>Workshops</a:t>
                      </a:r>
                      <a:endParaRPr lang="en-CA" sz="19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58420">
                        <a:lnSpc>
                          <a:spcPct val="107000"/>
                        </a:lnSpc>
                        <a:spcAft>
                          <a:spcPts val="800"/>
                        </a:spcAft>
                      </a:pPr>
                      <a:r>
                        <a:rPr lang="en-US" sz="1900" b="1" cap="none" spc="0">
                          <a:solidFill>
                            <a:schemeClr val="tx1"/>
                          </a:solidFill>
                          <a:effectLst/>
                        </a:rPr>
                        <a:t>25%</a:t>
                      </a:r>
                      <a:endParaRPr lang="en-CA" sz="19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58420">
                        <a:lnSpc>
                          <a:spcPct val="107000"/>
                        </a:lnSpc>
                        <a:spcAft>
                          <a:spcPts val="800"/>
                        </a:spcAft>
                      </a:pPr>
                      <a:r>
                        <a:rPr lang="en-US" sz="1900" b="1" cap="none" spc="0">
                          <a:solidFill>
                            <a:schemeClr val="tx1"/>
                          </a:solidFill>
                          <a:effectLst/>
                        </a:rPr>
                        <a:t>Best 8 (@3.125% each) out of min. 9</a:t>
                      </a:r>
                      <a:endParaRPr lang="en-CA" sz="19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498922385"/>
                  </a:ext>
                </a:extLst>
              </a:tr>
              <a:tr h="436766">
                <a:tc>
                  <a:txBody>
                    <a:bodyPr/>
                    <a:lstStyle/>
                    <a:p>
                      <a:pPr marL="58420">
                        <a:lnSpc>
                          <a:spcPct val="107000"/>
                        </a:lnSpc>
                        <a:spcAft>
                          <a:spcPts val="800"/>
                        </a:spcAft>
                      </a:pPr>
                      <a:r>
                        <a:rPr lang="en-US" sz="1400" b="1" cap="none" spc="0">
                          <a:solidFill>
                            <a:schemeClr val="tx1"/>
                          </a:solidFill>
                          <a:effectLst/>
                        </a:rPr>
                        <a:t>Final Project</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15%</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 </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3133347396"/>
                  </a:ext>
                </a:extLst>
              </a:tr>
              <a:tr h="672391">
                <a:tc>
                  <a:txBody>
                    <a:bodyPr/>
                    <a:lstStyle/>
                    <a:p>
                      <a:pPr marL="58420">
                        <a:lnSpc>
                          <a:spcPct val="107000"/>
                        </a:lnSpc>
                        <a:spcAft>
                          <a:spcPts val="800"/>
                        </a:spcAft>
                      </a:pPr>
                      <a:r>
                        <a:rPr lang="en-US" sz="1400" b="1" cap="none" spc="0">
                          <a:solidFill>
                            <a:schemeClr val="tx1"/>
                          </a:solidFill>
                          <a:effectLst/>
                        </a:rPr>
                        <a:t>Quizzes</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15%</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Best 8 (@1.875% each) out of min. 10</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386481707"/>
                  </a:ext>
                </a:extLst>
              </a:tr>
              <a:tr h="436766">
                <a:tc>
                  <a:txBody>
                    <a:bodyPr/>
                    <a:lstStyle/>
                    <a:p>
                      <a:pPr marL="58420">
                        <a:lnSpc>
                          <a:spcPct val="107000"/>
                        </a:lnSpc>
                        <a:spcAft>
                          <a:spcPts val="800"/>
                        </a:spcAft>
                      </a:pPr>
                      <a:r>
                        <a:rPr lang="en-US" sz="1400" b="1" cap="none" spc="0">
                          <a:solidFill>
                            <a:schemeClr val="tx1"/>
                          </a:solidFill>
                          <a:effectLst/>
                        </a:rPr>
                        <a:t>Test #1</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15%</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58420">
                        <a:lnSpc>
                          <a:spcPct val="107000"/>
                        </a:lnSpc>
                        <a:spcAft>
                          <a:spcPts val="800"/>
                        </a:spcAft>
                      </a:pPr>
                      <a:r>
                        <a:rPr lang="en-US" sz="1400" cap="none" spc="0">
                          <a:solidFill>
                            <a:schemeClr val="tx1"/>
                          </a:solidFill>
                          <a:effectLst/>
                        </a:rPr>
                        <a:t> </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166000095"/>
                  </a:ext>
                </a:extLst>
              </a:tr>
              <a:tr h="436766">
                <a:tc>
                  <a:txBody>
                    <a:bodyPr/>
                    <a:lstStyle/>
                    <a:p>
                      <a:pPr marL="58420">
                        <a:lnSpc>
                          <a:spcPct val="107000"/>
                        </a:lnSpc>
                        <a:spcAft>
                          <a:spcPts val="800"/>
                        </a:spcAft>
                      </a:pPr>
                      <a:r>
                        <a:rPr lang="en-US" sz="1400" b="1" cap="none" spc="0">
                          <a:solidFill>
                            <a:schemeClr val="tx1"/>
                          </a:solidFill>
                          <a:effectLst/>
                        </a:rPr>
                        <a:t>Test #2</a:t>
                      </a:r>
                      <a:endParaRPr lang="en-CA" sz="14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30%</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58420">
                        <a:lnSpc>
                          <a:spcPct val="107000"/>
                        </a:lnSpc>
                        <a:spcAft>
                          <a:spcPts val="800"/>
                        </a:spcAft>
                      </a:pPr>
                      <a:r>
                        <a:rPr lang="en-US" sz="1400" cap="none" spc="0">
                          <a:solidFill>
                            <a:schemeClr val="tx1"/>
                          </a:solidFill>
                          <a:effectLst/>
                        </a:rPr>
                        <a:t> </a:t>
                      </a:r>
                      <a:endParaRPr lang="en-CA" sz="14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4888" marR="20431" marT="21397" marB="16047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404007572"/>
                  </a:ext>
                </a:extLst>
              </a:tr>
            </a:tbl>
          </a:graphicData>
        </a:graphic>
      </p:graphicFrame>
    </p:spTree>
    <p:extLst>
      <p:ext uri="{BB962C8B-B14F-4D97-AF65-F5344CB8AC3E}">
        <p14:creationId xmlns:p14="http://schemas.microsoft.com/office/powerpoint/2010/main" val="3391143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8085-1FFF-44DD-A144-D794D923CF00}"/>
              </a:ext>
            </a:extLst>
          </p:cNvPr>
          <p:cNvSpPr>
            <a:spLocks noGrp="1"/>
          </p:cNvSpPr>
          <p:nvPr>
            <p:ph type="title"/>
          </p:nvPr>
        </p:nvSpPr>
        <p:spPr>
          <a:xfrm>
            <a:off x="1066800" y="642594"/>
            <a:ext cx="10058400" cy="1371600"/>
          </a:xfrm>
        </p:spPr>
        <p:txBody>
          <a:bodyPr>
            <a:normAutofit/>
          </a:bodyPr>
          <a:lstStyle/>
          <a:p>
            <a:pPr algn="ctr"/>
            <a:r>
              <a:rPr lang="en-US" dirty="0"/>
              <a:t>Week 10</a:t>
            </a:r>
          </a:p>
        </p:txBody>
      </p:sp>
      <p:graphicFrame>
        <p:nvGraphicFramePr>
          <p:cNvPr id="5" name="Content Placeholder 2" descr="SmartArt Process Diagram">
            <a:extLst>
              <a:ext uri="{FF2B5EF4-FFF2-40B4-BE49-F238E27FC236}">
                <a16:creationId xmlns:a16="http://schemas.microsoft.com/office/drawing/2014/main" id="{60233515-42BF-4401-AB7F-458C06159D34}"/>
              </a:ext>
            </a:extLst>
          </p:cNvPr>
          <p:cNvGraphicFramePr>
            <a:graphicFrameLocks noGrp="1"/>
          </p:cNvGraphicFramePr>
          <p:nvPr>
            <p:ph idx="1"/>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34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139E8-61B3-1E61-EE34-AFA8EA7AF28D}"/>
              </a:ext>
            </a:extLst>
          </p:cNvPr>
          <p:cNvSpPr>
            <a:spLocks noGrp="1"/>
          </p:cNvSpPr>
          <p:nvPr>
            <p:ph type="title"/>
          </p:nvPr>
        </p:nvSpPr>
        <p:spPr/>
        <p:txBody>
          <a:bodyPr/>
          <a:lstStyle/>
          <a:p>
            <a:r>
              <a:rPr lang="en-US" dirty="0"/>
              <a:t>Raw Pointers - </a:t>
            </a:r>
            <a:r>
              <a:rPr lang="en-CA" dirty="0"/>
              <a:t>Objective</a:t>
            </a:r>
          </a:p>
        </p:txBody>
      </p:sp>
      <p:sp>
        <p:nvSpPr>
          <p:cNvPr id="3" name="Content Placeholder 2">
            <a:extLst>
              <a:ext uri="{FF2B5EF4-FFF2-40B4-BE49-F238E27FC236}">
                <a16:creationId xmlns:a16="http://schemas.microsoft.com/office/drawing/2014/main" id="{1B16A138-48F4-1018-DA9C-2AD4435414BD}"/>
              </a:ext>
            </a:extLst>
          </p:cNvPr>
          <p:cNvSpPr>
            <a:spLocks noGrp="1"/>
          </p:cNvSpPr>
          <p:nvPr>
            <p:ph idx="1"/>
          </p:nvPr>
        </p:nvSpPr>
        <p:spPr/>
        <p:txBody>
          <a:bodyPr/>
          <a:lstStyle/>
          <a:p>
            <a:r>
              <a:rPr lang="en-US" b="0" i="0" dirty="0">
                <a:solidFill>
                  <a:srgbClr val="1C1E21"/>
                </a:solidFill>
                <a:effectLst/>
                <a:latin typeface="system-ui"/>
              </a:rPr>
              <a:t>Create program components using raw pointers and pointer arithmetic</a:t>
            </a:r>
          </a:p>
          <a:p>
            <a:r>
              <a:rPr lang="en-US" dirty="0"/>
              <a:t>This chapter reviews that part of the C++ memory model that describes the memory in the abstract machine through a review of raw pointer syntax. </a:t>
            </a:r>
          </a:p>
          <a:p>
            <a:r>
              <a:rPr lang="en-US" dirty="0"/>
              <a:t>The description covers C-style null-terminated character strings, which are part of the strings category of the Standard Library, and expressions that take pointer types as their operands.</a:t>
            </a:r>
            <a:endParaRPr lang="en-CA" dirty="0"/>
          </a:p>
          <a:p>
            <a:endParaRPr lang="en-US" b="0" i="0" dirty="0">
              <a:solidFill>
                <a:srgbClr val="1C1E21"/>
              </a:solidFill>
              <a:effectLst/>
              <a:latin typeface="system-ui"/>
            </a:endParaRPr>
          </a:p>
          <a:p>
            <a:endParaRPr lang="en-CA" dirty="0"/>
          </a:p>
        </p:txBody>
      </p:sp>
    </p:spTree>
    <p:extLst>
      <p:ext uri="{BB962C8B-B14F-4D97-AF65-F5344CB8AC3E}">
        <p14:creationId xmlns:p14="http://schemas.microsoft.com/office/powerpoint/2010/main" val="392386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5FE09-E650-A0EE-41BA-1EB6F5CFCD84}"/>
              </a:ext>
            </a:extLst>
          </p:cNvPr>
          <p:cNvSpPr>
            <a:spLocks noGrp="1"/>
          </p:cNvSpPr>
          <p:nvPr>
            <p:ph type="title"/>
          </p:nvPr>
        </p:nvSpPr>
        <p:spPr/>
        <p:txBody>
          <a:bodyPr/>
          <a:lstStyle/>
          <a:p>
            <a:r>
              <a:rPr lang="en-US" dirty="0"/>
              <a:t>Raw Pointers</a:t>
            </a:r>
            <a:br>
              <a:rPr lang="en-US" dirty="0"/>
            </a:br>
            <a:endParaRPr lang="en-CA" dirty="0"/>
          </a:p>
        </p:txBody>
      </p:sp>
      <p:sp>
        <p:nvSpPr>
          <p:cNvPr id="3" name="Content Placeholder 2">
            <a:extLst>
              <a:ext uri="{FF2B5EF4-FFF2-40B4-BE49-F238E27FC236}">
                <a16:creationId xmlns:a16="http://schemas.microsoft.com/office/drawing/2014/main" id="{736FFE0E-FCDE-5D4B-4052-22CCD6087F59}"/>
              </a:ext>
            </a:extLst>
          </p:cNvPr>
          <p:cNvSpPr>
            <a:spLocks noGrp="1"/>
          </p:cNvSpPr>
          <p:nvPr>
            <p:ph idx="1"/>
          </p:nvPr>
        </p:nvSpPr>
        <p:spPr>
          <a:xfrm>
            <a:off x="656949" y="1853754"/>
            <a:ext cx="11212496" cy="4325104"/>
          </a:xfrm>
        </p:spPr>
        <p:txBody>
          <a:bodyPr>
            <a:normAutofit lnSpcReduction="10000"/>
          </a:bodyPr>
          <a:lstStyle/>
          <a:p>
            <a:r>
              <a:rPr lang="en-US" dirty="0"/>
              <a:t>“A memory model is an agreement between the machine architects and the compiler writers to ensure that most programmers do not have to think about the details of modern computer hardware." </a:t>
            </a:r>
            <a:r>
              <a:rPr lang="en-US" dirty="0" err="1"/>
              <a:t>Stroustrup</a:t>
            </a:r>
            <a:r>
              <a:rPr lang="en-US" dirty="0"/>
              <a:t> (2014)</a:t>
            </a:r>
          </a:p>
          <a:p>
            <a:r>
              <a:rPr lang="en-US" dirty="0"/>
              <a:t>Programming languages associate objects with memory locations in an abstract machine, letting programmers focus on changes to the values stored in those memory locations without regard to the locations in processor memory on the host computer. </a:t>
            </a:r>
          </a:p>
          <a:p>
            <a:r>
              <a:rPr lang="en-US" dirty="0"/>
              <a:t>A programming language's memory model defines how any compiler should relate the memory locations in the abstract machine to the physical memory locations in any processor. </a:t>
            </a:r>
          </a:p>
          <a:p>
            <a:r>
              <a:rPr lang="en-US" dirty="0"/>
              <a:t>The simplest memory model is an address space consisting of a contiguous sequence of bytes, with each address referring to its own byte. Such a model supports direct access to the underlying processor memory.</a:t>
            </a:r>
            <a:endParaRPr lang="en-CA" dirty="0"/>
          </a:p>
        </p:txBody>
      </p:sp>
    </p:spTree>
    <p:extLst>
      <p:ext uri="{BB962C8B-B14F-4D97-AF65-F5344CB8AC3E}">
        <p14:creationId xmlns:p14="http://schemas.microsoft.com/office/powerpoint/2010/main" val="266233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6BDB-CDBB-90F5-BC65-00E94D6FCA24}"/>
              </a:ext>
            </a:extLst>
          </p:cNvPr>
          <p:cNvSpPr>
            <a:spLocks noGrp="1"/>
          </p:cNvSpPr>
          <p:nvPr>
            <p:ph type="title"/>
          </p:nvPr>
        </p:nvSpPr>
        <p:spPr/>
        <p:txBody>
          <a:bodyPr/>
          <a:lstStyle/>
          <a:p>
            <a:r>
              <a:rPr lang="en-US" dirty="0"/>
              <a:t>raw pointers in C++</a:t>
            </a:r>
            <a:endParaRPr lang="en-CA" dirty="0"/>
          </a:p>
        </p:txBody>
      </p:sp>
      <p:sp>
        <p:nvSpPr>
          <p:cNvPr id="3" name="Content Placeholder 2">
            <a:extLst>
              <a:ext uri="{FF2B5EF4-FFF2-40B4-BE49-F238E27FC236}">
                <a16:creationId xmlns:a16="http://schemas.microsoft.com/office/drawing/2014/main" id="{8217FC72-9896-8AFD-AECF-1DF9549EF211}"/>
              </a:ext>
            </a:extLst>
          </p:cNvPr>
          <p:cNvSpPr>
            <a:spLocks noGrp="1"/>
          </p:cNvSpPr>
          <p:nvPr>
            <p:ph idx="1"/>
          </p:nvPr>
        </p:nvSpPr>
        <p:spPr>
          <a:xfrm>
            <a:off x="674703" y="2015732"/>
            <a:ext cx="11230252" cy="4037749"/>
          </a:xfrm>
        </p:spPr>
        <p:txBody>
          <a:bodyPr>
            <a:normAutofit lnSpcReduction="10000"/>
          </a:bodyPr>
          <a:lstStyle/>
          <a:p>
            <a:r>
              <a:rPr lang="en-US" dirty="0"/>
              <a:t>In C++, a raw pointer is a built-in type that holds an address of a memory location in the abstract machine. </a:t>
            </a:r>
          </a:p>
          <a:p>
            <a:r>
              <a:rPr lang="en-US" dirty="0"/>
              <a:t>The pointer provides direct access to the object that occupies the region of memory that starts at that address. </a:t>
            </a:r>
          </a:p>
          <a:p>
            <a:r>
              <a:rPr lang="en-US" dirty="0"/>
              <a:t>Dereferencing the pointer accesses the value stored in the region of memory starting at the pointer's address.</a:t>
            </a:r>
          </a:p>
          <a:p>
            <a:r>
              <a:rPr lang="en-US" dirty="0"/>
              <a:t>The type systems of object-oriented languages associate regions of memory with objects. Each region associated with an object is a contiguous sequence of bytes. </a:t>
            </a:r>
          </a:p>
          <a:p>
            <a:r>
              <a:rPr lang="en-US" dirty="0"/>
              <a:t>Each object is stored at a unique address and the object's type determines the region of memory occupied by the object.</a:t>
            </a:r>
          </a:p>
          <a:p>
            <a:endParaRPr lang="en-US" dirty="0"/>
          </a:p>
        </p:txBody>
      </p:sp>
    </p:spTree>
    <p:extLst>
      <p:ext uri="{BB962C8B-B14F-4D97-AF65-F5344CB8AC3E}">
        <p14:creationId xmlns:p14="http://schemas.microsoft.com/office/powerpoint/2010/main" val="3858384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AFBE6-FF92-B6B5-E852-25C633CEA4C3}"/>
              </a:ext>
            </a:extLst>
          </p:cNvPr>
          <p:cNvSpPr>
            <a:spLocks noGrp="1"/>
          </p:cNvSpPr>
          <p:nvPr>
            <p:ph type="title"/>
          </p:nvPr>
        </p:nvSpPr>
        <p:spPr/>
        <p:txBody>
          <a:bodyPr/>
          <a:lstStyle/>
          <a:p>
            <a:r>
              <a:rPr lang="en-US" dirty="0"/>
              <a:t>C-Style Character Strings</a:t>
            </a:r>
            <a:endParaRPr lang="en-CA" dirty="0"/>
          </a:p>
        </p:txBody>
      </p:sp>
      <p:sp>
        <p:nvSpPr>
          <p:cNvPr id="3" name="Content Placeholder 2">
            <a:extLst>
              <a:ext uri="{FF2B5EF4-FFF2-40B4-BE49-F238E27FC236}">
                <a16:creationId xmlns:a16="http://schemas.microsoft.com/office/drawing/2014/main" id="{F14CE451-FD11-C884-2B79-1297DDE21DAF}"/>
              </a:ext>
            </a:extLst>
          </p:cNvPr>
          <p:cNvSpPr>
            <a:spLocks noGrp="1"/>
          </p:cNvSpPr>
          <p:nvPr>
            <p:ph idx="1"/>
          </p:nvPr>
        </p:nvSpPr>
        <p:spPr/>
        <p:txBody>
          <a:bodyPr>
            <a:normAutofit/>
          </a:bodyPr>
          <a:lstStyle/>
          <a:p>
            <a:r>
              <a:rPr lang="en-US" dirty="0"/>
              <a:t>A C-style character string provides the simplest possible analogue for describing the memory that a raw pointer accesses. </a:t>
            </a:r>
          </a:p>
          <a:p>
            <a:r>
              <a:rPr lang="en-US" dirty="0"/>
              <a:t>These strings are arrays of byte-size elements. </a:t>
            </a:r>
          </a:p>
          <a:p>
            <a:r>
              <a:rPr lang="en-US" dirty="0"/>
              <a:t>The addresses of consecutive elements differ in value by one. That is, the memory is byte-addressable memory.</a:t>
            </a:r>
          </a:p>
          <a:p>
            <a:endParaRPr lang="en-US" dirty="0"/>
          </a:p>
        </p:txBody>
      </p:sp>
    </p:spTree>
    <p:extLst>
      <p:ext uri="{BB962C8B-B14F-4D97-AF65-F5344CB8AC3E}">
        <p14:creationId xmlns:p14="http://schemas.microsoft.com/office/powerpoint/2010/main" val="609847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307E-B4A0-FE1A-0EC0-570B2CDBB4EF}"/>
              </a:ext>
            </a:extLst>
          </p:cNvPr>
          <p:cNvSpPr>
            <a:spLocks noGrp="1"/>
          </p:cNvSpPr>
          <p:nvPr>
            <p:ph type="title"/>
          </p:nvPr>
        </p:nvSpPr>
        <p:spPr/>
        <p:txBody>
          <a:bodyPr/>
          <a:lstStyle/>
          <a:p>
            <a:r>
              <a:rPr lang="en-US" dirty="0"/>
              <a:t>Element Addresses</a:t>
            </a:r>
            <a:endParaRPr lang="en-CA" dirty="0"/>
          </a:p>
        </p:txBody>
      </p:sp>
      <p:sp>
        <p:nvSpPr>
          <p:cNvPr id="3" name="Content Placeholder 2">
            <a:extLst>
              <a:ext uri="{FF2B5EF4-FFF2-40B4-BE49-F238E27FC236}">
                <a16:creationId xmlns:a16="http://schemas.microsoft.com/office/drawing/2014/main" id="{4942F990-BC60-DC7C-2EB7-F41A390B1ED1}"/>
              </a:ext>
            </a:extLst>
          </p:cNvPr>
          <p:cNvSpPr>
            <a:spLocks noGrp="1"/>
          </p:cNvSpPr>
          <p:nvPr>
            <p:ph idx="1"/>
          </p:nvPr>
        </p:nvSpPr>
        <p:spPr>
          <a:xfrm>
            <a:off x="288605" y="1997977"/>
            <a:ext cx="3732980" cy="3450613"/>
          </a:xfrm>
        </p:spPr>
        <p:txBody>
          <a:bodyPr/>
          <a:lstStyle/>
          <a:p>
            <a:r>
              <a:rPr lang="en-US" dirty="0"/>
              <a:t>The following program displays each character of a C-style character string along with its address in memory:</a:t>
            </a:r>
            <a:endParaRPr lang="en-CA" dirty="0"/>
          </a:p>
          <a:p>
            <a:endParaRPr lang="en-CA" dirty="0"/>
          </a:p>
        </p:txBody>
      </p:sp>
      <p:pic>
        <p:nvPicPr>
          <p:cNvPr id="5" name="Picture 4">
            <a:extLst>
              <a:ext uri="{FF2B5EF4-FFF2-40B4-BE49-F238E27FC236}">
                <a16:creationId xmlns:a16="http://schemas.microsoft.com/office/drawing/2014/main" id="{72ECCC41-C158-C0C6-0908-A9263B3CC5D0}"/>
              </a:ext>
            </a:extLst>
          </p:cNvPr>
          <p:cNvPicPr>
            <a:picLocks noChangeAspect="1"/>
          </p:cNvPicPr>
          <p:nvPr/>
        </p:nvPicPr>
        <p:blipFill>
          <a:blip r:embed="rId2"/>
          <a:stretch>
            <a:fillRect/>
          </a:stretch>
        </p:blipFill>
        <p:spPr>
          <a:xfrm>
            <a:off x="6096000" y="63968"/>
            <a:ext cx="6126064" cy="6679732"/>
          </a:xfrm>
          <a:prstGeom prst="rect">
            <a:avLst/>
          </a:prstGeom>
        </p:spPr>
      </p:pic>
    </p:spTree>
    <p:extLst>
      <p:ext uri="{BB962C8B-B14F-4D97-AF65-F5344CB8AC3E}">
        <p14:creationId xmlns:p14="http://schemas.microsoft.com/office/powerpoint/2010/main" val="959443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00F8DEBC-A3EA-4EDE-E5B2-94F11F081441}"/>
              </a:ext>
            </a:extLst>
          </p:cNvPr>
          <p:cNvSpPr>
            <a:spLocks noGrp="1"/>
          </p:cNvSpPr>
          <p:nvPr>
            <p:ph idx="1"/>
          </p:nvPr>
        </p:nvSpPr>
        <p:spPr>
          <a:xfrm>
            <a:off x="1451581" y="2015732"/>
            <a:ext cx="4172212" cy="3450613"/>
          </a:xfrm>
        </p:spPr>
        <p:txBody>
          <a:bodyPr>
            <a:normAutofit/>
          </a:bodyPr>
          <a:lstStyle/>
          <a:p>
            <a:r>
              <a:rPr lang="en-US" dirty="0"/>
              <a:t>The std::hex manipulator specifies the current output format as hexadecimal. Note that in order to display the address of an element we cast it to an int* type. Without the int* cast, the substring starting at the address would display as shown below:</a:t>
            </a:r>
            <a:endParaRPr lang="en-CA" dirty="0"/>
          </a:p>
        </p:txBody>
      </p:sp>
      <p:pic>
        <p:nvPicPr>
          <p:cNvPr id="5" name="Picture 4">
            <a:extLst>
              <a:ext uri="{FF2B5EF4-FFF2-40B4-BE49-F238E27FC236}">
                <a16:creationId xmlns:a16="http://schemas.microsoft.com/office/drawing/2014/main" id="{2B161E48-AE62-9C7F-3CA2-4F09CB19BBFA}"/>
              </a:ext>
            </a:extLst>
          </p:cNvPr>
          <p:cNvPicPr>
            <a:picLocks noChangeAspect="1"/>
          </p:cNvPicPr>
          <p:nvPr/>
        </p:nvPicPr>
        <p:blipFill>
          <a:blip r:embed="rId2"/>
          <a:stretch>
            <a:fillRect/>
          </a:stretch>
        </p:blipFill>
        <p:spPr>
          <a:xfrm>
            <a:off x="6095849" y="0"/>
            <a:ext cx="5820598" cy="6309591"/>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DE90F00-2206-E695-1AA0-2D5A022309A5}"/>
              </a:ext>
            </a:extLst>
          </p:cNvPr>
          <p:cNvPicPr>
            <a:picLocks noChangeAspect="1"/>
          </p:cNvPicPr>
          <p:nvPr/>
        </p:nvPicPr>
        <p:blipFill>
          <a:blip r:embed="rId4"/>
          <a:stretch>
            <a:fillRect/>
          </a:stretch>
        </p:blipFill>
        <p:spPr>
          <a:xfrm>
            <a:off x="676275" y="6182567"/>
            <a:ext cx="11039475" cy="634781"/>
          </a:xfrm>
          <a:prstGeom prst="rect">
            <a:avLst/>
          </a:prstGeom>
        </p:spPr>
      </p:pic>
    </p:spTree>
    <p:extLst>
      <p:ext uri="{BB962C8B-B14F-4D97-AF65-F5344CB8AC3E}">
        <p14:creationId xmlns:p14="http://schemas.microsoft.com/office/powerpoint/2010/main" val="1699632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83EC9-55E2-2466-8A34-D8F77FDB73FD}"/>
              </a:ext>
            </a:extLst>
          </p:cNvPr>
          <p:cNvSpPr>
            <a:spLocks noGrp="1"/>
          </p:cNvSpPr>
          <p:nvPr>
            <p:ph type="title"/>
          </p:nvPr>
        </p:nvSpPr>
        <p:spPr/>
        <p:txBody>
          <a:bodyPr/>
          <a:lstStyle/>
          <a:p>
            <a:r>
              <a:rPr lang="en-US" dirty="0"/>
              <a:t>String Literals</a:t>
            </a:r>
            <a:endParaRPr lang="en-CA" dirty="0"/>
          </a:p>
        </p:txBody>
      </p:sp>
      <p:sp>
        <p:nvSpPr>
          <p:cNvPr id="3" name="Content Placeholder 2">
            <a:extLst>
              <a:ext uri="{FF2B5EF4-FFF2-40B4-BE49-F238E27FC236}">
                <a16:creationId xmlns:a16="http://schemas.microsoft.com/office/drawing/2014/main" id="{F47B8B24-A0E5-CA2F-FB4D-82086DEA315D}"/>
              </a:ext>
            </a:extLst>
          </p:cNvPr>
          <p:cNvSpPr>
            <a:spLocks noGrp="1"/>
          </p:cNvSpPr>
          <p:nvPr>
            <p:ph idx="1"/>
          </p:nvPr>
        </p:nvSpPr>
        <p:spPr/>
        <p:txBody>
          <a:bodyPr/>
          <a:lstStyle/>
          <a:p>
            <a:r>
              <a:rPr lang="en-US" dirty="0"/>
              <a:t>​A sequence of characters surrounded by double quotes is called a string literal. </a:t>
            </a:r>
          </a:p>
          <a:p>
            <a:r>
              <a:rPr lang="en-US" dirty="0"/>
              <a:t>A string literal is an </a:t>
            </a:r>
            <a:r>
              <a:rPr lang="en-US" dirty="0" err="1"/>
              <a:t>lvalue</a:t>
            </a:r>
            <a:r>
              <a:rPr lang="en-US" dirty="0"/>
              <a:t>. </a:t>
            </a:r>
          </a:p>
          <a:p>
            <a:r>
              <a:rPr lang="en-US" dirty="0"/>
              <a:t>It is a primary expression stored in the segment of memory that holds global variables. </a:t>
            </a:r>
          </a:p>
          <a:p>
            <a:r>
              <a:rPr lang="en-US" dirty="0"/>
              <a:t>The lifetime of this segment is the lifetime of the program. </a:t>
            </a:r>
          </a:p>
          <a:p>
            <a:r>
              <a:rPr lang="en-US" dirty="0"/>
              <a:t>String literals have static duration.</a:t>
            </a:r>
          </a:p>
          <a:p>
            <a:endParaRPr lang="en-US" dirty="0"/>
          </a:p>
        </p:txBody>
      </p:sp>
    </p:spTree>
    <p:extLst>
      <p:ext uri="{BB962C8B-B14F-4D97-AF65-F5344CB8AC3E}">
        <p14:creationId xmlns:p14="http://schemas.microsoft.com/office/powerpoint/2010/main" val="680521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A0322-8217-F598-6724-1E2DD28E959E}"/>
              </a:ext>
            </a:extLst>
          </p:cNvPr>
          <p:cNvSpPr>
            <a:spLocks noGrp="1"/>
          </p:cNvSpPr>
          <p:nvPr>
            <p:ph type="title"/>
          </p:nvPr>
        </p:nvSpPr>
        <p:spPr/>
        <p:txBody>
          <a:bodyPr/>
          <a:lstStyle/>
          <a:p>
            <a:r>
              <a:rPr lang="en-US" dirty="0"/>
              <a:t>Copying a String Literal​</a:t>
            </a:r>
            <a:br>
              <a:rPr lang="en-CA" dirty="0"/>
            </a:br>
            <a:endParaRPr lang="en-CA" dirty="0"/>
          </a:p>
        </p:txBody>
      </p:sp>
      <p:sp>
        <p:nvSpPr>
          <p:cNvPr id="3" name="Content Placeholder 2">
            <a:extLst>
              <a:ext uri="{FF2B5EF4-FFF2-40B4-BE49-F238E27FC236}">
                <a16:creationId xmlns:a16="http://schemas.microsoft.com/office/drawing/2014/main" id="{3560FA25-1BE0-9CCD-ED5C-80FF9CECDB01}"/>
              </a:ext>
            </a:extLst>
          </p:cNvPr>
          <p:cNvSpPr>
            <a:spLocks noGrp="1"/>
          </p:cNvSpPr>
          <p:nvPr>
            <p:ph idx="1"/>
          </p:nvPr>
        </p:nvSpPr>
        <p:spPr>
          <a:xfrm>
            <a:off x="149897" y="1402083"/>
            <a:ext cx="7573675" cy="5025350"/>
          </a:xfrm>
        </p:spPr>
        <p:txBody>
          <a:bodyPr>
            <a:normAutofit lnSpcReduction="10000"/>
          </a:bodyPr>
          <a:lstStyle/>
          <a:p>
            <a:r>
              <a:rPr lang="en-US" dirty="0"/>
              <a:t>The following program defines a string literal, stores its address in a pointer, defines a C-style character string, copies the contents of the string literal into that second string, changes the first character to lower case and displays the updated string along with the addresses of the pointer and the string:</a:t>
            </a:r>
          </a:p>
          <a:p>
            <a:endParaRPr lang="en-US" dirty="0"/>
          </a:p>
          <a:p>
            <a:endParaRPr lang="en-US" dirty="0"/>
          </a:p>
          <a:p>
            <a:endParaRPr lang="en-US" dirty="0"/>
          </a:p>
          <a:p>
            <a:endParaRPr lang="en-US" dirty="0"/>
          </a:p>
          <a:p>
            <a:r>
              <a:rPr lang="en-US" dirty="0"/>
              <a:t>Note that the program does not alter the string literal itself. The memory for s is distinct from the memory for the string literal "May be overwritten", which we can change.</a:t>
            </a:r>
            <a:endParaRPr lang="en-CA" dirty="0"/>
          </a:p>
        </p:txBody>
      </p:sp>
      <p:pic>
        <p:nvPicPr>
          <p:cNvPr id="5" name="Picture 4">
            <a:extLst>
              <a:ext uri="{FF2B5EF4-FFF2-40B4-BE49-F238E27FC236}">
                <a16:creationId xmlns:a16="http://schemas.microsoft.com/office/drawing/2014/main" id="{86F5E0A9-04A6-8282-8B50-8D6979E434E7}"/>
              </a:ext>
            </a:extLst>
          </p:cNvPr>
          <p:cNvPicPr>
            <a:picLocks noChangeAspect="1"/>
          </p:cNvPicPr>
          <p:nvPr/>
        </p:nvPicPr>
        <p:blipFill>
          <a:blip r:embed="rId2"/>
          <a:stretch>
            <a:fillRect/>
          </a:stretch>
        </p:blipFill>
        <p:spPr>
          <a:xfrm>
            <a:off x="7815202" y="139503"/>
            <a:ext cx="4160881" cy="5326842"/>
          </a:xfrm>
          <a:prstGeom prst="rect">
            <a:avLst/>
          </a:prstGeom>
        </p:spPr>
      </p:pic>
    </p:spTree>
    <p:extLst>
      <p:ext uri="{BB962C8B-B14F-4D97-AF65-F5344CB8AC3E}">
        <p14:creationId xmlns:p14="http://schemas.microsoft.com/office/powerpoint/2010/main" val="3171961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4" name="Straight Connector 13">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C9703D-C8F9-44AD-A7C0-C2F3871F8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60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BC3BC489-E442-F6FD-19F7-00EF66A2D4E7}"/>
              </a:ext>
            </a:extLst>
          </p:cNvPr>
          <p:cNvPicPr>
            <a:picLocks noGrp="1" noChangeAspect="1"/>
          </p:cNvPicPr>
          <p:nvPr>
            <p:ph idx="1"/>
          </p:nvPr>
        </p:nvPicPr>
        <p:blipFill>
          <a:blip r:embed="rId3"/>
          <a:stretch>
            <a:fillRect/>
          </a:stretch>
        </p:blipFill>
        <p:spPr>
          <a:xfrm>
            <a:off x="0" y="0"/>
            <a:ext cx="8991600" cy="4181095"/>
          </a:xfrm>
          <a:prstGeom prst="rect">
            <a:avLst/>
          </a:prstGeom>
        </p:spPr>
      </p:pic>
      <p:pic>
        <p:nvPicPr>
          <p:cNvPr id="7" name="Picture 6">
            <a:extLst>
              <a:ext uri="{FF2B5EF4-FFF2-40B4-BE49-F238E27FC236}">
                <a16:creationId xmlns:a16="http://schemas.microsoft.com/office/drawing/2014/main" id="{78C26A28-F18A-E07C-1264-4A8E23356CCE}"/>
              </a:ext>
            </a:extLst>
          </p:cNvPr>
          <p:cNvPicPr>
            <a:picLocks noChangeAspect="1"/>
          </p:cNvPicPr>
          <p:nvPr/>
        </p:nvPicPr>
        <p:blipFill>
          <a:blip r:embed="rId4"/>
          <a:stretch>
            <a:fillRect/>
          </a:stretch>
        </p:blipFill>
        <p:spPr>
          <a:xfrm>
            <a:off x="5238749" y="3696563"/>
            <a:ext cx="6698275" cy="317286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32730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57E81-BD16-8FF4-EE90-5CC8872548F5}"/>
              </a:ext>
            </a:extLst>
          </p:cNvPr>
          <p:cNvSpPr>
            <a:spLocks noGrp="1"/>
          </p:cNvSpPr>
          <p:nvPr>
            <p:ph type="title"/>
          </p:nvPr>
        </p:nvSpPr>
        <p:spPr/>
        <p:txBody>
          <a:bodyPr/>
          <a:lstStyle/>
          <a:p>
            <a:r>
              <a:rPr lang="en-US" dirty="0"/>
              <a:t>Arithmetic Operations</a:t>
            </a:r>
            <a:endParaRPr lang="en-CA" dirty="0"/>
          </a:p>
        </p:txBody>
      </p:sp>
      <p:sp>
        <p:nvSpPr>
          <p:cNvPr id="3" name="Content Placeholder 2">
            <a:extLst>
              <a:ext uri="{FF2B5EF4-FFF2-40B4-BE49-F238E27FC236}">
                <a16:creationId xmlns:a16="http://schemas.microsoft.com/office/drawing/2014/main" id="{0C23E618-B076-15D0-7ED2-E81971112F7A}"/>
              </a:ext>
            </a:extLst>
          </p:cNvPr>
          <p:cNvSpPr>
            <a:spLocks noGrp="1"/>
          </p:cNvSpPr>
          <p:nvPr>
            <p:ph idx="1"/>
          </p:nvPr>
        </p:nvSpPr>
        <p:spPr/>
        <p:txBody>
          <a:bodyPr/>
          <a:lstStyle/>
          <a:p>
            <a:pPr marL="0" indent="0">
              <a:buNone/>
            </a:pPr>
            <a:r>
              <a:rPr lang="en-US" b="1" dirty="0"/>
              <a:t>Addition​</a:t>
            </a:r>
          </a:p>
          <a:p>
            <a:r>
              <a:rPr lang="en-US" dirty="0"/>
              <a:t>A binary expression with the addition operator (+) adds the values of its operands. If one of the operands is of pointer type, the other must be of integral or </a:t>
            </a:r>
            <a:r>
              <a:rPr lang="en-US" dirty="0" err="1"/>
              <a:t>unscoped</a:t>
            </a:r>
            <a:r>
              <a:rPr lang="en-US" dirty="0"/>
              <a:t> enumeration type. The expression evaluates to the address that is the number of types beyond the address stored in the pointer operand. That is, the integral operand gives the offset in types (not bytes). For example,</a:t>
            </a:r>
            <a:endParaRPr lang="en-CA" dirty="0"/>
          </a:p>
        </p:txBody>
      </p:sp>
    </p:spTree>
    <p:extLst>
      <p:ext uri="{BB962C8B-B14F-4D97-AF65-F5344CB8AC3E}">
        <p14:creationId xmlns:p14="http://schemas.microsoft.com/office/powerpoint/2010/main" val="236547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2601-DC5B-B81F-B9A0-99F576F0D83A}"/>
              </a:ext>
            </a:extLst>
          </p:cNvPr>
          <p:cNvSpPr>
            <a:spLocks noGrp="1"/>
          </p:cNvSpPr>
          <p:nvPr>
            <p:ph type="title"/>
          </p:nvPr>
        </p:nvSpPr>
        <p:spPr>
          <a:xfrm>
            <a:off x="1522600" y="158128"/>
            <a:ext cx="9603275" cy="1049235"/>
          </a:xfrm>
        </p:spPr>
        <p:txBody>
          <a:bodyPr vert="horz" lIns="91440" tIns="45720" rIns="91440" bIns="0" rtlCol="0">
            <a:normAutofit/>
          </a:bodyPr>
          <a:lstStyle/>
          <a:p>
            <a:r>
              <a:rPr lang="en-US" dirty="0"/>
              <a:t>Addition​</a:t>
            </a:r>
            <a:br>
              <a:rPr lang="en-US" dirty="0"/>
            </a:br>
            <a:endParaRPr lang="en-US" dirty="0"/>
          </a:p>
        </p:txBody>
      </p:sp>
      <p:pic>
        <p:nvPicPr>
          <p:cNvPr id="5" name="Content Placeholder 4" descr="Text&#10;&#10;Description automatically generated">
            <a:extLst>
              <a:ext uri="{FF2B5EF4-FFF2-40B4-BE49-F238E27FC236}">
                <a16:creationId xmlns:a16="http://schemas.microsoft.com/office/drawing/2014/main" id="{5DC29C39-5EF5-58C5-C79C-209F32605306}"/>
              </a:ext>
            </a:extLst>
          </p:cNvPr>
          <p:cNvPicPr>
            <a:picLocks noChangeAspect="1"/>
          </p:cNvPicPr>
          <p:nvPr/>
        </p:nvPicPr>
        <p:blipFill>
          <a:blip r:embed="rId2"/>
          <a:stretch>
            <a:fillRect/>
          </a:stretch>
        </p:blipFill>
        <p:spPr>
          <a:xfrm>
            <a:off x="257453" y="1207363"/>
            <a:ext cx="5752730" cy="5547283"/>
          </a:xfrm>
          <a:prstGeom prst="rect">
            <a:avLst/>
          </a:prstGeom>
        </p:spPr>
      </p:pic>
      <p:sp>
        <p:nvSpPr>
          <p:cNvPr id="30" name="Content Placeholder 29">
            <a:extLst>
              <a:ext uri="{FF2B5EF4-FFF2-40B4-BE49-F238E27FC236}">
                <a16:creationId xmlns:a16="http://schemas.microsoft.com/office/drawing/2014/main" id="{D89F2809-2BAE-3C40-6F7A-4C83380D2AB3}"/>
              </a:ext>
            </a:extLst>
          </p:cNvPr>
          <p:cNvSpPr>
            <a:spLocks noGrp="1"/>
          </p:cNvSpPr>
          <p:nvPr>
            <p:ph idx="1"/>
          </p:nvPr>
        </p:nvSpPr>
        <p:spPr>
          <a:xfrm>
            <a:off x="6181819" y="682745"/>
            <a:ext cx="5968752" cy="4430793"/>
          </a:xfrm>
        </p:spPr>
        <p:txBody>
          <a:bodyPr>
            <a:normAutofit/>
          </a:bodyPr>
          <a:lstStyle/>
          <a:p>
            <a:r>
              <a:rPr lang="en-US" dirty="0"/>
              <a:t>Note that the difference between 0037F9B4 and 0037F99C is 18 hexadecimal or 24 decimal; that is, 3 doubles.</a:t>
            </a:r>
          </a:p>
          <a:p>
            <a:endParaRPr lang="en-US" dirty="0"/>
          </a:p>
          <a:p>
            <a:r>
              <a:rPr lang="en-US" dirty="0"/>
              <a:t>An addition expression with a pointer operand evaluates to a defined value as long as the result of the addition points to an element of the array or to the location that is one element beyond the end of the array. Otherwise, the expression is ill-defined.</a:t>
            </a:r>
          </a:p>
        </p:txBody>
      </p:sp>
    </p:spTree>
    <p:extLst>
      <p:ext uri="{BB962C8B-B14F-4D97-AF65-F5344CB8AC3E}">
        <p14:creationId xmlns:p14="http://schemas.microsoft.com/office/powerpoint/2010/main" val="2047437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125E6-10C8-2A5A-1386-5093A4ADFA38}"/>
              </a:ext>
            </a:extLst>
          </p:cNvPr>
          <p:cNvSpPr>
            <a:spLocks noGrp="1"/>
          </p:cNvSpPr>
          <p:nvPr>
            <p:ph type="title"/>
          </p:nvPr>
        </p:nvSpPr>
        <p:spPr/>
        <p:txBody>
          <a:bodyPr/>
          <a:lstStyle/>
          <a:p>
            <a:endParaRPr lang="en-CA"/>
          </a:p>
        </p:txBody>
      </p:sp>
      <p:pic>
        <p:nvPicPr>
          <p:cNvPr id="5" name="Picture 4">
            <a:extLst>
              <a:ext uri="{FF2B5EF4-FFF2-40B4-BE49-F238E27FC236}">
                <a16:creationId xmlns:a16="http://schemas.microsoft.com/office/drawing/2014/main" id="{89EF2947-3E6D-0C7A-4272-8D4C05853F33}"/>
              </a:ext>
            </a:extLst>
          </p:cNvPr>
          <p:cNvPicPr>
            <a:picLocks noChangeAspect="1"/>
          </p:cNvPicPr>
          <p:nvPr/>
        </p:nvPicPr>
        <p:blipFill>
          <a:blip r:embed="rId2"/>
          <a:stretch>
            <a:fillRect/>
          </a:stretch>
        </p:blipFill>
        <p:spPr>
          <a:xfrm>
            <a:off x="101330" y="0"/>
            <a:ext cx="8207451" cy="2110923"/>
          </a:xfrm>
          <a:prstGeom prst="rect">
            <a:avLst/>
          </a:prstGeom>
        </p:spPr>
      </p:pic>
      <p:pic>
        <p:nvPicPr>
          <p:cNvPr id="7" name="Picture 6">
            <a:extLst>
              <a:ext uri="{FF2B5EF4-FFF2-40B4-BE49-F238E27FC236}">
                <a16:creationId xmlns:a16="http://schemas.microsoft.com/office/drawing/2014/main" id="{31CF48E9-04D6-CC05-C4C2-F01EFACA94BA}"/>
              </a:ext>
            </a:extLst>
          </p:cNvPr>
          <p:cNvPicPr>
            <a:picLocks noChangeAspect="1"/>
          </p:cNvPicPr>
          <p:nvPr/>
        </p:nvPicPr>
        <p:blipFill>
          <a:blip r:embed="rId3"/>
          <a:stretch>
            <a:fillRect/>
          </a:stretch>
        </p:blipFill>
        <p:spPr>
          <a:xfrm>
            <a:off x="5866852" y="1682299"/>
            <a:ext cx="6325148" cy="4299325"/>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E622D3C1-0E62-8B32-2D6B-3336DDBB6940}"/>
              </a:ext>
            </a:extLst>
          </p:cNvPr>
          <p:cNvPicPr>
            <a:picLocks noChangeAspect="1"/>
          </p:cNvPicPr>
          <p:nvPr/>
        </p:nvPicPr>
        <p:blipFill>
          <a:blip r:embed="rId4"/>
          <a:stretch>
            <a:fillRect/>
          </a:stretch>
        </p:blipFill>
        <p:spPr>
          <a:xfrm>
            <a:off x="0" y="5981624"/>
            <a:ext cx="8131245" cy="876376"/>
          </a:xfrm>
          <a:prstGeom prst="rect">
            <a:avLst/>
          </a:prstGeom>
        </p:spPr>
      </p:pic>
    </p:spTree>
    <p:extLst>
      <p:ext uri="{BB962C8B-B14F-4D97-AF65-F5344CB8AC3E}">
        <p14:creationId xmlns:p14="http://schemas.microsoft.com/office/powerpoint/2010/main" val="1769357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558E4-A502-E93D-B168-11926AE604A6}"/>
              </a:ext>
            </a:extLst>
          </p:cNvPr>
          <p:cNvSpPr>
            <a:spLocks noGrp="1"/>
          </p:cNvSpPr>
          <p:nvPr>
            <p:ph type="title"/>
          </p:nvPr>
        </p:nvSpPr>
        <p:spPr/>
        <p:txBody>
          <a:bodyPr/>
          <a:lstStyle/>
          <a:p>
            <a:r>
              <a:rPr lang="en-CA" b="1" i="0" dirty="0">
                <a:solidFill>
                  <a:srgbClr val="1C1E21"/>
                </a:solidFill>
                <a:effectLst/>
                <a:latin typeface="system-ui"/>
              </a:rPr>
              <a:t>Postfix Operations</a:t>
            </a:r>
            <a:endParaRPr lang="en-CA" dirty="0"/>
          </a:p>
        </p:txBody>
      </p:sp>
      <p:sp>
        <p:nvSpPr>
          <p:cNvPr id="3" name="Content Placeholder 2">
            <a:extLst>
              <a:ext uri="{FF2B5EF4-FFF2-40B4-BE49-F238E27FC236}">
                <a16:creationId xmlns:a16="http://schemas.microsoft.com/office/drawing/2014/main" id="{D40D1C8A-3D47-BBA3-A643-692E0EAB5724}"/>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BFC94E33-5F30-8539-32C3-9166FF46920A}"/>
              </a:ext>
            </a:extLst>
          </p:cNvPr>
          <p:cNvPicPr>
            <a:picLocks noChangeAspect="1"/>
          </p:cNvPicPr>
          <p:nvPr/>
        </p:nvPicPr>
        <p:blipFill>
          <a:blip r:embed="rId2"/>
          <a:stretch>
            <a:fillRect/>
          </a:stretch>
        </p:blipFill>
        <p:spPr>
          <a:xfrm>
            <a:off x="1451579" y="2006206"/>
            <a:ext cx="9683146" cy="4778107"/>
          </a:xfrm>
          <a:prstGeom prst="rect">
            <a:avLst/>
          </a:prstGeom>
        </p:spPr>
      </p:pic>
    </p:spTree>
    <p:extLst>
      <p:ext uri="{BB962C8B-B14F-4D97-AF65-F5344CB8AC3E}">
        <p14:creationId xmlns:p14="http://schemas.microsoft.com/office/powerpoint/2010/main" val="410413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A1DA8-3ADA-E687-4E89-045672B06F04}"/>
              </a:ext>
            </a:extLst>
          </p:cNvPr>
          <p:cNvSpPr>
            <a:spLocks noGrp="1"/>
          </p:cNvSpPr>
          <p:nvPr>
            <p:ph type="title"/>
          </p:nvPr>
        </p:nvSpPr>
        <p:spPr/>
        <p:txBody>
          <a:bodyPr/>
          <a:lstStyle/>
          <a:p>
            <a:r>
              <a:rPr lang="en-US" dirty="0"/>
              <a:t>Reference to a Pointer</a:t>
            </a:r>
            <a:endParaRPr lang="en-CA" dirty="0"/>
          </a:p>
        </p:txBody>
      </p:sp>
      <p:sp>
        <p:nvSpPr>
          <p:cNvPr id="3" name="Content Placeholder 2">
            <a:extLst>
              <a:ext uri="{FF2B5EF4-FFF2-40B4-BE49-F238E27FC236}">
                <a16:creationId xmlns:a16="http://schemas.microsoft.com/office/drawing/2014/main" id="{A2F07CB2-8B45-9EE5-92DF-FB906A05AC36}"/>
              </a:ext>
            </a:extLst>
          </p:cNvPr>
          <p:cNvSpPr>
            <a:spLocks noGrp="1"/>
          </p:cNvSpPr>
          <p:nvPr>
            <p:ph idx="1"/>
          </p:nvPr>
        </p:nvSpPr>
        <p:spPr>
          <a:xfrm>
            <a:off x="253095" y="1989099"/>
            <a:ext cx="3422262" cy="3450613"/>
          </a:xfrm>
        </p:spPr>
        <p:txBody>
          <a:bodyPr/>
          <a:lstStyle/>
          <a:p>
            <a:r>
              <a:rPr lang="en-US" dirty="0"/>
              <a:t>​A reference to a pointer lets us change the address that has been stored in a pointer outside a function from within the function in the same way that a reference to a variable that holds a value. For example,</a:t>
            </a:r>
            <a:endParaRPr lang="en-CA" dirty="0"/>
          </a:p>
        </p:txBody>
      </p:sp>
      <p:pic>
        <p:nvPicPr>
          <p:cNvPr id="5" name="Picture 4">
            <a:extLst>
              <a:ext uri="{FF2B5EF4-FFF2-40B4-BE49-F238E27FC236}">
                <a16:creationId xmlns:a16="http://schemas.microsoft.com/office/drawing/2014/main" id="{B12D9048-15DC-9EE2-AF05-D95C95FD1858}"/>
              </a:ext>
            </a:extLst>
          </p:cNvPr>
          <p:cNvPicPr>
            <a:picLocks noChangeAspect="1"/>
          </p:cNvPicPr>
          <p:nvPr/>
        </p:nvPicPr>
        <p:blipFill>
          <a:blip r:embed="rId2"/>
          <a:stretch>
            <a:fillRect/>
          </a:stretch>
        </p:blipFill>
        <p:spPr>
          <a:xfrm>
            <a:off x="6545711" y="145243"/>
            <a:ext cx="3941867" cy="5995613"/>
          </a:xfrm>
          <a:prstGeom prst="rect">
            <a:avLst/>
          </a:prstGeom>
        </p:spPr>
      </p:pic>
      <p:pic>
        <p:nvPicPr>
          <p:cNvPr id="7" name="Picture 6">
            <a:extLst>
              <a:ext uri="{FF2B5EF4-FFF2-40B4-BE49-F238E27FC236}">
                <a16:creationId xmlns:a16="http://schemas.microsoft.com/office/drawing/2014/main" id="{6F41E863-5EEA-56EF-4766-7EDCE6966F46}"/>
              </a:ext>
            </a:extLst>
          </p:cNvPr>
          <p:cNvPicPr>
            <a:picLocks noChangeAspect="1"/>
          </p:cNvPicPr>
          <p:nvPr/>
        </p:nvPicPr>
        <p:blipFill>
          <a:blip r:embed="rId3"/>
          <a:stretch>
            <a:fillRect/>
          </a:stretch>
        </p:blipFill>
        <p:spPr>
          <a:xfrm>
            <a:off x="10818439" y="4955196"/>
            <a:ext cx="1280271" cy="1371719"/>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32424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ECFB-99AB-13C0-BF77-28345997207B}"/>
              </a:ext>
            </a:extLst>
          </p:cNvPr>
          <p:cNvSpPr>
            <a:spLocks noGrp="1"/>
          </p:cNvSpPr>
          <p:nvPr>
            <p:ph type="title"/>
          </p:nvPr>
        </p:nvSpPr>
        <p:spPr/>
        <p:txBody>
          <a:bodyPr/>
          <a:lstStyle/>
          <a:p>
            <a:r>
              <a:rPr lang="en-CA" dirty="0"/>
              <a:t>exercise</a:t>
            </a:r>
          </a:p>
        </p:txBody>
      </p:sp>
      <p:sp>
        <p:nvSpPr>
          <p:cNvPr id="3" name="Content Placeholder 2">
            <a:extLst>
              <a:ext uri="{FF2B5EF4-FFF2-40B4-BE49-F238E27FC236}">
                <a16:creationId xmlns:a16="http://schemas.microsoft.com/office/drawing/2014/main" id="{AE037BCD-4534-0136-C11F-037F88D6FBEE}"/>
              </a:ext>
            </a:extLst>
          </p:cNvPr>
          <p:cNvSpPr>
            <a:spLocks noGrp="1"/>
          </p:cNvSpPr>
          <p:nvPr>
            <p:ph idx="1"/>
          </p:nvPr>
        </p:nvSpPr>
        <p:spPr/>
        <p:txBody>
          <a:bodyPr/>
          <a:lstStyle/>
          <a:p>
            <a:r>
              <a:rPr lang="en-CA" b="0" i="0" dirty="0">
                <a:solidFill>
                  <a:srgbClr val="1C1E21"/>
                </a:solidFill>
                <a:effectLst/>
                <a:latin typeface="system-ui"/>
              </a:rPr>
              <a:t>Read Wikipedia on </a:t>
            </a:r>
            <a:r>
              <a:rPr lang="en-CA" b="0" i="0" dirty="0">
                <a:solidFill>
                  <a:srgbClr val="1C1E21"/>
                </a:solidFill>
                <a:effectLst/>
                <a:latin typeface="system-ui"/>
                <a:hlinkClick r:id="rId2"/>
              </a:rPr>
              <a:t>Pointers</a:t>
            </a:r>
            <a:endParaRPr lang="en-CA" b="0" i="0" dirty="0">
              <a:solidFill>
                <a:srgbClr val="1C1E21"/>
              </a:solidFill>
              <a:effectLst/>
              <a:latin typeface="system-ui"/>
            </a:endParaRPr>
          </a:p>
          <a:p>
            <a:endParaRPr lang="en-CA" dirty="0"/>
          </a:p>
        </p:txBody>
      </p:sp>
    </p:spTree>
    <p:extLst>
      <p:ext uri="{BB962C8B-B14F-4D97-AF65-F5344CB8AC3E}">
        <p14:creationId xmlns:p14="http://schemas.microsoft.com/office/powerpoint/2010/main" val="3778181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4ED8-5251-1E96-A855-CFCAB100DA77}"/>
              </a:ext>
            </a:extLst>
          </p:cNvPr>
          <p:cNvSpPr>
            <a:spLocks noGrp="1"/>
          </p:cNvSpPr>
          <p:nvPr>
            <p:ph type="title"/>
          </p:nvPr>
        </p:nvSpPr>
        <p:spPr/>
        <p:txBody>
          <a:bodyPr/>
          <a:lstStyle/>
          <a:p>
            <a:r>
              <a:rPr lang="en-CA" dirty="0"/>
              <a:t>Smart pointers-Objective</a:t>
            </a:r>
          </a:p>
        </p:txBody>
      </p:sp>
      <p:sp>
        <p:nvSpPr>
          <p:cNvPr id="3" name="Content Placeholder 2">
            <a:extLst>
              <a:ext uri="{FF2B5EF4-FFF2-40B4-BE49-F238E27FC236}">
                <a16:creationId xmlns:a16="http://schemas.microsoft.com/office/drawing/2014/main" id="{664C7E12-9A2B-77C3-1B3D-8C49EB9F35A4}"/>
              </a:ext>
            </a:extLst>
          </p:cNvPr>
          <p:cNvSpPr>
            <a:spLocks noGrp="1"/>
          </p:cNvSpPr>
          <p:nvPr>
            <p:ph idx="1"/>
          </p:nvPr>
        </p:nvSpPr>
        <p:spPr/>
        <p:txBody>
          <a:bodyPr/>
          <a:lstStyle/>
          <a:p>
            <a:r>
              <a:rPr lang="en-US" dirty="0"/>
              <a:t>Create program components using smart pointers</a:t>
            </a:r>
          </a:p>
          <a:p>
            <a:r>
              <a:rPr lang="en-US" dirty="0"/>
              <a:t>This chapter reviews the exception handling case and describes two categories of smart ownership: exclusive and shared.</a:t>
            </a:r>
          </a:p>
          <a:p>
            <a:endParaRPr lang="en-CA" dirty="0"/>
          </a:p>
        </p:txBody>
      </p:sp>
    </p:spTree>
    <p:extLst>
      <p:ext uri="{BB962C8B-B14F-4D97-AF65-F5344CB8AC3E}">
        <p14:creationId xmlns:p14="http://schemas.microsoft.com/office/powerpoint/2010/main" val="4188927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AE21-7681-DC98-1C32-83A7F76BB5D5}"/>
              </a:ext>
            </a:extLst>
          </p:cNvPr>
          <p:cNvSpPr>
            <a:spLocks noGrp="1"/>
          </p:cNvSpPr>
          <p:nvPr>
            <p:ph type="title"/>
          </p:nvPr>
        </p:nvSpPr>
        <p:spPr/>
        <p:txBody>
          <a:bodyPr/>
          <a:lstStyle/>
          <a:p>
            <a:r>
              <a:rPr lang="en-US" dirty="0"/>
              <a:t>Smart Pointers</a:t>
            </a:r>
            <a:br>
              <a:rPr lang="en-US" dirty="0"/>
            </a:br>
            <a:endParaRPr lang="en-CA" dirty="0"/>
          </a:p>
        </p:txBody>
      </p:sp>
      <p:sp>
        <p:nvSpPr>
          <p:cNvPr id="3" name="Content Placeholder 2">
            <a:extLst>
              <a:ext uri="{FF2B5EF4-FFF2-40B4-BE49-F238E27FC236}">
                <a16:creationId xmlns:a16="http://schemas.microsoft.com/office/drawing/2014/main" id="{6FDE8D58-61A1-B2C7-DAA5-2FD123184BA0}"/>
              </a:ext>
            </a:extLst>
          </p:cNvPr>
          <p:cNvSpPr>
            <a:spLocks noGrp="1"/>
          </p:cNvSpPr>
          <p:nvPr>
            <p:ph idx="1"/>
          </p:nvPr>
        </p:nvSpPr>
        <p:spPr>
          <a:xfrm>
            <a:off x="1451579" y="2030728"/>
            <a:ext cx="9324353" cy="3597715"/>
          </a:xfrm>
        </p:spPr>
        <p:txBody>
          <a:bodyPr>
            <a:normAutofit/>
          </a:bodyPr>
          <a:lstStyle/>
          <a:p>
            <a:r>
              <a:rPr lang="en-US" dirty="0"/>
              <a:t>"Ensure resources are owned by objects. Use explicit RAII and smart pointers." Sutter, </a:t>
            </a:r>
            <a:r>
              <a:rPr lang="en-US" dirty="0" err="1"/>
              <a:t>Alexandruscu</a:t>
            </a:r>
            <a:r>
              <a:rPr lang="en-US" dirty="0"/>
              <a:t> (2005)</a:t>
            </a:r>
          </a:p>
          <a:p>
            <a:r>
              <a:rPr lang="en-US" dirty="0"/>
              <a:t>One of the principal uses of pointers in C++ applications is to identify resource variables. </a:t>
            </a:r>
          </a:p>
          <a:p>
            <a:r>
              <a:rPr lang="en-US" dirty="0"/>
              <a:t>In a narrow sense, a resource is an object that a program does not possess at load time but acquires and releases during run-time. </a:t>
            </a:r>
          </a:p>
          <a:p>
            <a:pPr lvl="1"/>
            <a:r>
              <a:rPr lang="en-US" dirty="0"/>
              <a:t>The most prominent example is memory on the heap (dynamically allocated memory). Other such resources include file handles, device interface objects and states of critical sections in multi-threaded applications.</a:t>
            </a:r>
            <a:endParaRPr lang="en-CA" dirty="0"/>
          </a:p>
        </p:txBody>
      </p:sp>
    </p:spTree>
    <p:extLst>
      <p:ext uri="{BB962C8B-B14F-4D97-AF65-F5344CB8AC3E}">
        <p14:creationId xmlns:p14="http://schemas.microsoft.com/office/powerpoint/2010/main" val="3793580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D146-9017-6812-D0E5-D3A3693D78DE}"/>
              </a:ext>
            </a:extLst>
          </p:cNvPr>
          <p:cNvSpPr>
            <a:spLocks noGrp="1"/>
          </p:cNvSpPr>
          <p:nvPr>
            <p:ph type="title"/>
          </p:nvPr>
        </p:nvSpPr>
        <p:spPr/>
        <p:txBody>
          <a:bodyPr/>
          <a:lstStyle/>
          <a:p>
            <a:r>
              <a:rPr lang="en-US" dirty="0"/>
              <a:t>Smart Pointers</a:t>
            </a:r>
            <a:endParaRPr lang="en-CA" dirty="0"/>
          </a:p>
        </p:txBody>
      </p:sp>
      <p:sp>
        <p:nvSpPr>
          <p:cNvPr id="3" name="Content Placeholder 2">
            <a:extLst>
              <a:ext uri="{FF2B5EF4-FFF2-40B4-BE49-F238E27FC236}">
                <a16:creationId xmlns:a16="http://schemas.microsoft.com/office/drawing/2014/main" id="{47F00710-DA36-8A08-53D7-2D97F6D55501}"/>
              </a:ext>
            </a:extLst>
          </p:cNvPr>
          <p:cNvSpPr>
            <a:spLocks noGrp="1"/>
          </p:cNvSpPr>
          <p:nvPr>
            <p:ph idx="1"/>
          </p:nvPr>
        </p:nvSpPr>
        <p:spPr>
          <a:xfrm>
            <a:off x="585926" y="2015732"/>
            <a:ext cx="11052699" cy="3710365"/>
          </a:xfrm>
        </p:spPr>
        <p:txBody>
          <a:bodyPr>
            <a:normAutofit/>
          </a:bodyPr>
          <a:lstStyle/>
          <a:p>
            <a:r>
              <a:rPr lang="en-US" dirty="0"/>
              <a:t>In a broader sense, a resource is any object created and released in a program, including not only an object on the heap as well as one on the stack or in global scope</a:t>
            </a:r>
          </a:p>
          <a:p>
            <a:r>
              <a:rPr lang="en-US" dirty="0"/>
              <a:t> In this sense, the owner of a resource is an object or piece of code that is responsible for the resource's release. </a:t>
            </a:r>
          </a:p>
          <a:p>
            <a:r>
              <a:rPr lang="en-US" dirty="0"/>
              <a:t>Then, ownership falls into two distinct categories - </a:t>
            </a:r>
            <a:r>
              <a:rPr lang="en-US" dirty="0">
                <a:highlight>
                  <a:srgbClr val="FFFF00"/>
                </a:highlight>
              </a:rPr>
              <a:t>automatic and explicit</a:t>
            </a:r>
            <a:r>
              <a:rPr lang="en-US" dirty="0"/>
              <a:t>.</a:t>
            </a:r>
          </a:p>
        </p:txBody>
      </p:sp>
    </p:spTree>
    <p:extLst>
      <p:ext uri="{BB962C8B-B14F-4D97-AF65-F5344CB8AC3E}">
        <p14:creationId xmlns:p14="http://schemas.microsoft.com/office/powerpoint/2010/main" val="2764960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8E57-CCBF-BB99-D47F-DB4BBA6D2BD9}"/>
              </a:ext>
            </a:extLst>
          </p:cNvPr>
          <p:cNvSpPr>
            <a:spLocks noGrp="1"/>
          </p:cNvSpPr>
          <p:nvPr>
            <p:ph type="title"/>
          </p:nvPr>
        </p:nvSpPr>
        <p:spPr/>
        <p:txBody>
          <a:bodyPr/>
          <a:lstStyle/>
          <a:p>
            <a:r>
              <a:rPr lang="en-US" dirty="0"/>
              <a:t>Smart Pointers- automatic ownership</a:t>
            </a:r>
            <a:endParaRPr lang="en-CA" dirty="0"/>
          </a:p>
        </p:txBody>
      </p:sp>
      <p:sp>
        <p:nvSpPr>
          <p:cNvPr id="3" name="Content Placeholder 2">
            <a:extLst>
              <a:ext uri="{FF2B5EF4-FFF2-40B4-BE49-F238E27FC236}">
                <a16:creationId xmlns:a16="http://schemas.microsoft.com/office/drawing/2014/main" id="{AD449F60-19A7-76D8-794A-139D399FE537}"/>
              </a:ext>
            </a:extLst>
          </p:cNvPr>
          <p:cNvSpPr>
            <a:spLocks noGrp="1"/>
          </p:cNvSpPr>
          <p:nvPr>
            <p:ph idx="1"/>
          </p:nvPr>
        </p:nvSpPr>
        <p:spPr>
          <a:xfrm>
            <a:off x="514905" y="2015732"/>
            <a:ext cx="11283518" cy="4305169"/>
          </a:xfrm>
        </p:spPr>
        <p:txBody>
          <a:bodyPr>
            <a:normAutofit/>
          </a:bodyPr>
          <a:lstStyle/>
          <a:p>
            <a:r>
              <a:rPr lang="en-US" dirty="0"/>
              <a:t>An object is automatically owned if the mechanisms of the language guarantee its release. </a:t>
            </a:r>
          </a:p>
          <a:p>
            <a:pPr lvl="1"/>
            <a:r>
              <a:rPr lang="en-US" dirty="0"/>
              <a:t>For example, a C++ object that is composed of other objects guarantees their release at the time of its own release (</a:t>
            </a:r>
            <a:r>
              <a:rPr lang="en-US" dirty="0" err="1"/>
              <a:t>Milewski</a:t>
            </a:r>
            <a:r>
              <a:rPr lang="en-US" dirty="0"/>
              <a:t>, 2001).</a:t>
            </a:r>
            <a:endParaRPr lang="en-CA" dirty="0"/>
          </a:p>
          <a:p>
            <a:r>
              <a:rPr lang="en-US" dirty="0"/>
              <a:t>Pointers (as well as handles and abstract states) require explicit management of the resources to which they refer. </a:t>
            </a:r>
          </a:p>
          <a:p>
            <a:pPr lvl="1"/>
            <a:r>
              <a:rPr lang="en-US" dirty="0"/>
              <a:t>For example, a pointer that holds the address of dynamically allocated memory retrieved using new requires the programmer to release that memory using delete. </a:t>
            </a:r>
          </a:p>
          <a:p>
            <a:r>
              <a:rPr lang="en-US" dirty="0"/>
              <a:t>In other words, in C++, a raw pointer, like a file handle or the state of a critical section, has no owner that would guarantee its eventual release (</a:t>
            </a:r>
            <a:r>
              <a:rPr lang="en-US" dirty="0" err="1"/>
              <a:t>Milewski</a:t>
            </a:r>
            <a:r>
              <a:rPr lang="en-US" dirty="0"/>
              <a:t>, 2001).</a:t>
            </a:r>
          </a:p>
        </p:txBody>
      </p:sp>
    </p:spTree>
    <p:extLst>
      <p:ext uri="{BB962C8B-B14F-4D97-AF65-F5344CB8AC3E}">
        <p14:creationId xmlns:p14="http://schemas.microsoft.com/office/powerpoint/2010/main" val="2704545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C6A98-6712-5971-9CA7-6F6145D162C5}"/>
              </a:ext>
            </a:extLst>
          </p:cNvPr>
          <p:cNvSpPr>
            <a:spLocks noGrp="1"/>
          </p:cNvSpPr>
          <p:nvPr>
            <p:ph type="title"/>
          </p:nvPr>
        </p:nvSpPr>
        <p:spPr/>
        <p:txBody>
          <a:bodyPr/>
          <a:lstStyle/>
          <a:p>
            <a:r>
              <a:rPr lang="en-CA" dirty="0"/>
              <a:t>Smart pointers- explicit ownership</a:t>
            </a:r>
          </a:p>
        </p:txBody>
      </p:sp>
      <p:sp>
        <p:nvSpPr>
          <p:cNvPr id="3" name="Content Placeholder 2">
            <a:extLst>
              <a:ext uri="{FF2B5EF4-FFF2-40B4-BE49-F238E27FC236}">
                <a16:creationId xmlns:a16="http://schemas.microsoft.com/office/drawing/2014/main" id="{F9E93992-04A2-F692-F993-B85540C9596D}"/>
              </a:ext>
            </a:extLst>
          </p:cNvPr>
          <p:cNvSpPr>
            <a:spLocks noGrp="1"/>
          </p:cNvSpPr>
          <p:nvPr>
            <p:ph idx="1"/>
          </p:nvPr>
        </p:nvSpPr>
        <p:spPr>
          <a:xfrm>
            <a:off x="701336" y="2015732"/>
            <a:ext cx="10972799" cy="4500478"/>
          </a:xfrm>
        </p:spPr>
        <p:txBody>
          <a:bodyPr>
            <a:normAutofit/>
          </a:bodyPr>
          <a:lstStyle/>
          <a:p>
            <a:r>
              <a:rPr lang="en-US" dirty="0"/>
              <a:t>A smart pointer offers a mechanism that makes the explicit management of a resource automatic. </a:t>
            </a:r>
          </a:p>
          <a:p>
            <a:r>
              <a:rPr lang="en-US" dirty="0"/>
              <a:t>A smart pointer knows its resource. Unlike a raw pointer, a smart pointer, can manage the memory of the resource to which it points. </a:t>
            </a:r>
          </a:p>
          <a:p>
            <a:r>
              <a:rPr lang="en-US" dirty="0"/>
              <a:t>It is a proxy for a raw pointer to the resource and looks like and feels like a raw pointer. It supports the dereferencing (*) and indirect member selection (-&gt;) operators. </a:t>
            </a:r>
          </a:p>
          <a:p>
            <a:r>
              <a:rPr lang="en-US" dirty="0"/>
              <a:t>A smart pointer resides on the stack. When it goes out of scope, its destructor deallocates the dynamic memory to which it points or, in the case of a file handle, flushes the stream buffer and closes the stream.</a:t>
            </a:r>
            <a:endParaRPr lang="en-CA" dirty="0"/>
          </a:p>
          <a:p>
            <a:endParaRPr lang="en-CA" dirty="0"/>
          </a:p>
        </p:txBody>
      </p:sp>
    </p:spTree>
    <p:extLst>
      <p:ext uri="{BB962C8B-B14F-4D97-AF65-F5344CB8AC3E}">
        <p14:creationId xmlns:p14="http://schemas.microsoft.com/office/powerpoint/2010/main" val="2326153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F915-2885-633F-1F2A-E9F4CDADD9E3}"/>
              </a:ext>
            </a:extLst>
          </p:cNvPr>
          <p:cNvSpPr>
            <a:spLocks noGrp="1"/>
          </p:cNvSpPr>
          <p:nvPr>
            <p:ph type="title"/>
          </p:nvPr>
        </p:nvSpPr>
        <p:spPr/>
        <p:txBody>
          <a:bodyPr/>
          <a:lstStyle/>
          <a:p>
            <a:r>
              <a:rPr lang="en-US" dirty="0"/>
              <a:t>Smart Pointers</a:t>
            </a:r>
            <a:endParaRPr lang="en-CA" dirty="0"/>
          </a:p>
        </p:txBody>
      </p:sp>
      <p:sp>
        <p:nvSpPr>
          <p:cNvPr id="3" name="Content Placeholder 2">
            <a:extLst>
              <a:ext uri="{FF2B5EF4-FFF2-40B4-BE49-F238E27FC236}">
                <a16:creationId xmlns:a16="http://schemas.microsoft.com/office/drawing/2014/main" id="{5E777FA2-DC5A-4A91-C41A-57DB021C60C6}"/>
              </a:ext>
            </a:extLst>
          </p:cNvPr>
          <p:cNvSpPr>
            <a:spLocks noGrp="1"/>
          </p:cNvSpPr>
          <p:nvPr>
            <p:ph idx="1"/>
          </p:nvPr>
        </p:nvSpPr>
        <p:spPr>
          <a:xfrm>
            <a:off x="506027" y="2015732"/>
            <a:ext cx="11248008" cy="4305169"/>
          </a:xfrm>
        </p:spPr>
        <p:txBody>
          <a:bodyPr>
            <a:normAutofit/>
          </a:bodyPr>
          <a:lstStyle/>
          <a:p>
            <a:r>
              <a:rPr lang="en-US" dirty="0"/>
              <a:t>Smart pointers implement the Resource Acquisition Is Initialization (RAII) idiom of object-oriented languages. </a:t>
            </a:r>
          </a:p>
          <a:p>
            <a:r>
              <a:rPr lang="en-US" dirty="0"/>
              <a:t>This idiom states that the acquisition of the resource occurs at initialization time; that is, at the same time as the memory for the pointer is created.</a:t>
            </a:r>
          </a:p>
          <a:p>
            <a:r>
              <a:rPr lang="en-US" dirty="0"/>
              <a:t>The need for smart pointers was in part motivated by the introduction of exception handling into the C++ language. </a:t>
            </a:r>
          </a:p>
          <a:p>
            <a:r>
              <a:rPr lang="en-US" dirty="0"/>
              <a:t>The C++ standard library now provides several implementations of smart ownership. </a:t>
            </a:r>
            <a:endParaRPr lang="en-CA" dirty="0"/>
          </a:p>
        </p:txBody>
      </p:sp>
    </p:spTree>
    <p:extLst>
      <p:ext uri="{BB962C8B-B14F-4D97-AF65-F5344CB8AC3E}">
        <p14:creationId xmlns:p14="http://schemas.microsoft.com/office/powerpoint/2010/main" val="957270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CCDD7-C275-55BF-5B5E-97C1CA497EB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C19F32F-2C9B-5995-4A3A-F61B26589E41}"/>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D2F45253-6880-33BC-F1EC-C2ACD68E4960}"/>
              </a:ext>
            </a:extLst>
          </p:cNvPr>
          <p:cNvPicPr>
            <a:picLocks noChangeAspect="1"/>
          </p:cNvPicPr>
          <p:nvPr/>
        </p:nvPicPr>
        <p:blipFill>
          <a:blip r:embed="rId2"/>
          <a:stretch>
            <a:fillRect/>
          </a:stretch>
        </p:blipFill>
        <p:spPr>
          <a:xfrm>
            <a:off x="3043925" y="2297332"/>
            <a:ext cx="6104149" cy="2263336"/>
          </a:xfrm>
          <a:prstGeom prst="rect">
            <a:avLst/>
          </a:prstGeom>
        </p:spPr>
      </p:pic>
    </p:spTree>
    <p:extLst>
      <p:ext uri="{BB962C8B-B14F-4D97-AF65-F5344CB8AC3E}">
        <p14:creationId xmlns:p14="http://schemas.microsoft.com/office/powerpoint/2010/main" val="2938821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2199-4A86-620F-F3EA-E86196535F1F}"/>
              </a:ext>
            </a:extLst>
          </p:cNvPr>
          <p:cNvSpPr>
            <a:spLocks noGrp="1"/>
          </p:cNvSpPr>
          <p:nvPr>
            <p:ph type="title"/>
          </p:nvPr>
        </p:nvSpPr>
        <p:spPr/>
        <p:txBody>
          <a:bodyPr>
            <a:normAutofit fontScale="90000"/>
          </a:bodyPr>
          <a:lstStyle/>
          <a:p>
            <a:r>
              <a:rPr lang="en-US" sz="3600" dirty="0"/>
              <a:t>Exception Handling​</a:t>
            </a:r>
            <a:br>
              <a:rPr lang="en-US" sz="3600" dirty="0"/>
            </a:br>
            <a:endParaRPr lang="en-CA" sz="3600" dirty="0"/>
          </a:p>
        </p:txBody>
      </p:sp>
      <p:sp>
        <p:nvSpPr>
          <p:cNvPr id="3" name="Content Placeholder 2">
            <a:extLst>
              <a:ext uri="{FF2B5EF4-FFF2-40B4-BE49-F238E27FC236}">
                <a16:creationId xmlns:a16="http://schemas.microsoft.com/office/drawing/2014/main" id="{85C41C0F-68AF-0B9F-D685-9547829CC239}"/>
              </a:ext>
            </a:extLst>
          </p:cNvPr>
          <p:cNvSpPr>
            <a:spLocks noGrp="1"/>
          </p:cNvSpPr>
          <p:nvPr>
            <p:ph idx="1"/>
          </p:nvPr>
        </p:nvSpPr>
        <p:spPr/>
        <p:txBody>
          <a:bodyPr>
            <a:normAutofit/>
          </a:bodyPr>
          <a:lstStyle/>
          <a:p>
            <a:pPr marL="0" indent="0">
              <a:buNone/>
            </a:pPr>
            <a:r>
              <a:rPr lang="en-US" sz="4400" dirty="0"/>
              <a:t>Throwing an exception can precipitate a memory leak.</a:t>
            </a:r>
          </a:p>
          <a:p>
            <a:endParaRPr lang="en-CA" sz="4400" dirty="0"/>
          </a:p>
        </p:txBody>
      </p:sp>
    </p:spTree>
    <p:extLst>
      <p:ext uri="{BB962C8B-B14F-4D97-AF65-F5344CB8AC3E}">
        <p14:creationId xmlns:p14="http://schemas.microsoft.com/office/powerpoint/2010/main" val="3195644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BEAD-1523-BBF8-6500-070F83CAFE5B}"/>
              </a:ext>
            </a:extLst>
          </p:cNvPr>
          <p:cNvSpPr>
            <a:spLocks noGrp="1"/>
          </p:cNvSpPr>
          <p:nvPr>
            <p:ph type="title"/>
          </p:nvPr>
        </p:nvSpPr>
        <p:spPr/>
        <p:txBody>
          <a:bodyPr/>
          <a:lstStyle/>
          <a:p>
            <a:r>
              <a:rPr lang="en-US" dirty="0"/>
              <a:t>A Raw Pointer Case Study</a:t>
            </a:r>
            <a:endParaRPr lang="en-CA" dirty="0"/>
          </a:p>
        </p:txBody>
      </p:sp>
      <p:sp>
        <p:nvSpPr>
          <p:cNvPr id="3" name="Content Placeholder 2">
            <a:extLst>
              <a:ext uri="{FF2B5EF4-FFF2-40B4-BE49-F238E27FC236}">
                <a16:creationId xmlns:a16="http://schemas.microsoft.com/office/drawing/2014/main" id="{83788E1A-0D96-1DC3-57F8-CC4A3C22E86B}"/>
              </a:ext>
            </a:extLst>
          </p:cNvPr>
          <p:cNvSpPr>
            <a:spLocks noGrp="1"/>
          </p:cNvSpPr>
          <p:nvPr>
            <p:ph idx="1"/>
          </p:nvPr>
        </p:nvSpPr>
        <p:spPr>
          <a:xfrm>
            <a:off x="133165" y="2015732"/>
            <a:ext cx="5681710" cy="3932307"/>
          </a:xfrm>
        </p:spPr>
        <p:txBody>
          <a:bodyPr>
            <a:normAutofit/>
          </a:bodyPr>
          <a:lstStyle/>
          <a:p>
            <a:r>
              <a:rPr lang="en-US" dirty="0"/>
              <a:t>​Consider the following class that includes a check on the validity of a person's title. </a:t>
            </a:r>
          </a:p>
          <a:p>
            <a:r>
              <a:rPr lang="en-US" dirty="0"/>
              <a:t>The Title class holds the title (Mr., Ms., Dr.) in a C-style null-terminated string. </a:t>
            </a:r>
          </a:p>
          <a:p>
            <a:r>
              <a:rPr lang="en-US" dirty="0"/>
              <a:t>The private </a:t>
            </a:r>
            <a:r>
              <a:rPr lang="en-US" dirty="0" err="1"/>
              <a:t>validTitle</a:t>
            </a:r>
            <a:r>
              <a:rPr lang="en-US" dirty="0"/>
              <a:t>() member function returns the address of a validated title. If the string is empty, this function throws an exception. </a:t>
            </a:r>
          </a:p>
          <a:p>
            <a:r>
              <a:rPr lang="en-US" dirty="0"/>
              <a:t>The public display() query calls this private member function to report a validated title string:</a:t>
            </a:r>
            <a:endParaRPr lang="en-CA" dirty="0"/>
          </a:p>
        </p:txBody>
      </p:sp>
      <p:pic>
        <p:nvPicPr>
          <p:cNvPr id="4" name="Picture 3">
            <a:extLst>
              <a:ext uri="{FF2B5EF4-FFF2-40B4-BE49-F238E27FC236}">
                <a16:creationId xmlns:a16="http://schemas.microsoft.com/office/drawing/2014/main" id="{2B6E7802-EB15-3C0F-29B4-00BCD5E24A06}"/>
              </a:ext>
            </a:extLst>
          </p:cNvPr>
          <p:cNvPicPr>
            <a:picLocks noChangeAspect="1"/>
          </p:cNvPicPr>
          <p:nvPr/>
        </p:nvPicPr>
        <p:blipFill>
          <a:blip r:embed="rId2"/>
          <a:stretch>
            <a:fillRect/>
          </a:stretch>
        </p:blipFill>
        <p:spPr>
          <a:xfrm>
            <a:off x="7221031" y="0"/>
            <a:ext cx="4636256" cy="6457950"/>
          </a:xfrm>
          <a:prstGeom prst="rect">
            <a:avLst/>
          </a:prstGeom>
        </p:spPr>
      </p:pic>
    </p:spTree>
    <p:extLst>
      <p:ext uri="{BB962C8B-B14F-4D97-AF65-F5344CB8AC3E}">
        <p14:creationId xmlns:p14="http://schemas.microsoft.com/office/powerpoint/2010/main" val="1984708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39975-1B2B-87C0-2BC1-67AA246F11E3}"/>
              </a:ext>
            </a:extLst>
          </p:cNvPr>
          <p:cNvSpPr>
            <a:spLocks noGrp="1"/>
          </p:cNvSpPr>
          <p:nvPr>
            <p:ph type="title"/>
          </p:nvPr>
        </p:nvSpPr>
        <p:spPr>
          <a:xfrm>
            <a:off x="4882718" y="804519"/>
            <a:ext cx="6172136" cy="1049235"/>
          </a:xfrm>
        </p:spPr>
        <p:txBody>
          <a:bodyPr/>
          <a:lstStyle/>
          <a:p>
            <a:r>
              <a:rPr lang="en-US" dirty="0"/>
              <a:t>The Memory Leak</a:t>
            </a:r>
            <a:endParaRPr lang="en-CA" dirty="0"/>
          </a:p>
        </p:txBody>
      </p:sp>
      <p:sp>
        <p:nvSpPr>
          <p:cNvPr id="3" name="Content Placeholder 2">
            <a:extLst>
              <a:ext uri="{FF2B5EF4-FFF2-40B4-BE49-F238E27FC236}">
                <a16:creationId xmlns:a16="http://schemas.microsoft.com/office/drawing/2014/main" id="{703EC177-5B51-E4E1-D595-9F85D303B7C8}"/>
              </a:ext>
            </a:extLst>
          </p:cNvPr>
          <p:cNvSpPr>
            <a:spLocks noGrp="1"/>
          </p:cNvSpPr>
          <p:nvPr>
            <p:ph idx="1"/>
          </p:nvPr>
        </p:nvSpPr>
        <p:spPr>
          <a:xfrm>
            <a:off x="4740676" y="1329136"/>
            <a:ext cx="7335297" cy="3450613"/>
          </a:xfrm>
        </p:spPr>
        <p:txBody>
          <a:bodyPr>
            <a:normAutofit/>
          </a:bodyPr>
          <a:lstStyle/>
          <a:p>
            <a:r>
              <a:rPr lang="en-US" dirty="0"/>
              <a:t>​Consider the following application that uses an object of the Title. </a:t>
            </a:r>
          </a:p>
          <a:p>
            <a:r>
              <a:rPr lang="en-US" dirty="0"/>
              <a:t>The display() function allocates dynamic memory for a Title object, calls the display() function on that object, and deallocates the memory for the object t. </a:t>
            </a:r>
          </a:p>
          <a:p>
            <a:r>
              <a:rPr lang="en-US" dirty="0"/>
              <a:t>Note that the private member function </a:t>
            </a:r>
            <a:r>
              <a:rPr lang="en-US" dirty="0" err="1"/>
              <a:t>validTitle</a:t>
            </a:r>
            <a:r>
              <a:rPr lang="en-US" dirty="0"/>
              <a:t>() called by member function display() may throw an exception and the global display() function does not catch any exception:</a:t>
            </a:r>
            <a:endParaRPr lang="en-CA" dirty="0"/>
          </a:p>
        </p:txBody>
      </p:sp>
      <p:pic>
        <p:nvPicPr>
          <p:cNvPr id="7" name="Picture 6">
            <a:extLst>
              <a:ext uri="{FF2B5EF4-FFF2-40B4-BE49-F238E27FC236}">
                <a16:creationId xmlns:a16="http://schemas.microsoft.com/office/drawing/2014/main" id="{4C0547D3-AD32-6F09-5895-175F63370B6A}"/>
              </a:ext>
            </a:extLst>
          </p:cNvPr>
          <p:cNvPicPr>
            <a:picLocks noChangeAspect="1"/>
          </p:cNvPicPr>
          <p:nvPr/>
        </p:nvPicPr>
        <p:blipFill>
          <a:blip r:embed="rId2"/>
          <a:stretch>
            <a:fillRect/>
          </a:stretch>
        </p:blipFill>
        <p:spPr>
          <a:xfrm>
            <a:off x="116027" y="-1"/>
            <a:ext cx="4452470" cy="6657975"/>
          </a:xfrm>
          <a:prstGeom prst="rect">
            <a:avLst/>
          </a:prstGeom>
        </p:spPr>
      </p:pic>
      <p:pic>
        <p:nvPicPr>
          <p:cNvPr id="9" name="Picture 8">
            <a:extLst>
              <a:ext uri="{FF2B5EF4-FFF2-40B4-BE49-F238E27FC236}">
                <a16:creationId xmlns:a16="http://schemas.microsoft.com/office/drawing/2014/main" id="{7A25E781-2A1A-E040-EF8E-0CE588312172}"/>
              </a:ext>
            </a:extLst>
          </p:cNvPr>
          <p:cNvPicPr>
            <a:picLocks noChangeAspect="1"/>
          </p:cNvPicPr>
          <p:nvPr/>
        </p:nvPicPr>
        <p:blipFill>
          <a:blip r:embed="rId3"/>
          <a:stretch>
            <a:fillRect/>
          </a:stretch>
        </p:blipFill>
        <p:spPr>
          <a:xfrm>
            <a:off x="3223206" y="3869000"/>
            <a:ext cx="1249788" cy="127265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1" name="Picture 10">
            <a:extLst>
              <a:ext uri="{FF2B5EF4-FFF2-40B4-BE49-F238E27FC236}">
                <a16:creationId xmlns:a16="http://schemas.microsoft.com/office/drawing/2014/main" id="{BAFCEAC9-B04B-92F1-79A3-204D9F830225}"/>
              </a:ext>
            </a:extLst>
          </p:cNvPr>
          <p:cNvPicPr>
            <a:picLocks noChangeAspect="1"/>
          </p:cNvPicPr>
          <p:nvPr/>
        </p:nvPicPr>
        <p:blipFill>
          <a:blip r:embed="rId4"/>
          <a:stretch>
            <a:fillRect/>
          </a:stretch>
        </p:blipFill>
        <p:spPr>
          <a:xfrm>
            <a:off x="3223206" y="6147390"/>
            <a:ext cx="8852767" cy="51058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72660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C7675-6BB4-F229-24B6-CB06CC660406}"/>
              </a:ext>
            </a:extLst>
          </p:cNvPr>
          <p:cNvSpPr>
            <a:spLocks noGrp="1"/>
          </p:cNvSpPr>
          <p:nvPr>
            <p:ph type="title"/>
          </p:nvPr>
        </p:nvSpPr>
        <p:spPr>
          <a:xfrm>
            <a:off x="156179" y="99459"/>
            <a:ext cx="9603275" cy="1049235"/>
          </a:xfrm>
        </p:spPr>
        <p:txBody>
          <a:bodyPr/>
          <a:lstStyle/>
          <a:p>
            <a:r>
              <a:rPr lang="en-US" dirty="0"/>
              <a:t>Fixing the Memory Leak​</a:t>
            </a:r>
            <a:br>
              <a:rPr lang="en-US" dirty="0"/>
            </a:br>
            <a:endParaRPr lang="en-CA" dirty="0"/>
          </a:p>
        </p:txBody>
      </p:sp>
      <p:sp>
        <p:nvSpPr>
          <p:cNvPr id="3" name="Content Placeholder 2">
            <a:extLst>
              <a:ext uri="{FF2B5EF4-FFF2-40B4-BE49-F238E27FC236}">
                <a16:creationId xmlns:a16="http://schemas.microsoft.com/office/drawing/2014/main" id="{D7A9B9E3-103A-9443-30AB-A317956D0BB4}"/>
              </a:ext>
            </a:extLst>
          </p:cNvPr>
          <p:cNvSpPr>
            <a:spLocks noGrp="1"/>
          </p:cNvSpPr>
          <p:nvPr>
            <p:ph idx="1"/>
          </p:nvPr>
        </p:nvSpPr>
        <p:spPr>
          <a:xfrm>
            <a:off x="308579" y="628883"/>
            <a:ext cx="9603275" cy="3450613"/>
          </a:xfrm>
        </p:spPr>
        <p:txBody>
          <a:bodyPr/>
          <a:lstStyle/>
          <a:p>
            <a:r>
              <a:rPr lang="en-US" dirty="0"/>
              <a:t>We could fix the memory leak by wrapping the call to Title::display() in a try-catch block:</a:t>
            </a:r>
            <a:endParaRPr lang="en-CA" dirty="0"/>
          </a:p>
        </p:txBody>
      </p:sp>
      <p:pic>
        <p:nvPicPr>
          <p:cNvPr id="5" name="Picture 4">
            <a:extLst>
              <a:ext uri="{FF2B5EF4-FFF2-40B4-BE49-F238E27FC236}">
                <a16:creationId xmlns:a16="http://schemas.microsoft.com/office/drawing/2014/main" id="{6B04D769-EBEA-68D8-3ECC-CBBDFE1822A5}"/>
              </a:ext>
            </a:extLst>
          </p:cNvPr>
          <p:cNvPicPr>
            <a:picLocks noChangeAspect="1"/>
          </p:cNvPicPr>
          <p:nvPr/>
        </p:nvPicPr>
        <p:blipFill>
          <a:blip r:embed="rId2"/>
          <a:stretch>
            <a:fillRect/>
          </a:stretch>
        </p:blipFill>
        <p:spPr>
          <a:xfrm>
            <a:off x="156179" y="1449314"/>
            <a:ext cx="3788257" cy="5008635"/>
          </a:xfrm>
          <a:prstGeom prst="rect">
            <a:avLst/>
          </a:prstGeom>
        </p:spPr>
      </p:pic>
      <p:pic>
        <p:nvPicPr>
          <p:cNvPr id="7" name="Picture 6">
            <a:extLst>
              <a:ext uri="{FF2B5EF4-FFF2-40B4-BE49-F238E27FC236}">
                <a16:creationId xmlns:a16="http://schemas.microsoft.com/office/drawing/2014/main" id="{44B0E398-F0A7-F29A-164E-131B73F38918}"/>
              </a:ext>
            </a:extLst>
          </p:cNvPr>
          <p:cNvPicPr>
            <a:picLocks noChangeAspect="1"/>
          </p:cNvPicPr>
          <p:nvPr/>
        </p:nvPicPr>
        <p:blipFill>
          <a:blip r:embed="rId3"/>
          <a:stretch>
            <a:fillRect/>
          </a:stretch>
        </p:blipFill>
        <p:spPr>
          <a:xfrm>
            <a:off x="4096836" y="1323816"/>
            <a:ext cx="4739866" cy="4048284"/>
          </a:xfrm>
          <a:prstGeom prst="rect">
            <a:avLst/>
          </a:prstGeom>
        </p:spPr>
      </p:pic>
      <p:pic>
        <p:nvPicPr>
          <p:cNvPr id="9" name="Picture 8">
            <a:extLst>
              <a:ext uri="{FF2B5EF4-FFF2-40B4-BE49-F238E27FC236}">
                <a16:creationId xmlns:a16="http://schemas.microsoft.com/office/drawing/2014/main" id="{CAA2E6A6-47E9-58F8-BA9B-0985E3789380}"/>
              </a:ext>
            </a:extLst>
          </p:cNvPr>
          <p:cNvPicPr>
            <a:picLocks noChangeAspect="1"/>
          </p:cNvPicPr>
          <p:nvPr/>
        </p:nvPicPr>
        <p:blipFill>
          <a:blip r:embed="rId4"/>
          <a:stretch>
            <a:fillRect/>
          </a:stretch>
        </p:blipFill>
        <p:spPr>
          <a:xfrm>
            <a:off x="9564951" y="2354189"/>
            <a:ext cx="1234547" cy="1028789"/>
          </a:xfrm>
          <a:prstGeom prst="rect">
            <a:avLst/>
          </a:prstGeom>
          <a:ln w="228600" cap="sq" cmpd="thickThin">
            <a:solidFill>
              <a:srgbClr val="000000"/>
            </a:solidFill>
            <a:prstDash val="solid"/>
            <a:miter lim="800000"/>
          </a:ln>
          <a:effectLst>
            <a:innerShdw blurRad="76200">
              <a:srgbClr val="000000"/>
            </a:innerShdw>
          </a:effectLst>
        </p:spPr>
      </p:pic>
      <p:pic>
        <p:nvPicPr>
          <p:cNvPr id="11" name="Picture 10">
            <a:extLst>
              <a:ext uri="{FF2B5EF4-FFF2-40B4-BE49-F238E27FC236}">
                <a16:creationId xmlns:a16="http://schemas.microsoft.com/office/drawing/2014/main" id="{02D41D2C-DDB5-27A0-E322-0AB8FE7EF4BD}"/>
              </a:ext>
            </a:extLst>
          </p:cNvPr>
          <p:cNvPicPr>
            <a:picLocks noChangeAspect="1"/>
          </p:cNvPicPr>
          <p:nvPr/>
        </p:nvPicPr>
        <p:blipFill>
          <a:blip r:embed="rId5"/>
          <a:stretch>
            <a:fillRect/>
          </a:stretch>
        </p:blipFill>
        <p:spPr>
          <a:xfrm>
            <a:off x="3904576" y="5343041"/>
            <a:ext cx="8131245" cy="146316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2816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A319D-C3DF-D651-94B2-E027016A5457}"/>
              </a:ext>
            </a:extLst>
          </p:cNvPr>
          <p:cNvSpPr>
            <a:spLocks noGrp="1"/>
          </p:cNvSpPr>
          <p:nvPr>
            <p:ph type="title"/>
          </p:nvPr>
        </p:nvSpPr>
        <p:spPr/>
        <p:txBody>
          <a:bodyPr/>
          <a:lstStyle/>
          <a:p>
            <a:r>
              <a:rPr lang="en-US" dirty="0"/>
              <a:t>Taking Ownership of the Resource</a:t>
            </a:r>
            <a:endParaRPr lang="en-CA" dirty="0"/>
          </a:p>
        </p:txBody>
      </p:sp>
      <p:sp>
        <p:nvSpPr>
          <p:cNvPr id="3" name="Content Placeholder 2">
            <a:extLst>
              <a:ext uri="{FF2B5EF4-FFF2-40B4-BE49-F238E27FC236}">
                <a16:creationId xmlns:a16="http://schemas.microsoft.com/office/drawing/2014/main" id="{F382D655-32BB-4067-9DB9-51EC42E6C1A5}"/>
              </a:ext>
            </a:extLst>
          </p:cNvPr>
          <p:cNvSpPr>
            <a:spLocks noGrp="1"/>
          </p:cNvSpPr>
          <p:nvPr>
            <p:ph idx="1"/>
          </p:nvPr>
        </p:nvSpPr>
        <p:spPr>
          <a:xfrm>
            <a:off x="261938" y="1491857"/>
            <a:ext cx="11668124" cy="4561624"/>
          </a:xfrm>
        </p:spPr>
        <p:txBody>
          <a:bodyPr>
            <a:normAutofit lnSpcReduction="10000"/>
          </a:bodyPr>
          <a:lstStyle/>
          <a:p>
            <a:r>
              <a:rPr lang="en-US" sz="2400" dirty="0"/>
              <a:t>​The alternative solution to the possibility of a memory leak is simply to take ownership of the resource itself. Such a solution replaces the wrapping of every call to Title::display() in a try ... catch block with a linkage of the lifetime of the Title object to the pointer to it.</a:t>
            </a:r>
          </a:p>
          <a:p>
            <a:r>
              <a:rPr lang="en-US" sz="2400" dirty="0"/>
              <a:t>We link these lifetimes together through smart pointer classes. A smart pointer class acquires ownership of the resource at the same time that it allocates memory for the pointer to the resource (that is, at construction time) and deallocates the memory for the resource at the same time as it deallocates memory for the pointer to that resource (that is, at destruction time).</a:t>
            </a:r>
          </a:p>
          <a:p>
            <a:r>
              <a:rPr lang="en-US" sz="2400" dirty="0"/>
              <a:t>Consider the following templated class definition. This definition wraps the code for a raw pointer to a resource within a class that manages that resource:</a:t>
            </a:r>
          </a:p>
          <a:p>
            <a:endParaRPr lang="en-US" sz="2400" dirty="0"/>
          </a:p>
          <a:p>
            <a:endParaRPr lang="en-CA" sz="2400" dirty="0"/>
          </a:p>
        </p:txBody>
      </p:sp>
    </p:spTree>
    <p:extLst>
      <p:ext uri="{BB962C8B-B14F-4D97-AF65-F5344CB8AC3E}">
        <p14:creationId xmlns:p14="http://schemas.microsoft.com/office/powerpoint/2010/main" val="1317025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F892A-B7ED-11F6-3DE9-CB78DBD7566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A7D0EAD-5A65-A43C-2E43-B7FDFF8F70A0}"/>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34AE88B2-C83C-6D3F-3524-7BA97892270F}"/>
              </a:ext>
            </a:extLst>
          </p:cNvPr>
          <p:cNvPicPr>
            <a:picLocks noChangeAspect="1"/>
          </p:cNvPicPr>
          <p:nvPr/>
        </p:nvPicPr>
        <p:blipFill>
          <a:blip r:embed="rId2"/>
          <a:stretch>
            <a:fillRect/>
          </a:stretch>
        </p:blipFill>
        <p:spPr>
          <a:xfrm>
            <a:off x="102681" y="135082"/>
            <a:ext cx="4366638" cy="3977985"/>
          </a:xfrm>
          <a:prstGeom prst="rect">
            <a:avLst/>
          </a:prstGeom>
        </p:spPr>
      </p:pic>
      <p:pic>
        <p:nvPicPr>
          <p:cNvPr id="7" name="Picture 6">
            <a:extLst>
              <a:ext uri="{FF2B5EF4-FFF2-40B4-BE49-F238E27FC236}">
                <a16:creationId xmlns:a16="http://schemas.microsoft.com/office/drawing/2014/main" id="{B9381355-4208-90F6-FA09-E1EAAAE9A587}"/>
              </a:ext>
            </a:extLst>
          </p:cNvPr>
          <p:cNvPicPr>
            <a:picLocks noChangeAspect="1"/>
          </p:cNvPicPr>
          <p:nvPr/>
        </p:nvPicPr>
        <p:blipFill>
          <a:blip r:embed="rId3"/>
          <a:stretch>
            <a:fillRect/>
          </a:stretch>
        </p:blipFill>
        <p:spPr>
          <a:xfrm>
            <a:off x="4648011" y="135082"/>
            <a:ext cx="5000813" cy="6418118"/>
          </a:xfrm>
          <a:prstGeom prst="rect">
            <a:avLst/>
          </a:prstGeom>
        </p:spPr>
      </p:pic>
    </p:spTree>
    <p:extLst>
      <p:ext uri="{BB962C8B-B14F-4D97-AF65-F5344CB8AC3E}">
        <p14:creationId xmlns:p14="http://schemas.microsoft.com/office/powerpoint/2010/main" val="3181857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FE65E6-829D-88C5-35E3-1D7FD034E960}"/>
              </a:ext>
            </a:extLst>
          </p:cNvPr>
          <p:cNvPicPr>
            <a:picLocks noChangeAspect="1"/>
          </p:cNvPicPr>
          <p:nvPr/>
        </p:nvPicPr>
        <p:blipFill>
          <a:blip r:embed="rId2"/>
          <a:stretch>
            <a:fillRect/>
          </a:stretch>
        </p:blipFill>
        <p:spPr>
          <a:xfrm>
            <a:off x="-59225" y="62712"/>
            <a:ext cx="4130398" cy="6195597"/>
          </a:xfrm>
          <a:prstGeom prst="rect">
            <a:avLst/>
          </a:prstGeom>
        </p:spPr>
      </p:pic>
      <p:pic>
        <p:nvPicPr>
          <p:cNvPr id="5" name="Picture 4">
            <a:extLst>
              <a:ext uri="{FF2B5EF4-FFF2-40B4-BE49-F238E27FC236}">
                <a16:creationId xmlns:a16="http://schemas.microsoft.com/office/drawing/2014/main" id="{855CEBE3-8487-836A-6D30-B082A0A60E76}"/>
              </a:ext>
            </a:extLst>
          </p:cNvPr>
          <p:cNvPicPr>
            <a:picLocks noChangeAspect="1"/>
          </p:cNvPicPr>
          <p:nvPr/>
        </p:nvPicPr>
        <p:blipFill>
          <a:blip r:embed="rId3"/>
          <a:stretch>
            <a:fillRect/>
          </a:stretch>
        </p:blipFill>
        <p:spPr>
          <a:xfrm>
            <a:off x="3048000" y="62712"/>
            <a:ext cx="9144000" cy="1159657"/>
          </a:xfrm>
          <a:prstGeom prst="rect">
            <a:avLst/>
          </a:prstGeom>
        </p:spPr>
      </p:pic>
      <p:pic>
        <p:nvPicPr>
          <p:cNvPr id="9" name="Picture 8">
            <a:extLst>
              <a:ext uri="{FF2B5EF4-FFF2-40B4-BE49-F238E27FC236}">
                <a16:creationId xmlns:a16="http://schemas.microsoft.com/office/drawing/2014/main" id="{CC1F8B4E-F0F3-F3B0-79F9-A76ED7B0C131}"/>
              </a:ext>
            </a:extLst>
          </p:cNvPr>
          <p:cNvPicPr>
            <a:picLocks noChangeAspect="1"/>
          </p:cNvPicPr>
          <p:nvPr/>
        </p:nvPicPr>
        <p:blipFill>
          <a:blip r:embed="rId4"/>
          <a:stretch>
            <a:fillRect/>
          </a:stretch>
        </p:blipFill>
        <p:spPr>
          <a:xfrm>
            <a:off x="3870239" y="4064143"/>
            <a:ext cx="8321761" cy="2804403"/>
          </a:xfrm>
          <a:prstGeom prst="rect">
            <a:avLst/>
          </a:prstGeom>
        </p:spPr>
      </p:pic>
    </p:spTree>
    <p:extLst>
      <p:ext uri="{BB962C8B-B14F-4D97-AF65-F5344CB8AC3E}">
        <p14:creationId xmlns:p14="http://schemas.microsoft.com/office/powerpoint/2010/main" val="2318151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90B6B-CBA8-9E8C-0271-DD2425087CD7}"/>
              </a:ext>
            </a:extLst>
          </p:cNvPr>
          <p:cNvSpPr>
            <a:spLocks noGrp="1"/>
          </p:cNvSpPr>
          <p:nvPr>
            <p:ph type="title"/>
          </p:nvPr>
        </p:nvSpPr>
        <p:spPr/>
        <p:txBody>
          <a:bodyPr/>
          <a:lstStyle/>
          <a:p>
            <a:r>
              <a:rPr lang="en-US" dirty="0"/>
              <a:t>Exclusive Ownership​</a:t>
            </a:r>
            <a:br>
              <a:rPr lang="en-US" dirty="0"/>
            </a:br>
            <a:endParaRPr lang="en-CA" dirty="0"/>
          </a:p>
        </p:txBody>
      </p:sp>
      <p:sp>
        <p:nvSpPr>
          <p:cNvPr id="3" name="Content Placeholder 2">
            <a:extLst>
              <a:ext uri="{FF2B5EF4-FFF2-40B4-BE49-F238E27FC236}">
                <a16:creationId xmlns:a16="http://schemas.microsoft.com/office/drawing/2014/main" id="{BC554828-FB12-6C0D-D6DB-A6B9696A8D8B}"/>
              </a:ext>
            </a:extLst>
          </p:cNvPr>
          <p:cNvSpPr>
            <a:spLocks noGrp="1"/>
          </p:cNvSpPr>
          <p:nvPr>
            <p:ph idx="1"/>
          </p:nvPr>
        </p:nvSpPr>
        <p:spPr/>
        <p:txBody>
          <a:bodyPr>
            <a:normAutofit/>
          </a:bodyPr>
          <a:lstStyle/>
          <a:p>
            <a:r>
              <a:rPr lang="en-US" dirty="0"/>
              <a:t>The C++ Standard Library includes a smart pointer template for defining classes that manage one-to-one relationships between objects (or resources) and their pointers.</a:t>
            </a:r>
          </a:p>
          <a:p>
            <a:r>
              <a:rPr lang="en-US" dirty="0"/>
              <a:t>A unique smart pointer satisfies the following requirements:</a:t>
            </a:r>
          </a:p>
          <a:p>
            <a:pPr lvl="1"/>
            <a:r>
              <a:rPr lang="en-US" dirty="0"/>
              <a:t>provides exception safety for dynamically allocated memory</a:t>
            </a:r>
          </a:p>
          <a:p>
            <a:pPr lvl="1"/>
            <a:r>
              <a:rPr lang="en-US" dirty="0"/>
              <a:t>passes ownership of the object or resource on entering a function</a:t>
            </a:r>
          </a:p>
          <a:p>
            <a:pPr lvl="1"/>
            <a:r>
              <a:rPr lang="en-US" dirty="0"/>
              <a:t>passes ownership of the object or resource on returning from a function</a:t>
            </a:r>
          </a:p>
          <a:p>
            <a:pPr lvl="1"/>
            <a:r>
              <a:rPr lang="en-US" dirty="0"/>
              <a:t>collects the object or resource inside a container</a:t>
            </a:r>
          </a:p>
          <a:p>
            <a:endParaRPr lang="en-US" dirty="0"/>
          </a:p>
        </p:txBody>
      </p:sp>
    </p:spTree>
    <p:extLst>
      <p:ext uri="{BB962C8B-B14F-4D97-AF65-F5344CB8AC3E}">
        <p14:creationId xmlns:p14="http://schemas.microsoft.com/office/powerpoint/2010/main" val="4085154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619DF-4E44-5D20-B62C-CE48B7C5CB79}"/>
              </a:ext>
            </a:extLst>
          </p:cNvPr>
          <p:cNvSpPr>
            <a:spLocks noGrp="1"/>
          </p:cNvSpPr>
          <p:nvPr>
            <p:ph type="title"/>
          </p:nvPr>
        </p:nvSpPr>
        <p:spPr/>
        <p:txBody>
          <a:bodyPr/>
          <a:lstStyle/>
          <a:p>
            <a:r>
              <a:rPr lang="en-US" dirty="0"/>
              <a:t>Exclusive Ownership​</a:t>
            </a:r>
            <a:br>
              <a:rPr lang="en-US" dirty="0"/>
            </a:br>
            <a:endParaRPr lang="en-CA" dirty="0"/>
          </a:p>
        </p:txBody>
      </p:sp>
      <p:sp>
        <p:nvSpPr>
          <p:cNvPr id="3" name="Content Placeholder 2">
            <a:extLst>
              <a:ext uri="{FF2B5EF4-FFF2-40B4-BE49-F238E27FC236}">
                <a16:creationId xmlns:a16="http://schemas.microsoft.com/office/drawing/2014/main" id="{1C96E8EC-5A12-F07E-F1A2-C9BAAE08EA57}"/>
              </a:ext>
            </a:extLst>
          </p:cNvPr>
          <p:cNvSpPr>
            <a:spLocks noGrp="1"/>
          </p:cNvSpPr>
          <p:nvPr>
            <p:ph idx="1"/>
          </p:nvPr>
        </p:nvSpPr>
        <p:spPr/>
        <p:txBody>
          <a:bodyPr>
            <a:normAutofit lnSpcReduction="10000"/>
          </a:bodyPr>
          <a:lstStyle/>
          <a:p>
            <a:r>
              <a:rPr lang="en-US" dirty="0"/>
              <a:t>As ownership passes from one smart pointer to another, the host pointer detaches itself from the object or resource and reattaches the object or resource to the new pointer. This move process does not duplicate or destroy the object or resource. A unique smart pointer</a:t>
            </a:r>
          </a:p>
          <a:p>
            <a:pPr lvl="1"/>
            <a:r>
              <a:rPr lang="en-US" dirty="0"/>
              <a:t>owns its object or resource</a:t>
            </a:r>
          </a:p>
          <a:p>
            <a:pPr lvl="1"/>
            <a:r>
              <a:rPr lang="en-US" dirty="0"/>
              <a:t>stores a raw pointer to its object or resource</a:t>
            </a:r>
          </a:p>
          <a:p>
            <a:pPr lvl="1"/>
            <a:r>
              <a:rPr lang="en-US" dirty="0"/>
              <a:t>transfers ownership of the object or resource in move construction and move assignment</a:t>
            </a:r>
          </a:p>
          <a:p>
            <a:pPr lvl="1"/>
            <a:r>
              <a:rPr lang="en-US" dirty="0"/>
              <a:t>calls its object's or resource's destructor when it itself is destroyed</a:t>
            </a:r>
          </a:p>
          <a:p>
            <a:pPr lvl="1"/>
            <a:r>
              <a:rPr lang="en-US" dirty="0"/>
              <a:t>cannot copy construct or copy assign</a:t>
            </a:r>
            <a:endParaRPr lang="en-CA" dirty="0"/>
          </a:p>
          <a:p>
            <a:endParaRPr lang="en-CA" dirty="0"/>
          </a:p>
        </p:txBody>
      </p:sp>
    </p:spTree>
    <p:extLst>
      <p:ext uri="{BB962C8B-B14F-4D97-AF65-F5344CB8AC3E}">
        <p14:creationId xmlns:p14="http://schemas.microsoft.com/office/powerpoint/2010/main" val="3695233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3A127C-C77E-E96F-FAE4-8CA094C39E5E}"/>
              </a:ext>
            </a:extLst>
          </p:cNvPr>
          <p:cNvPicPr>
            <a:picLocks noChangeAspect="1"/>
          </p:cNvPicPr>
          <p:nvPr/>
        </p:nvPicPr>
        <p:blipFill>
          <a:blip r:embed="rId2"/>
          <a:stretch>
            <a:fillRect/>
          </a:stretch>
        </p:blipFill>
        <p:spPr>
          <a:xfrm>
            <a:off x="5161290" y="197475"/>
            <a:ext cx="2647056" cy="575887"/>
          </a:xfrm>
          <a:prstGeom prst="rect">
            <a:avLst/>
          </a:prstGeom>
        </p:spPr>
      </p:pic>
      <p:pic>
        <p:nvPicPr>
          <p:cNvPr id="9" name="Picture 8">
            <a:extLst>
              <a:ext uri="{FF2B5EF4-FFF2-40B4-BE49-F238E27FC236}">
                <a16:creationId xmlns:a16="http://schemas.microsoft.com/office/drawing/2014/main" id="{5BCC2273-C0B9-F155-7D10-FA1215F408B9}"/>
              </a:ext>
            </a:extLst>
          </p:cNvPr>
          <p:cNvPicPr>
            <a:picLocks noChangeAspect="1"/>
          </p:cNvPicPr>
          <p:nvPr/>
        </p:nvPicPr>
        <p:blipFill>
          <a:blip r:embed="rId3"/>
          <a:stretch>
            <a:fillRect/>
          </a:stretch>
        </p:blipFill>
        <p:spPr>
          <a:xfrm>
            <a:off x="151141" y="662403"/>
            <a:ext cx="4320914" cy="6195597"/>
          </a:xfrm>
          <a:prstGeom prst="rect">
            <a:avLst/>
          </a:prstGeom>
        </p:spPr>
      </p:pic>
      <p:pic>
        <p:nvPicPr>
          <p:cNvPr id="5" name="Picture 4">
            <a:extLst>
              <a:ext uri="{FF2B5EF4-FFF2-40B4-BE49-F238E27FC236}">
                <a16:creationId xmlns:a16="http://schemas.microsoft.com/office/drawing/2014/main" id="{98AE4BC5-91C2-4EA0-BA9F-51C4D883841C}"/>
              </a:ext>
            </a:extLst>
          </p:cNvPr>
          <p:cNvPicPr>
            <a:picLocks noChangeAspect="1"/>
          </p:cNvPicPr>
          <p:nvPr/>
        </p:nvPicPr>
        <p:blipFill>
          <a:blip r:embed="rId4"/>
          <a:stretch>
            <a:fillRect/>
          </a:stretch>
        </p:blipFill>
        <p:spPr>
          <a:xfrm>
            <a:off x="3552826" y="884321"/>
            <a:ext cx="8926184" cy="1211995"/>
          </a:xfrm>
          <a:prstGeom prst="rect">
            <a:avLst/>
          </a:prstGeom>
        </p:spPr>
      </p:pic>
      <p:pic>
        <p:nvPicPr>
          <p:cNvPr id="11" name="Picture 10">
            <a:extLst>
              <a:ext uri="{FF2B5EF4-FFF2-40B4-BE49-F238E27FC236}">
                <a16:creationId xmlns:a16="http://schemas.microsoft.com/office/drawing/2014/main" id="{F97DD8E4-095A-BA85-8491-188D806B7773}"/>
              </a:ext>
            </a:extLst>
          </p:cNvPr>
          <p:cNvPicPr>
            <a:picLocks noChangeAspect="1"/>
          </p:cNvPicPr>
          <p:nvPr/>
        </p:nvPicPr>
        <p:blipFill>
          <a:blip r:embed="rId5"/>
          <a:stretch>
            <a:fillRect/>
          </a:stretch>
        </p:blipFill>
        <p:spPr>
          <a:xfrm>
            <a:off x="6558848" y="4490036"/>
            <a:ext cx="1531753" cy="113547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751437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7E148-1419-9C63-8F68-B01CBC9BED09}"/>
              </a:ext>
            </a:extLst>
          </p:cNvPr>
          <p:cNvSpPr>
            <a:spLocks noGrp="1"/>
          </p:cNvSpPr>
          <p:nvPr>
            <p:ph type="title"/>
          </p:nvPr>
        </p:nvSpPr>
        <p:spPr/>
        <p:txBody>
          <a:bodyPr/>
          <a:lstStyle/>
          <a:p>
            <a:r>
              <a:rPr lang="en-US" dirty="0"/>
              <a:t>Shared Ownership</a:t>
            </a:r>
            <a:endParaRPr lang="en-CA" dirty="0"/>
          </a:p>
        </p:txBody>
      </p:sp>
      <p:sp>
        <p:nvSpPr>
          <p:cNvPr id="3" name="Content Placeholder 2">
            <a:extLst>
              <a:ext uri="{FF2B5EF4-FFF2-40B4-BE49-F238E27FC236}">
                <a16:creationId xmlns:a16="http://schemas.microsoft.com/office/drawing/2014/main" id="{4A095F37-2CE8-E88B-21DF-8FB264C2E52D}"/>
              </a:ext>
            </a:extLst>
          </p:cNvPr>
          <p:cNvSpPr>
            <a:spLocks noGrp="1"/>
          </p:cNvSpPr>
          <p:nvPr>
            <p:ph idx="1"/>
          </p:nvPr>
        </p:nvSpPr>
        <p:spPr>
          <a:xfrm>
            <a:off x="301841" y="1464816"/>
            <a:ext cx="11567604" cy="4944862"/>
          </a:xfrm>
        </p:spPr>
        <p:txBody>
          <a:bodyPr>
            <a:normAutofit lnSpcReduction="10000"/>
          </a:bodyPr>
          <a:lstStyle/>
          <a:p>
            <a:r>
              <a:rPr lang="en-US" dirty="0"/>
              <a:t>Several smart pointers can share the same object or resource. Managing such many-to-one relationships for an object or resource requires reference-counting. A reference counter keeps track of the number of smart pointers currently pointing to the same object or resource. Only if this counter is 1, does a shared smart pointer destroy the object or resource when the pointer goes out of scope.</a:t>
            </a:r>
          </a:p>
          <a:p>
            <a:r>
              <a:rPr lang="en-US" dirty="0"/>
              <a:t>A reference-counted smart pointer</a:t>
            </a:r>
          </a:p>
          <a:p>
            <a:pPr lvl="1"/>
            <a:r>
              <a:rPr lang="en-US" dirty="0"/>
              <a:t>stores a raw pointer to its object or resource</a:t>
            </a:r>
          </a:p>
          <a:p>
            <a:pPr lvl="1"/>
            <a:r>
              <a:rPr lang="en-US" dirty="0"/>
              <a:t>shares ownership of its object or resource with other smart pointers</a:t>
            </a:r>
          </a:p>
          <a:p>
            <a:pPr lvl="1"/>
            <a:r>
              <a:rPr lang="en-US" dirty="0"/>
              <a:t>transfers ownership of the resource in move construction and move assignment</a:t>
            </a:r>
          </a:p>
          <a:p>
            <a:pPr lvl="1"/>
            <a:r>
              <a:rPr lang="en-US" dirty="0"/>
              <a:t>copies itself in a copy construction</a:t>
            </a:r>
          </a:p>
          <a:p>
            <a:pPr lvl="1"/>
            <a:r>
              <a:rPr lang="en-US" dirty="0"/>
              <a:t>releases itself from its object or resource and reattaches itself in a copy assign</a:t>
            </a:r>
          </a:p>
          <a:p>
            <a:pPr lvl="1"/>
            <a:r>
              <a:rPr lang="en-US" dirty="0"/>
              <a:t>can be compared for equality</a:t>
            </a:r>
          </a:p>
          <a:p>
            <a:pPr lvl="1"/>
            <a:r>
              <a:rPr lang="en-US" dirty="0"/>
              <a:t>calls its object's or resource's destructor only if it itself is being destroyed and no other smart pointer shares ownership of the object or resource</a:t>
            </a:r>
            <a:endParaRPr lang="en-CA" dirty="0"/>
          </a:p>
        </p:txBody>
      </p:sp>
    </p:spTree>
    <p:extLst>
      <p:ext uri="{BB962C8B-B14F-4D97-AF65-F5344CB8AC3E}">
        <p14:creationId xmlns:p14="http://schemas.microsoft.com/office/powerpoint/2010/main" val="1991824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A5415C56-B9EC-C78E-C8F8-127F5661BFF8}"/>
              </a:ext>
            </a:extLst>
          </p:cNvPr>
          <p:cNvPicPr>
            <a:picLocks noGrp="1" noChangeAspect="1"/>
          </p:cNvPicPr>
          <p:nvPr>
            <p:ph idx="1"/>
          </p:nvPr>
        </p:nvPicPr>
        <p:blipFill>
          <a:blip r:embed="rId2"/>
          <a:stretch>
            <a:fillRect/>
          </a:stretch>
        </p:blipFill>
        <p:spPr>
          <a:xfrm>
            <a:off x="5803543" y="2875999"/>
            <a:ext cx="899238" cy="1729890"/>
          </a:xfrm>
        </p:spPr>
      </p:pic>
      <p:pic>
        <p:nvPicPr>
          <p:cNvPr id="5" name="Picture 4">
            <a:extLst>
              <a:ext uri="{FF2B5EF4-FFF2-40B4-BE49-F238E27FC236}">
                <a16:creationId xmlns:a16="http://schemas.microsoft.com/office/drawing/2014/main" id="{1944C395-399D-D330-F266-E59C58263AE5}"/>
              </a:ext>
            </a:extLst>
          </p:cNvPr>
          <p:cNvPicPr>
            <a:picLocks noChangeAspect="1"/>
          </p:cNvPicPr>
          <p:nvPr/>
        </p:nvPicPr>
        <p:blipFill>
          <a:blip r:embed="rId3"/>
          <a:stretch>
            <a:fillRect/>
          </a:stretch>
        </p:blipFill>
        <p:spPr>
          <a:xfrm>
            <a:off x="5097693" y="173015"/>
            <a:ext cx="1996613" cy="563929"/>
          </a:xfrm>
          <a:prstGeom prst="rect">
            <a:avLst/>
          </a:prstGeom>
        </p:spPr>
      </p:pic>
      <p:pic>
        <p:nvPicPr>
          <p:cNvPr id="7" name="Picture 6">
            <a:extLst>
              <a:ext uri="{FF2B5EF4-FFF2-40B4-BE49-F238E27FC236}">
                <a16:creationId xmlns:a16="http://schemas.microsoft.com/office/drawing/2014/main" id="{2C667BAC-D2B9-6A44-FACF-D1DF3450ADE2}"/>
              </a:ext>
            </a:extLst>
          </p:cNvPr>
          <p:cNvPicPr>
            <a:picLocks noChangeAspect="1"/>
          </p:cNvPicPr>
          <p:nvPr/>
        </p:nvPicPr>
        <p:blipFill>
          <a:blip r:embed="rId4"/>
          <a:stretch>
            <a:fillRect/>
          </a:stretch>
        </p:blipFill>
        <p:spPr>
          <a:xfrm>
            <a:off x="1855119" y="705185"/>
            <a:ext cx="8062659" cy="1143099"/>
          </a:xfrm>
          <a:prstGeom prst="rect">
            <a:avLst/>
          </a:prstGeom>
        </p:spPr>
      </p:pic>
      <p:pic>
        <p:nvPicPr>
          <p:cNvPr id="9" name="Picture 8">
            <a:extLst>
              <a:ext uri="{FF2B5EF4-FFF2-40B4-BE49-F238E27FC236}">
                <a16:creationId xmlns:a16="http://schemas.microsoft.com/office/drawing/2014/main" id="{EFD8C64D-D5E9-7584-A5D9-580C8E646257}"/>
              </a:ext>
            </a:extLst>
          </p:cNvPr>
          <p:cNvPicPr>
            <a:picLocks noChangeAspect="1"/>
          </p:cNvPicPr>
          <p:nvPr/>
        </p:nvPicPr>
        <p:blipFill>
          <a:blip r:embed="rId5"/>
          <a:stretch>
            <a:fillRect/>
          </a:stretch>
        </p:blipFill>
        <p:spPr>
          <a:xfrm>
            <a:off x="500851" y="2219459"/>
            <a:ext cx="3779848" cy="3490262"/>
          </a:xfrm>
          <a:prstGeom prst="rect">
            <a:avLst/>
          </a:prstGeom>
        </p:spPr>
      </p:pic>
      <p:pic>
        <p:nvPicPr>
          <p:cNvPr id="11" name="Picture 10">
            <a:extLst>
              <a:ext uri="{FF2B5EF4-FFF2-40B4-BE49-F238E27FC236}">
                <a16:creationId xmlns:a16="http://schemas.microsoft.com/office/drawing/2014/main" id="{CFCABA29-B6DA-97C8-2BBB-87343B3CD51F}"/>
              </a:ext>
            </a:extLst>
          </p:cNvPr>
          <p:cNvPicPr>
            <a:picLocks noChangeAspect="1"/>
          </p:cNvPicPr>
          <p:nvPr/>
        </p:nvPicPr>
        <p:blipFill>
          <a:blip r:embed="rId6"/>
          <a:stretch>
            <a:fillRect/>
          </a:stretch>
        </p:blipFill>
        <p:spPr>
          <a:xfrm>
            <a:off x="4452762" y="2133649"/>
            <a:ext cx="4038950" cy="3596952"/>
          </a:xfrm>
          <a:prstGeom prst="rect">
            <a:avLst/>
          </a:prstGeom>
        </p:spPr>
      </p:pic>
      <p:pic>
        <p:nvPicPr>
          <p:cNvPr id="15" name="Picture 14">
            <a:extLst>
              <a:ext uri="{FF2B5EF4-FFF2-40B4-BE49-F238E27FC236}">
                <a16:creationId xmlns:a16="http://schemas.microsoft.com/office/drawing/2014/main" id="{39689E00-1466-727F-9CF3-2FAB14C297E6}"/>
              </a:ext>
            </a:extLst>
          </p:cNvPr>
          <p:cNvPicPr>
            <a:picLocks noChangeAspect="1"/>
          </p:cNvPicPr>
          <p:nvPr/>
        </p:nvPicPr>
        <p:blipFill>
          <a:blip r:embed="rId2"/>
          <a:stretch>
            <a:fillRect/>
          </a:stretch>
        </p:blipFill>
        <p:spPr>
          <a:xfrm>
            <a:off x="9228090" y="2478330"/>
            <a:ext cx="899238" cy="1729890"/>
          </a:xfrm>
          <a:prstGeom prst="rect">
            <a:avLst/>
          </a:prstGeom>
          <a:ln w="228600" cap="sq" cmpd="thickThin">
            <a:solidFill>
              <a:srgbClr val="000000"/>
            </a:solidFill>
            <a:prstDash val="solid"/>
            <a:miter lim="800000"/>
          </a:ln>
          <a:effectLst>
            <a:innerShdw blurRad="76200">
              <a:srgbClr val="000000"/>
            </a:innerShdw>
          </a:effectLst>
        </p:spPr>
      </p:pic>
      <p:pic>
        <p:nvPicPr>
          <p:cNvPr id="17" name="Picture 16">
            <a:extLst>
              <a:ext uri="{FF2B5EF4-FFF2-40B4-BE49-F238E27FC236}">
                <a16:creationId xmlns:a16="http://schemas.microsoft.com/office/drawing/2014/main" id="{1BF47751-DA64-8290-450E-5B7B5D5AA652}"/>
              </a:ext>
            </a:extLst>
          </p:cNvPr>
          <p:cNvPicPr>
            <a:picLocks noChangeAspect="1"/>
          </p:cNvPicPr>
          <p:nvPr/>
        </p:nvPicPr>
        <p:blipFill>
          <a:blip r:embed="rId7"/>
          <a:stretch>
            <a:fillRect/>
          </a:stretch>
        </p:blipFill>
        <p:spPr>
          <a:xfrm>
            <a:off x="1228371" y="5886255"/>
            <a:ext cx="10296879" cy="7987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58081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83630-D738-5AE1-606C-9B257FBBDA84}"/>
              </a:ext>
            </a:extLst>
          </p:cNvPr>
          <p:cNvSpPr>
            <a:spLocks noGrp="1"/>
          </p:cNvSpPr>
          <p:nvPr>
            <p:ph type="title"/>
          </p:nvPr>
        </p:nvSpPr>
        <p:spPr/>
        <p:txBody>
          <a:bodyPr/>
          <a:lstStyle/>
          <a:p>
            <a:r>
              <a:rPr lang="en-CA" dirty="0"/>
              <a:t>Exercises</a:t>
            </a:r>
          </a:p>
        </p:txBody>
      </p:sp>
      <p:sp>
        <p:nvSpPr>
          <p:cNvPr id="3" name="Content Placeholder 2">
            <a:extLst>
              <a:ext uri="{FF2B5EF4-FFF2-40B4-BE49-F238E27FC236}">
                <a16:creationId xmlns:a16="http://schemas.microsoft.com/office/drawing/2014/main" id="{3E69BE1B-C94E-EF9F-5AA1-2C246366B919}"/>
              </a:ext>
            </a:extLst>
          </p:cNvPr>
          <p:cNvSpPr>
            <a:spLocks noGrp="1"/>
          </p:cNvSpPr>
          <p:nvPr>
            <p:ph idx="1"/>
          </p:nvPr>
        </p:nvSpPr>
        <p:spPr/>
        <p:txBody>
          <a:bodyPr/>
          <a:lstStyle/>
          <a:p>
            <a:pPr>
              <a:buFont typeface="Arial" panose="020B0604020202020204" pitchFamily="34" charset="0"/>
              <a:buChar char="•"/>
            </a:pPr>
            <a:r>
              <a:rPr lang="en-US" dirty="0">
                <a:effectLst/>
              </a:rPr>
              <a:t>Read Code Project on </a:t>
            </a:r>
            <a:r>
              <a:rPr lang="en-US" dirty="0">
                <a:effectLst/>
                <a:hlinkClick r:id="rId2"/>
              </a:rPr>
              <a:t>C++ Smart Pointers</a:t>
            </a:r>
            <a:endParaRPr lang="en-US" dirty="0">
              <a:effectLst/>
            </a:endParaRPr>
          </a:p>
          <a:p>
            <a:pPr>
              <a:buFont typeface="Arial" panose="020B0604020202020204" pitchFamily="34" charset="0"/>
              <a:buChar char="•"/>
            </a:pPr>
            <a:r>
              <a:rPr lang="en-US" dirty="0">
                <a:effectLst/>
              </a:rPr>
              <a:t>Read </a:t>
            </a:r>
            <a:r>
              <a:rPr lang="en-US" dirty="0" err="1">
                <a:effectLst/>
              </a:rPr>
              <a:t>informIT</a:t>
            </a:r>
            <a:r>
              <a:rPr lang="en-US" dirty="0">
                <a:effectLst/>
              </a:rPr>
              <a:t> on </a:t>
            </a:r>
            <a:r>
              <a:rPr lang="en-US" dirty="0">
                <a:effectLst/>
                <a:hlinkClick r:id="rId3"/>
              </a:rPr>
              <a:t>Be Smart About C++ Pointers</a:t>
            </a:r>
            <a:endParaRPr lang="en-US" dirty="0">
              <a:effectLst/>
            </a:endParaRPr>
          </a:p>
          <a:p>
            <a:pPr>
              <a:buFont typeface="Arial" panose="020B0604020202020204" pitchFamily="34" charset="0"/>
              <a:buChar char="•"/>
            </a:pPr>
            <a:r>
              <a:rPr lang="en-US" dirty="0">
                <a:effectLst/>
              </a:rPr>
              <a:t>Read Bjarne </a:t>
            </a:r>
            <a:r>
              <a:rPr lang="en-US" dirty="0" err="1">
                <a:effectLst/>
              </a:rPr>
              <a:t>Stroustrup</a:t>
            </a:r>
            <a:r>
              <a:rPr lang="en-US" dirty="0">
                <a:effectLst/>
              </a:rPr>
              <a:t> on </a:t>
            </a:r>
            <a:r>
              <a:rPr lang="en-US" dirty="0" err="1">
                <a:effectLst/>
                <a:hlinkClick r:id="rId4"/>
              </a:rPr>
              <a:t>unique_ptr</a:t>
            </a:r>
            <a:endParaRPr lang="en-US" dirty="0">
              <a:effectLst/>
            </a:endParaRPr>
          </a:p>
          <a:p>
            <a:pPr>
              <a:buFont typeface="Arial" panose="020B0604020202020204" pitchFamily="34" charset="0"/>
              <a:buChar char="•"/>
            </a:pPr>
            <a:r>
              <a:rPr lang="en-US" dirty="0">
                <a:effectLst/>
              </a:rPr>
              <a:t>Read David </a:t>
            </a:r>
            <a:r>
              <a:rPr lang="en-US" dirty="0" err="1">
                <a:effectLst/>
              </a:rPr>
              <a:t>Kieras</a:t>
            </a:r>
            <a:r>
              <a:rPr lang="en-US" dirty="0">
                <a:effectLst/>
              </a:rPr>
              <a:t> on </a:t>
            </a:r>
            <a:r>
              <a:rPr lang="en-US" dirty="0">
                <a:effectLst/>
                <a:hlinkClick r:id="rId5"/>
              </a:rPr>
              <a:t>Using C++'s Smart Pointers</a:t>
            </a:r>
            <a:endParaRPr lang="en-US" dirty="0">
              <a:effectLst/>
            </a:endParaRPr>
          </a:p>
          <a:p>
            <a:pPr>
              <a:buFont typeface="Arial" panose="020B0604020202020204" pitchFamily="34" charset="0"/>
              <a:buChar char="•"/>
            </a:pPr>
            <a:r>
              <a:rPr lang="en-US" dirty="0">
                <a:effectLst/>
              </a:rPr>
              <a:t>Read Bartosz </a:t>
            </a:r>
            <a:r>
              <a:rPr lang="en-US" dirty="0" err="1">
                <a:effectLst/>
              </a:rPr>
              <a:t>Milewski</a:t>
            </a:r>
            <a:r>
              <a:rPr lang="en-US" dirty="0">
                <a:effectLst/>
              </a:rPr>
              <a:t> on </a:t>
            </a:r>
            <a:r>
              <a:rPr lang="en-US" dirty="0">
                <a:effectLst/>
                <a:hlinkClick r:id="rId6"/>
              </a:rPr>
              <a:t>Strong Pointers and Resource Management in C++</a:t>
            </a:r>
            <a:endParaRPr lang="en-US" dirty="0">
              <a:effectLst/>
            </a:endParaRPr>
          </a:p>
          <a:p>
            <a:pPr marL="0" indent="0">
              <a:buNone/>
            </a:pPr>
            <a:endParaRPr lang="en-CA" dirty="0"/>
          </a:p>
        </p:txBody>
      </p:sp>
    </p:spTree>
    <p:extLst>
      <p:ext uri="{BB962C8B-B14F-4D97-AF65-F5344CB8AC3E}">
        <p14:creationId xmlns:p14="http://schemas.microsoft.com/office/powerpoint/2010/main" val="23633779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FCAD9F006CB684785C48873F49AAE65" ma:contentTypeVersion="2" ma:contentTypeDescription="Create a new document." ma:contentTypeScope="" ma:versionID="96f828d4cfac7551138c7919ab73a1ac">
  <xsd:schema xmlns:xsd="http://www.w3.org/2001/XMLSchema" xmlns:xs="http://www.w3.org/2001/XMLSchema" xmlns:p="http://schemas.microsoft.com/office/2006/metadata/properties" xmlns:ns3="06e64d17-5527-488e-a8df-37c810582537" targetNamespace="http://schemas.microsoft.com/office/2006/metadata/properties" ma:root="true" ma:fieldsID="b9bd8427c61cf70c77e6545ce46a77d1" ns3:_="">
    <xsd:import namespace="06e64d17-5527-488e-a8df-37c810582537"/>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e64d17-5527-488e-a8df-37c8105825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C624C8-8772-403D-B8FA-3D2653404813}">
  <ds:schemaRefs>
    <ds:schemaRef ds:uri="http://purl.org/dc/terms/"/>
    <ds:schemaRef ds:uri="http://www.w3.org/XML/1998/namespace"/>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06e64d17-5527-488e-a8df-37c810582537"/>
    <ds:schemaRef ds:uri="http://schemas.microsoft.com/office/2006/metadata/properties"/>
  </ds:schemaRefs>
</ds:datastoreItem>
</file>

<file path=customXml/itemProps2.xml><?xml version="1.0" encoding="utf-8"?>
<ds:datastoreItem xmlns:ds="http://schemas.openxmlformats.org/officeDocument/2006/customXml" ds:itemID="{192D8CED-F660-47EF-B9E6-FED2E3837BA2}">
  <ds:schemaRefs>
    <ds:schemaRef ds:uri="http://schemas.microsoft.com/sharepoint/v3/contenttype/forms"/>
  </ds:schemaRefs>
</ds:datastoreItem>
</file>

<file path=customXml/itemProps3.xml><?xml version="1.0" encoding="utf-8"?>
<ds:datastoreItem xmlns:ds="http://schemas.openxmlformats.org/officeDocument/2006/customXml" ds:itemID="{A35F02EC-492F-48E4-9FB3-621DF9EA3C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e64d17-5527-488e-a8df-37c810582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Gallery</Template>
  <TotalTime>9652</TotalTime>
  <Words>2150</Words>
  <Application>Microsoft Office PowerPoint</Application>
  <PresentationFormat>Widescreen</PresentationFormat>
  <Paragraphs>145</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Gill Sans MT</vt:lpstr>
      <vt:lpstr>system-ui</vt:lpstr>
      <vt:lpstr>Gallery</vt:lpstr>
      <vt:lpstr>Object Oriented Software Development (C++) OOP345</vt:lpstr>
      <vt:lpstr>PowerPoint Presentation</vt:lpstr>
      <vt:lpstr>Week 10</vt:lpstr>
      <vt:lpstr>Raw Pointers - Objective</vt:lpstr>
      <vt:lpstr>Raw Pointers </vt:lpstr>
      <vt:lpstr>raw pointers in C++</vt:lpstr>
      <vt:lpstr>C-Style Character Strings</vt:lpstr>
      <vt:lpstr>Element Addresses</vt:lpstr>
      <vt:lpstr>PowerPoint Presentation</vt:lpstr>
      <vt:lpstr>String Literals</vt:lpstr>
      <vt:lpstr>Copying a String Literal​ </vt:lpstr>
      <vt:lpstr>PowerPoint Presentation</vt:lpstr>
      <vt:lpstr>Arithmetic Operations</vt:lpstr>
      <vt:lpstr>Addition​ </vt:lpstr>
      <vt:lpstr>PowerPoint Presentation</vt:lpstr>
      <vt:lpstr>Postfix Operations</vt:lpstr>
      <vt:lpstr>Reference to a Pointer</vt:lpstr>
      <vt:lpstr>exercise</vt:lpstr>
      <vt:lpstr>Smart pointers-Objective</vt:lpstr>
      <vt:lpstr>Smart Pointers </vt:lpstr>
      <vt:lpstr>Smart Pointers</vt:lpstr>
      <vt:lpstr>Smart Pointers- automatic ownership</vt:lpstr>
      <vt:lpstr>Smart pointers- explicit ownership</vt:lpstr>
      <vt:lpstr>Smart Pointers</vt:lpstr>
      <vt:lpstr>PowerPoint Presentation</vt:lpstr>
      <vt:lpstr>Exception Handling​ </vt:lpstr>
      <vt:lpstr>A Raw Pointer Case Study</vt:lpstr>
      <vt:lpstr>The Memory Leak</vt:lpstr>
      <vt:lpstr>Fixing the Memory Leak​ </vt:lpstr>
      <vt:lpstr>Taking Ownership of the Resource</vt:lpstr>
      <vt:lpstr>PowerPoint Presentation</vt:lpstr>
      <vt:lpstr>PowerPoint Presentation</vt:lpstr>
      <vt:lpstr>Exclusive Ownership​ </vt:lpstr>
      <vt:lpstr>Exclusive Ownership​ </vt:lpstr>
      <vt:lpstr>PowerPoint Presentation</vt:lpstr>
      <vt:lpstr>Shared Ownership</vt:lpstr>
      <vt:lpstr>PowerPoint Presentation</vt:lpstr>
      <vt:lpstr>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Software Development (C++) OOP345</dc:title>
  <dc:creator>Madiha Kazmi</dc:creator>
  <cp:lastModifiedBy>Madiha Kazmi</cp:lastModifiedBy>
  <cp:revision>108</cp:revision>
  <dcterms:created xsi:type="dcterms:W3CDTF">2022-09-05T03:30:05Z</dcterms:created>
  <dcterms:modified xsi:type="dcterms:W3CDTF">2022-11-15T20:15:13Z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0x0101005FCAD9F006CB684785C48873F49AAE65</vt:lpwstr>
  </property>
</Properties>
</file>