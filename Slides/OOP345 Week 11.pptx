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326" r:id="rId6"/>
    <p:sldId id="516" r:id="rId7"/>
    <p:sldId id="535" r:id="rId8"/>
    <p:sldId id="532" r:id="rId9"/>
    <p:sldId id="533" r:id="rId10"/>
    <p:sldId id="534" r:id="rId11"/>
    <p:sldId id="536" r:id="rId12"/>
    <p:sldId id="537" r:id="rId13"/>
    <p:sldId id="538" r:id="rId14"/>
    <p:sldId id="539" r:id="rId15"/>
    <p:sldId id="540" r:id="rId16"/>
    <p:sldId id="541" r:id="rId17"/>
    <p:sldId id="542" r:id="rId18"/>
    <p:sldId id="543" r:id="rId19"/>
    <p:sldId id="544" r:id="rId20"/>
    <p:sldId id="545" r:id="rId21"/>
    <p:sldId id="546" r:id="rId22"/>
    <p:sldId id="547" r:id="rId23"/>
    <p:sldId id="548" r:id="rId24"/>
    <p:sldId id="550" r:id="rId25"/>
    <p:sldId id="549" r:id="rId26"/>
    <p:sldId id="552" r:id="rId27"/>
    <p:sldId id="553" r:id="rId28"/>
    <p:sldId id="554" r:id="rId29"/>
    <p:sldId id="555" r:id="rId30"/>
    <p:sldId id="556" r:id="rId31"/>
    <p:sldId id="557" r:id="rId32"/>
    <p:sldId id="558" r:id="rId33"/>
    <p:sldId id="559" r:id="rId34"/>
    <p:sldId id="560" r:id="rId35"/>
    <p:sldId id="561" r:id="rId36"/>
    <p:sldId id="562" r:id="rId37"/>
    <p:sldId id="563" r:id="rId38"/>
    <p:sldId id="564" r:id="rId39"/>
    <p:sldId id="565" r:id="rId40"/>
    <p:sldId id="566" r:id="rId41"/>
    <p:sldId id="551" r:id="rId42"/>
    <p:sldId id="531"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a:lstStyle/>
        <a:p>
          <a:endParaRPr lang="en-US"/>
        </a:p>
      </dgm:t>
    </dgm:pt>
    <dgm:pt modelId="{BDB074DC-2B99-4E3E-94AE-DB665F22A75A}">
      <dgm:prSet/>
      <dgm:spPr/>
      <dgm:t>
        <a:bodyPr/>
        <a:lstStyle/>
        <a:p>
          <a:r>
            <a:rPr lang="en-CA" b="1" i="0" dirty="0"/>
            <a:t>Multi-Threading</a:t>
          </a:r>
          <a:endParaRPr lang="en-US" dirty="0"/>
        </a:p>
      </dgm:t>
    </dgm:pt>
    <dgm:pt modelId="{6D76834D-42F3-4B55-AE0B-316CE23DE843}" type="parTrans" cxnId="{FF59B4C0-E386-4CCC-8FC6-5BF90D699CB7}">
      <dgm:prSet/>
      <dgm:spPr/>
      <dgm:t>
        <a:bodyPr/>
        <a:lstStyle/>
        <a:p>
          <a:endParaRPr lang="en-CA"/>
        </a:p>
      </dgm:t>
    </dgm:pt>
    <dgm:pt modelId="{933A6189-028B-4DA6-94E3-4604F3839206}" type="sibTrans" cxnId="{FF59B4C0-E386-4CCC-8FC6-5BF90D699CB7}">
      <dgm:prSet phldrT="01" phldr="0"/>
      <dgm:spPr/>
      <dgm:t>
        <a:bodyPr/>
        <a:lstStyle/>
        <a:p>
          <a:r>
            <a:rPr lang="en-CA"/>
            <a:t>01</a:t>
          </a:r>
        </a:p>
      </dgm:t>
    </dgm:pt>
    <dgm:pt modelId="{FF617EB4-34A8-4836-8FDD-9B4173D5451B}">
      <dgm:prSet/>
      <dgm:spPr/>
      <dgm:t>
        <a:bodyPr/>
        <a:lstStyle/>
        <a:p>
          <a:r>
            <a:rPr lang="en-CA" b="1" i="0" dirty="0"/>
            <a:t>Thread Classes</a:t>
          </a:r>
          <a:endParaRPr lang="en-US" dirty="0"/>
        </a:p>
      </dgm:t>
    </dgm:pt>
    <dgm:pt modelId="{D77B5496-B76B-4338-AB00-EDD47D4016B1}" type="parTrans" cxnId="{2040B7FD-E3AE-483E-A81F-2686AC4A06D9}">
      <dgm:prSet/>
      <dgm:spPr/>
      <dgm:t>
        <a:bodyPr/>
        <a:lstStyle/>
        <a:p>
          <a:endParaRPr lang="en-CA"/>
        </a:p>
      </dgm:t>
    </dgm:pt>
    <dgm:pt modelId="{6262FE1D-864A-47C1-A77F-77A17071AFD5}" type="sibTrans" cxnId="{2040B7FD-E3AE-483E-A81F-2686AC4A06D9}">
      <dgm:prSet phldrT="02" phldr="0"/>
      <dgm:spPr/>
      <dgm:t>
        <a:bodyPr/>
        <a:lstStyle/>
        <a:p>
          <a:r>
            <a:rPr lang="en-CA"/>
            <a:t>02</a:t>
          </a:r>
        </a:p>
      </dgm:t>
    </dgm:pt>
    <dgm:pt modelId="{09F899AB-70CA-46DA-8F8C-58514A9FEF67}" type="pres">
      <dgm:prSet presAssocID="{15509919-36B5-4162-8899-417A9F93473B}" presName="Name0" presStyleCnt="0">
        <dgm:presLayoutVars>
          <dgm:animLvl val="lvl"/>
          <dgm:resizeHandles val="exact"/>
        </dgm:presLayoutVars>
      </dgm:prSet>
      <dgm:spPr/>
    </dgm:pt>
    <dgm:pt modelId="{97687EE4-A8DE-4890-A490-42EBAAEA170C}" type="pres">
      <dgm:prSet presAssocID="{BDB074DC-2B99-4E3E-94AE-DB665F22A75A}" presName="compositeNode" presStyleCnt="0">
        <dgm:presLayoutVars>
          <dgm:bulletEnabled val="1"/>
        </dgm:presLayoutVars>
      </dgm:prSet>
      <dgm:spPr/>
    </dgm:pt>
    <dgm:pt modelId="{1EBA119E-FDAA-4133-AB96-9F1AB7550D67}" type="pres">
      <dgm:prSet presAssocID="{BDB074DC-2B99-4E3E-94AE-DB665F22A75A}" presName="bgRect" presStyleLbl="alignNode1" presStyleIdx="0" presStyleCnt="2"/>
      <dgm:spPr/>
    </dgm:pt>
    <dgm:pt modelId="{3C24E713-917C-4471-93D7-3B9F367A13E8}" type="pres">
      <dgm:prSet presAssocID="{933A6189-028B-4DA6-94E3-4604F3839206}" presName="sibTransNodeRect" presStyleLbl="alignNode1" presStyleIdx="0" presStyleCnt="2">
        <dgm:presLayoutVars>
          <dgm:chMax val="0"/>
          <dgm:bulletEnabled val="1"/>
        </dgm:presLayoutVars>
      </dgm:prSet>
      <dgm:spPr/>
    </dgm:pt>
    <dgm:pt modelId="{5F2ED346-7903-4205-8F3E-1DB3D78CF9AC}" type="pres">
      <dgm:prSet presAssocID="{BDB074DC-2B99-4E3E-94AE-DB665F22A75A}" presName="nodeRect" presStyleLbl="alignNode1" presStyleIdx="0" presStyleCnt="2">
        <dgm:presLayoutVars>
          <dgm:bulletEnabled val="1"/>
        </dgm:presLayoutVars>
      </dgm:prSet>
      <dgm:spPr/>
    </dgm:pt>
    <dgm:pt modelId="{EB261F95-58AF-405C-AA59-32186296814C}" type="pres">
      <dgm:prSet presAssocID="{933A6189-028B-4DA6-94E3-4604F3839206}" presName="sibTrans" presStyleCnt="0"/>
      <dgm:spPr/>
    </dgm:pt>
    <dgm:pt modelId="{EF7380A2-35FB-4EE0-B763-1389088D3D57}" type="pres">
      <dgm:prSet presAssocID="{FF617EB4-34A8-4836-8FDD-9B4173D5451B}" presName="compositeNode" presStyleCnt="0">
        <dgm:presLayoutVars>
          <dgm:bulletEnabled val="1"/>
        </dgm:presLayoutVars>
      </dgm:prSet>
      <dgm:spPr/>
    </dgm:pt>
    <dgm:pt modelId="{A7C52984-606A-47F9-9899-36D3665AA137}" type="pres">
      <dgm:prSet presAssocID="{FF617EB4-34A8-4836-8FDD-9B4173D5451B}" presName="bgRect" presStyleLbl="alignNode1" presStyleIdx="1" presStyleCnt="2"/>
      <dgm:spPr/>
    </dgm:pt>
    <dgm:pt modelId="{76994057-DDA5-4BBC-9324-DD2B710792E6}" type="pres">
      <dgm:prSet presAssocID="{6262FE1D-864A-47C1-A77F-77A17071AFD5}" presName="sibTransNodeRect" presStyleLbl="alignNode1" presStyleIdx="1" presStyleCnt="2">
        <dgm:presLayoutVars>
          <dgm:chMax val="0"/>
          <dgm:bulletEnabled val="1"/>
        </dgm:presLayoutVars>
      </dgm:prSet>
      <dgm:spPr/>
    </dgm:pt>
    <dgm:pt modelId="{802C0836-2D3F-4D64-B84F-4FB8826B0F1D}" type="pres">
      <dgm:prSet presAssocID="{FF617EB4-34A8-4836-8FDD-9B4173D5451B}" presName="nodeRect" presStyleLbl="alignNode1" presStyleIdx="1" presStyleCnt="2">
        <dgm:presLayoutVars>
          <dgm:bulletEnabled val="1"/>
        </dgm:presLayoutVars>
      </dgm:prSet>
      <dgm:spPr/>
    </dgm:pt>
  </dgm:ptLst>
  <dgm:cxnLst>
    <dgm:cxn modelId="{F2557D12-8A93-4806-98AE-2D768FB4C30B}" type="presOf" srcId="{6262FE1D-864A-47C1-A77F-77A17071AFD5}" destId="{76994057-DDA5-4BBC-9324-DD2B710792E6}" srcOrd="0" destOrd="0" presId="urn:microsoft.com/office/officeart/2016/7/layout/LinearBlockProcessNumbered#1"/>
    <dgm:cxn modelId="{8685D928-992E-4058-AAEF-BE7B91A24C51}" type="presOf" srcId="{BDB074DC-2B99-4E3E-94AE-DB665F22A75A}" destId="{1EBA119E-FDAA-4133-AB96-9F1AB7550D67}" srcOrd="0" destOrd="0" presId="urn:microsoft.com/office/officeart/2016/7/layout/LinearBlockProcessNumbered#1"/>
    <dgm:cxn modelId="{A0BA7D46-2676-4AF2-97EA-FBFF1133611E}" type="presOf" srcId="{FF617EB4-34A8-4836-8FDD-9B4173D5451B}" destId="{A7C52984-606A-47F9-9899-36D3665AA137}" srcOrd="0" destOrd="0" presId="urn:microsoft.com/office/officeart/2016/7/layout/LinearBlockProcessNumbered#1"/>
    <dgm:cxn modelId="{0A010897-094A-47C8-A5E9-25057EB16840}" type="presOf" srcId="{933A6189-028B-4DA6-94E3-4604F3839206}" destId="{3C24E713-917C-4471-93D7-3B9F367A13E8}" srcOrd="0" destOrd="0" presId="urn:microsoft.com/office/officeart/2016/7/layout/LinearBlockProcessNumbered#1"/>
    <dgm:cxn modelId="{C52B3997-CA3C-443F-883B-3515A47106DF}" type="presOf" srcId="{FF617EB4-34A8-4836-8FDD-9B4173D5451B}" destId="{802C0836-2D3F-4D64-B84F-4FB8826B0F1D}" srcOrd="1" destOrd="0" presId="urn:microsoft.com/office/officeart/2016/7/layout/LinearBlockProcessNumbered#1"/>
    <dgm:cxn modelId="{FF59B4C0-E386-4CCC-8FC6-5BF90D699CB7}" srcId="{15509919-36B5-4162-8899-417A9F93473B}" destId="{BDB074DC-2B99-4E3E-94AE-DB665F22A75A}" srcOrd="0" destOrd="0" parTransId="{6D76834D-42F3-4B55-AE0B-316CE23DE843}" sibTransId="{933A6189-028B-4DA6-94E3-4604F3839206}"/>
    <dgm:cxn modelId="{840BB0C7-181A-4BA4-9324-C35937B4BA77}" type="presOf" srcId="{15509919-36B5-4162-8899-417A9F93473B}" destId="{09F899AB-70CA-46DA-8F8C-58514A9FEF67}" srcOrd="0" destOrd="0" presId="urn:microsoft.com/office/officeart/2016/7/layout/LinearBlockProcessNumbered#1"/>
    <dgm:cxn modelId="{823E19FC-C7C8-4A7A-AAD5-5204A89CE40F}" type="presOf" srcId="{BDB074DC-2B99-4E3E-94AE-DB665F22A75A}" destId="{5F2ED346-7903-4205-8F3E-1DB3D78CF9AC}" srcOrd="1" destOrd="0" presId="urn:microsoft.com/office/officeart/2016/7/layout/LinearBlockProcessNumbered#1"/>
    <dgm:cxn modelId="{2040B7FD-E3AE-483E-A81F-2686AC4A06D9}" srcId="{15509919-36B5-4162-8899-417A9F93473B}" destId="{FF617EB4-34A8-4836-8FDD-9B4173D5451B}" srcOrd="1" destOrd="0" parTransId="{D77B5496-B76B-4338-AB00-EDD47D4016B1}" sibTransId="{6262FE1D-864A-47C1-A77F-77A17071AFD5}"/>
    <dgm:cxn modelId="{19C9A7E3-B644-436B-91A1-C63CC4F9AB6D}" type="presParOf" srcId="{09F899AB-70CA-46DA-8F8C-58514A9FEF67}" destId="{97687EE4-A8DE-4890-A490-42EBAAEA170C}" srcOrd="0" destOrd="0" presId="urn:microsoft.com/office/officeart/2016/7/layout/LinearBlockProcessNumbered#1"/>
    <dgm:cxn modelId="{3EDC21CF-9BE0-4898-B283-9ABE9A9D392A}" type="presParOf" srcId="{97687EE4-A8DE-4890-A490-42EBAAEA170C}" destId="{1EBA119E-FDAA-4133-AB96-9F1AB7550D67}" srcOrd="0" destOrd="0" presId="urn:microsoft.com/office/officeart/2016/7/layout/LinearBlockProcessNumbered#1"/>
    <dgm:cxn modelId="{E67F8AEC-20BD-42E8-AAD8-8822FA2A75D7}" type="presParOf" srcId="{97687EE4-A8DE-4890-A490-42EBAAEA170C}" destId="{3C24E713-917C-4471-93D7-3B9F367A13E8}" srcOrd="1" destOrd="0" presId="urn:microsoft.com/office/officeart/2016/7/layout/LinearBlockProcessNumbered#1"/>
    <dgm:cxn modelId="{A1BF1EC2-F622-4F44-AC8A-C2938978C752}" type="presParOf" srcId="{97687EE4-A8DE-4890-A490-42EBAAEA170C}" destId="{5F2ED346-7903-4205-8F3E-1DB3D78CF9AC}" srcOrd="2" destOrd="0" presId="urn:microsoft.com/office/officeart/2016/7/layout/LinearBlockProcessNumbered#1"/>
    <dgm:cxn modelId="{71447305-656E-4D00-8D96-7FD3ED9F0856}" type="presParOf" srcId="{09F899AB-70CA-46DA-8F8C-58514A9FEF67}" destId="{EB261F95-58AF-405C-AA59-32186296814C}" srcOrd="1" destOrd="0" presId="urn:microsoft.com/office/officeart/2016/7/layout/LinearBlockProcessNumbered#1"/>
    <dgm:cxn modelId="{FBA0DD20-3F77-4699-AAA0-B65A257FD770}" type="presParOf" srcId="{09F899AB-70CA-46DA-8F8C-58514A9FEF67}" destId="{EF7380A2-35FB-4EE0-B763-1389088D3D57}" srcOrd="2" destOrd="0" presId="urn:microsoft.com/office/officeart/2016/7/layout/LinearBlockProcessNumbered#1"/>
    <dgm:cxn modelId="{D48B655A-A628-458D-9526-DE1922D953D9}" type="presParOf" srcId="{EF7380A2-35FB-4EE0-B763-1389088D3D57}" destId="{A7C52984-606A-47F9-9899-36D3665AA137}" srcOrd="0" destOrd="0" presId="urn:microsoft.com/office/officeart/2016/7/layout/LinearBlockProcessNumbered#1"/>
    <dgm:cxn modelId="{BC193D5E-4EA1-4574-8A2C-6DDC1E345980}" type="presParOf" srcId="{EF7380A2-35FB-4EE0-B763-1389088D3D57}" destId="{76994057-DDA5-4BBC-9324-DD2B710792E6}" srcOrd="1" destOrd="0" presId="urn:microsoft.com/office/officeart/2016/7/layout/LinearBlockProcessNumbered#1"/>
    <dgm:cxn modelId="{AC6911B1-129C-48FF-ADD0-79EFAC9A5B97}" type="presParOf" srcId="{EF7380A2-35FB-4EE0-B763-1389088D3D57}" destId="{802C0836-2D3F-4D64-B84F-4FB8826B0F1D}" srcOrd="2" destOrd="0" presId="urn:microsoft.com/office/officeart/2016/7/layout/LinearBlock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A119E-FDAA-4133-AB96-9F1AB7550D67}">
      <dsp:nvSpPr>
        <dsp:cNvPr id="0" name=""/>
        <dsp:cNvSpPr/>
      </dsp:nvSpPr>
      <dsp:spPr>
        <a:xfrm>
          <a:off x="3143" y="0"/>
          <a:ext cx="4832746" cy="3725612"/>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77368" tIns="0" rIns="477368" bIns="330200" numCol="1" spcCol="1270" anchor="t" anchorCtr="0">
          <a:noAutofit/>
        </a:bodyPr>
        <a:lstStyle/>
        <a:p>
          <a:pPr marL="0" lvl="0" indent="0" algn="l" defTabSz="1155700">
            <a:lnSpc>
              <a:spcPct val="90000"/>
            </a:lnSpc>
            <a:spcBef>
              <a:spcPct val="0"/>
            </a:spcBef>
            <a:spcAft>
              <a:spcPct val="35000"/>
            </a:spcAft>
            <a:buNone/>
          </a:pPr>
          <a:r>
            <a:rPr lang="en-CA" sz="2600" b="1" i="0" kern="1200" dirty="0"/>
            <a:t>Multi-Threading</a:t>
          </a:r>
          <a:endParaRPr lang="en-US" sz="2600" kern="1200" dirty="0"/>
        </a:p>
      </dsp:txBody>
      <dsp:txXfrm>
        <a:off x="3143" y="1490244"/>
        <a:ext cx="4832746" cy="2235367"/>
      </dsp:txXfrm>
    </dsp:sp>
    <dsp:sp modelId="{3C24E713-917C-4471-93D7-3B9F367A13E8}">
      <dsp:nvSpPr>
        <dsp:cNvPr id="0" name=""/>
        <dsp:cNvSpPr/>
      </dsp:nvSpPr>
      <dsp:spPr>
        <a:xfrm>
          <a:off x="3143" y="0"/>
          <a:ext cx="4832746" cy="149024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477368" tIns="165100" rIns="477368" bIns="165100" numCol="1" spcCol="1270" anchor="ctr" anchorCtr="0">
          <a:noAutofit/>
        </a:bodyPr>
        <a:lstStyle/>
        <a:p>
          <a:pPr marL="0" lvl="0" indent="0" algn="l" defTabSz="2933700">
            <a:lnSpc>
              <a:spcPct val="90000"/>
            </a:lnSpc>
            <a:spcBef>
              <a:spcPct val="0"/>
            </a:spcBef>
            <a:spcAft>
              <a:spcPct val="35000"/>
            </a:spcAft>
            <a:buNone/>
          </a:pPr>
          <a:r>
            <a:rPr lang="en-CA" sz="6600" kern="1200"/>
            <a:t>01</a:t>
          </a:r>
        </a:p>
      </dsp:txBody>
      <dsp:txXfrm>
        <a:off x="3143" y="0"/>
        <a:ext cx="4832746" cy="1490244"/>
      </dsp:txXfrm>
    </dsp:sp>
    <dsp:sp modelId="{A7C52984-606A-47F9-9899-36D3665AA137}">
      <dsp:nvSpPr>
        <dsp:cNvPr id="0" name=""/>
        <dsp:cNvSpPr/>
      </dsp:nvSpPr>
      <dsp:spPr>
        <a:xfrm>
          <a:off x="5222509" y="0"/>
          <a:ext cx="4832746" cy="3725612"/>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77368" tIns="0" rIns="477368" bIns="330200" numCol="1" spcCol="1270" anchor="t" anchorCtr="0">
          <a:noAutofit/>
        </a:bodyPr>
        <a:lstStyle/>
        <a:p>
          <a:pPr marL="0" lvl="0" indent="0" algn="l" defTabSz="1155700">
            <a:lnSpc>
              <a:spcPct val="90000"/>
            </a:lnSpc>
            <a:spcBef>
              <a:spcPct val="0"/>
            </a:spcBef>
            <a:spcAft>
              <a:spcPct val="35000"/>
            </a:spcAft>
            <a:buNone/>
          </a:pPr>
          <a:r>
            <a:rPr lang="en-CA" sz="2600" b="1" i="0" kern="1200" dirty="0"/>
            <a:t>Thread Classes</a:t>
          </a:r>
          <a:endParaRPr lang="en-US" sz="2600" kern="1200" dirty="0"/>
        </a:p>
      </dsp:txBody>
      <dsp:txXfrm>
        <a:off x="5222509" y="1490244"/>
        <a:ext cx="4832746" cy="2235367"/>
      </dsp:txXfrm>
    </dsp:sp>
    <dsp:sp modelId="{76994057-DDA5-4BBC-9324-DD2B710792E6}">
      <dsp:nvSpPr>
        <dsp:cNvPr id="0" name=""/>
        <dsp:cNvSpPr/>
      </dsp:nvSpPr>
      <dsp:spPr>
        <a:xfrm>
          <a:off x="5222509" y="0"/>
          <a:ext cx="4832746" cy="149024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477368" tIns="165100" rIns="477368" bIns="165100" numCol="1" spcCol="1270" anchor="ctr" anchorCtr="0">
          <a:noAutofit/>
        </a:bodyPr>
        <a:lstStyle/>
        <a:p>
          <a:pPr marL="0" lvl="0" indent="0" algn="l" defTabSz="2933700">
            <a:lnSpc>
              <a:spcPct val="90000"/>
            </a:lnSpc>
            <a:spcBef>
              <a:spcPct val="0"/>
            </a:spcBef>
            <a:spcAft>
              <a:spcPct val="35000"/>
            </a:spcAft>
            <a:buNone/>
          </a:pPr>
          <a:r>
            <a:rPr lang="en-CA" sz="6600" kern="1200"/>
            <a:t>02</a:t>
          </a:r>
        </a:p>
      </dsp:txBody>
      <dsp:txXfrm>
        <a:off x="5222509" y="0"/>
        <a:ext cx="4832746" cy="149024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2022-11-29</a:t>
            </a:fld>
            <a:endParaRPr lang="en-CA"/>
          </a:p>
        </p:txBody>
      </p:sp>
      <p:sp>
        <p:nvSpPr>
          <p:cNvPr id="5" name="Footer Placeholder 4"/>
          <p:cNvSpPr>
            <a:spLocks noGrp="1"/>
          </p:cNvSpPr>
          <p:nvPr>
            <p:ph type="ftr" sz="quarter" idx="11"/>
          </p:nvPr>
        </p:nvSpPr>
        <p:spPr>
          <a:xfrm>
            <a:off x="2416500" y="329307"/>
            <a:ext cx="4973915" cy="309201"/>
          </a:xfrm>
        </p:spPr>
        <p:txBody>
          <a:bodyPr/>
          <a:lstStyle/>
          <a:p>
            <a:endParaRPr lang="en-CA"/>
          </a:p>
        </p:txBody>
      </p:sp>
      <p:sp>
        <p:nvSpPr>
          <p:cNvPr id="6" name="Slide Number Placeholder 5"/>
          <p:cNvSpPr>
            <a:spLocks noGrp="1"/>
          </p:cNvSpPr>
          <p:nvPr>
            <p:ph type="sldNum" sz="quarter" idx="12"/>
          </p:nvPr>
        </p:nvSpPr>
        <p:spPr>
          <a:xfrm>
            <a:off x="1437664" y="798973"/>
            <a:ext cx="811019" cy="503578"/>
          </a:xfrm>
        </p:spPr>
        <p:txBody>
          <a:bodyPr/>
          <a:lstStyle/>
          <a:p>
            <a:fld id="{7F455954-5F39-4F31-A9AF-5AA67AF93FA5}" type="slidenum">
              <a:rPr lang="en-CA" smtClean="0"/>
              <a:t>‹#›</a:t>
            </a:fld>
            <a:endParaRPr lang="en-CA"/>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9961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2022-11-29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353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62BAB-B2E1-48D8-9B65-1E7671A9725E}" type="datetimeFigureOut">
              <a:rPr lang="en-CA" smtClean="0"/>
              <a:t>2022-11-29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8220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162BAB-B2E1-48D8-9B65-1E7671A9725E}" type="datetimeFigureOut">
              <a:rPr lang="en-CA" smtClean="0"/>
              <a:t>2022-11-29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162BAB-B2E1-48D8-9B65-1E7671A9725E}" type="datetimeFigureOut">
              <a:rPr lang="en-CA" smtClean="0"/>
              <a:t>2022-11-29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F455954-5F39-4F31-A9AF-5AA67AF93FA5}" type="slidenum">
              <a:rPr lang="en-CA" smtClean="0"/>
              <a:t>‹#›</a:t>
            </a:fld>
            <a:endParaRPr lang="en-CA"/>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709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162BAB-B2E1-48D8-9B65-1E7671A9725E}" type="datetimeFigureOut">
              <a:rPr lang="en-CA" smtClean="0"/>
              <a:t>2022-11-29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F455954-5F39-4F31-A9AF-5AA67AF93FA5}" type="slidenum">
              <a:rPr lang="en-CA" smtClean="0"/>
              <a:t>‹#›</a:t>
            </a:fld>
            <a:endParaRPr lang="en-CA"/>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9216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62BAB-B2E1-48D8-9B65-1E7671A9725E}" type="datetimeFigureOut">
              <a:rPr lang="en-CA" smtClean="0"/>
              <a:t>2022-11-29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F455954-5F39-4F31-A9AF-5AA67AF93FA5}" type="slidenum">
              <a:rPr lang="en-CA" smtClean="0"/>
              <a:t>‹#›</a:t>
            </a:fld>
            <a:endParaRPr lang="en-CA"/>
          </a:p>
        </p:txBody>
      </p:sp>
    </p:spTree>
    <p:extLst>
      <p:ext uri="{BB962C8B-B14F-4D97-AF65-F5344CB8AC3E}">
        <p14:creationId xmlns:p14="http://schemas.microsoft.com/office/powerpoint/2010/main" val="254647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162BAB-B2E1-48D8-9B65-1E7671A9725E}" type="datetimeFigureOut">
              <a:rPr lang="en-CA" smtClean="0"/>
              <a:t>2022-11-29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3377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0162BAB-B2E1-48D8-9B65-1E7671A9725E}" type="datetimeFigureOut">
              <a:rPr lang="en-CA" smtClean="0"/>
              <a:t>2022-11-29</a:t>
            </a:fld>
            <a:endParaRPr lang="en-CA"/>
          </a:p>
        </p:txBody>
      </p:sp>
      <p:sp>
        <p:nvSpPr>
          <p:cNvPr id="6" name="Footer Placeholder 5"/>
          <p:cNvSpPr>
            <a:spLocks noGrp="1"/>
          </p:cNvSpPr>
          <p:nvPr>
            <p:ph type="ftr" sz="quarter" idx="11"/>
          </p:nvPr>
        </p:nvSpPr>
        <p:spPr>
          <a:xfrm>
            <a:off x="1447382" y="318640"/>
            <a:ext cx="5541004" cy="320931"/>
          </a:xfrm>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14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2022-11-29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11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2022-11-29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121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0162BAB-B2E1-48D8-9B65-1E7671A9725E}" type="datetimeFigureOut">
              <a:rPr lang="en-CA" smtClean="0"/>
              <a:t>2022-11-29</a:t>
            </a:fld>
            <a:endParaRPr lang="en-CA"/>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F455954-5F39-4F31-A9AF-5AA67AF93FA5}" type="slidenum">
              <a:rPr lang="en-CA" smtClean="0"/>
              <a:t>‹#›</a:t>
            </a:fld>
            <a:endParaRPr lang="en-CA"/>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4101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dvoop.sdds.ca/G-Performance/multithreadin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en.wikipedia.org/wiki/Thread_%28computing%2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AA6C-3173-7A6B-F9D4-4EA1831D1A0D}"/>
              </a:ext>
            </a:extLst>
          </p:cNvPr>
          <p:cNvSpPr>
            <a:spLocks noGrp="1"/>
          </p:cNvSpPr>
          <p:nvPr>
            <p:ph type="ctrTitle"/>
          </p:nvPr>
        </p:nvSpPr>
        <p:spPr>
          <a:xfrm>
            <a:off x="1166454" y="714541"/>
            <a:ext cx="9099255" cy="2537251"/>
          </a:xfrm>
        </p:spPr>
        <p:txBody>
          <a:bodyPr anchor="ctr">
            <a:normAutofit/>
          </a:bodyPr>
          <a:lstStyle/>
          <a:p>
            <a:pPr algn="ctr"/>
            <a:r>
              <a:rPr lang="en-US" sz="5600" dirty="0">
                <a:solidFill>
                  <a:srgbClr val="454545"/>
                </a:solidFill>
              </a:rPr>
              <a:t>Object Oriented Software Development (C++) OOP345</a:t>
            </a:r>
            <a:endParaRPr lang="en-CA" sz="5600" dirty="0">
              <a:solidFill>
                <a:srgbClr val="454545"/>
              </a:solidFill>
            </a:endParaRPr>
          </a:p>
        </p:txBody>
      </p:sp>
      <p:sp>
        <p:nvSpPr>
          <p:cNvPr id="3" name="Subtitle 2">
            <a:extLst>
              <a:ext uri="{FF2B5EF4-FFF2-40B4-BE49-F238E27FC236}">
                <a16:creationId xmlns:a16="http://schemas.microsoft.com/office/drawing/2014/main" id="{EFE52409-3B7E-EAC5-87D5-997601A72A74}"/>
              </a:ext>
            </a:extLst>
          </p:cNvPr>
          <p:cNvSpPr>
            <a:spLocks noGrp="1"/>
          </p:cNvSpPr>
          <p:nvPr>
            <p:ph type="subTitle" idx="1"/>
          </p:nvPr>
        </p:nvSpPr>
        <p:spPr>
          <a:xfrm>
            <a:off x="1535372" y="4133234"/>
            <a:ext cx="9120954" cy="744373"/>
          </a:xfrm>
        </p:spPr>
        <p:txBody>
          <a:bodyPr>
            <a:normAutofit/>
          </a:bodyPr>
          <a:lstStyle/>
          <a:p>
            <a:pPr algn="ctr"/>
            <a:r>
              <a:rPr lang="en-US">
                <a:solidFill>
                  <a:schemeClr val="accent1"/>
                </a:solidFill>
              </a:rPr>
              <a:t>Madiha Kazmi</a:t>
            </a:r>
          </a:p>
          <a:p>
            <a:pPr algn="ctr"/>
            <a:endParaRPr lang="en-CA">
              <a:solidFill>
                <a:schemeClr val="accent1"/>
              </a:solidFill>
            </a:endParaRPr>
          </a:p>
        </p:txBody>
      </p:sp>
    </p:spTree>
    <p:extLst>
      <p:ext uri="{BB962C8B-B14F-4D97-AF65-F5344CB8AC3E}">
        <p14:creationId xmlns:p14="http://schemas.microsoft.com/office/powerpoint/2010/main" val="294416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3BA5F5A-5672-98F6-8ED0-8A3EE704637A}"/>
              </a:ext>
            </a:extLst>
          </p:cNvPr>
          <p:cNvSpPr>
            <a:spLocks noChangeArrowheads="1"/>
          </p:cNvSpPr>
          <p:nvPr/>
        </p:nvSpPr>
        <p:spPr bwMode="auto">
          <a:xfrm>
            <a:off x="7555992" y="967819"/>
            <a:ext cx="3182405" cy="43111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0" defTabSz="914400" fontAlgn="base">
              <a:lnSpc>
                <a:spcPct val="90000"/>
              </a:lnSpc>
              <a:spcBef>
                <a:spcPct val="0"/>
              </a:spcBef>
              <a:spcAft>
                <a:spcPts val="600"/>
              </a:spcAft>
              <a:buClrTx/>
              <a:buSzTx/>
              <a:tabLst/>
            </a:pPr>
            <a:r>
              <a:rPr kumimoji="0" lang="en-US" altLang="en-US" sz="3200" u="none" strike="noStrike" cap="all" normalizeH="0">
                <a:ln>
                  <a:noFill/>
                </a:ln>
                <a:solidFill>
                  <a:srgbClr val="000001"/>
                </a:solidFill>
                <a:latin typeface="+mj-lt"/>
                <a:ea typeface="+mj-ea"/>
                <a:cs typeface="+mj-cs"/>
              </a:rPr>
              <a:t>Assessment Summary</a:t>
            </a:r>
          </a:p>
          <a:p>
            <a:pPr marL="0" marR="0" lvl="0" indent="0" defTabSz="914400" fontAlgn="base">
              <a:lnSpc>
                <a:spcPct val="90000"/>
              </a:lnSpc>
              <a:spcBef>
                <a:spcPct val="0"/>
              </a:spcBef>
              <a:spcAft>
                <a:spcPts val="600"/>
              </a:spcAft>
              <a:buClrTx/>
              <a:buSzTx/>
              <a:tabLst/>
            </a:pPr>
            <a:endParaRPr kumimoji="0" lang="en-US" altLang="en-US" sz="3200" u="none" strike="noStrike" cap="all" normalizeH="0">
              <a:ln>
                <a:noFill/>
              </a:ln>
              <a:solidFill>
                <a:srgbClr val="000001"/>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71CA1D62-1371-E3B3-998B-CBB67DE86277}"/>
              </a:ext>
            </a:extLst>
          </p:cNvPr>
          <p:cNvGraphicFramePr>
            <a:graphicFrameLocks noGrp="1"/>
          </p:cNvGraphicFramePr>
          <p:nvPr>
            <p:ph idx="1"/>
            <p:extLst>
              <p:ext uri="{D42A27DB-BD31-4B8C-83A1-F6EECF244321}">
                <p14:modId xmlns:p14="http://schemas.microsoft.com/office/powerpoint/2010/main" val="2978912299"/>
              </p:ext>
            </p:extLst>
          </p:nvPr>
        </p:nvGraphicFramePr>
        <p:xfrm>
          <a:off x="1271587" y="1662447"/>
          <a:ext cx="5139052" cy="2790162"/>
        </p:xfrm>
        <a:graphic>
          <a:graphicData uri="http://schemas.openxmlformats.org/drawingml/2006/table">
            <a:tbl>
              <a:tblPr firstRow="1" firstCol="1" bandRow="1">
                <a:solidFill>
                  <a:schemeClr val="bg1">
                    <a:lumMod val="95000"/>
                  </a:schemeClr>
                </a:solidFill>
                <a:tableStyleId>{8EC20E35-A176-4012-BC5E-935CFFF8708E}</a:tableStyleId>
              </a:tblPr>
              <a:tblGrid>
                <a:gridCol w="1552462">
                  <a:extLst>
                    <a:ext uri="{9D8B030D-6E8A-4147-A177-3AD203B41FA5}">
                      <a16:colId xmlns:a16="http://schemas.microsoft.com/office/drawing/2014/main" val="92823929"/>
                    </a:ext>
                  </a:extLst>
                </a:gridCol>
                <a:gridCol w="732145">
                  <a:extLst>
                    <a:ext uri="{9D8B030D-6E8A-4147-A177-3AD203B41FA5}">
                      <a16:colId xmlns:a16="http://schemas.microsoft.com/office/drawing/2014/main" val="1604581269"/>
                    </a:ext>
                  </a:extLst>
                </a:gridCol>
                <a:gridCol w="2854445">
                  <a:extLst>
                    <a:ext uri="{9D8B030D-6E8A-4147-A177-3AD203B41FA5}">
                      <a16:colId xmlns:a16="http://schemas.microsoft.com/office/drawing/2014/main" val="2608325291"/>
                    </a:ext>
                  </a:extLst>
                </a:gridCol>
              </a:tblGrid>
              <a:tr h="807473">
                <a:tc>
                  <a:txBody>
                    <a:bodyPr/>
                    <a:lstStyle/>
                    <a:p>
                      <a:pPr marL="58420">
                        <a:lnSpc>
                          <a:spcPct val="107000"/>
                        </a:lnSpc>
                        <a:spcAft>
                          <a:spcPts val="800"/>
                        </a:spcAft>
                      </a:pPr>
                      <a:r>
                        <a:rPr lang="en-US" sz="1900" b="1" cap="none" spc="0">
                          <a:solidFill>
                            <a:schemeClr val="tx1"/>
                          </a:solidFill>
                          <a:effectLst/>
                        </a:rPr>
                        <a:t>Workshops</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58420">
                        <a:lnSpc>
                          <a:spcPct val="107000"/>
                        </a:lnSpc>
                        <a:spcAft>
                          <a:spcPts val="800"/>
                        </a:spcAft>
                      </a:pPr>
                      <a:r>
                        <a:rPr lang="en-US" sz="1900" b="1" cap="none" spc="0">
                          <a:solidFill>
                            <a:schemeClr val="tx1"/>
                          </a:solidFill>
                          <a:effectLst/>
                        </a:rPr>
                        <a:t>25%</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58420">
                        <a:lnSpc>
                          <a:spcPct val="107000"/>
                        </a:lnSpc>
                        <a:spcAft>
                          <a:spcPts val="800"/>
                        </a:spcAft>
                      </a:pPr>
                      <a:r>
                        <a:rPr lang="en-US" sz="1900" b="1" cap="none" spc="0">
                          <a:solidFill>
                            <a:schemeClr val="tx1"/>
                          </a:solidFill>
                          <a:effectLst/>
                        </a:rPr>
                        <a:t>Best 8 (@3.125% each) out of min. 9</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498922385"/>
                  </a:ext>
                </a:extLst>
              </a:tr>
              <a:tr h="436766">
                <a:tc>
                  <a:txBody>
                    <a:bodyPr/>
                    <a:lstStyle/>
                    <a:p>
                      <a:pPr marL="58420">
                        <a:lnSpc>
                          <a:spcPct val="107000"/>
                        </a:lnSpc>
                        <a:spcAft>
                          <a:spcPts val="800"/>
                        </a:spcAft>
                      </a:pPr>
                      <a:r>
                        <a:rPr lang="en-US" sz="1400" b="1" cap="none" spc="0">
                          <a:solidFill>
                            <a:schemeClr val="tx1"/>
                          </a:solidFill>
                          <a:effectLst/>
                        </a:rPr>
                        <a:t>Final Project</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3133347396"/>
                  </a:ext>
                </a:extLst>
              </a:tr>
              <a:tr h="672391">
                <a:tc>
                  <a:txBody>
                    <a:bodyPr/>
                    <a:lstStyle/>
                    <a:p>
                      <a:pPr marL="58420">
                        <a:lnSpc>
                          <a:spcPct val="107000"/>
                        </a:lnSpc>
                        <a:spcAft>
                          <a:spcPts val="800"/>
                        </a:spcAft>
                      </a:pPr>
                      <a:r>
                        <a:rPr lang="en-US" sz="1400" b="1" cap="none" spc="0">
                          <a:solidFill>
                            <a:schemeClr val="tx1"/>
                          </a:solidFill>
                          <a:effectLst/>
                        </a:rPr>
                        <a:t>Quizzes</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Best 8 (@1.875% each) out of min. 10</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386481707"/>
                  </a:ext>
                </a:extLst>
              </a:tr>
              <a:tr h="436766">
                <a:tc>
                  <a:txBody>
                    <a:bodyPr/>
                    <a:lstStyle/>
                    <a:p>
                      <a:pPr marL="58420">
                        <a:lnSpc>
                          <a:spcPct val="107000"/>
                        </a:lnSpc>
                        <a:spcAft>
                          <a:spcPts val="800"/>
                        </a:spcAft>
                      </a:pPr>
                      <a:r>
                        <a:rPr lang="en-US" sz="1400" b="1" cap="none" spc="0">
                          <a:solidFill>
                            <a:schemeClr val="tx1"/>
                          </a:solidFill>
                          <a:effectLst/>
                        </a:rPr>
                        <a:t>Test #1</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166000095"/>
                  </a:ext>
                </a:extLst>
              </a:tr>
              <a:tr h="436766">
                <a:tc>
                  <a:txBody>
                    <a:bodyPr/>
                    <a:lstStyle/>
                    <a:p>
                      <a:pPr marL="58420">
                        <a:lnSpc>
                          <a:spcPct val="107000"/>
                        </a:lnSpc>
                        <a:spcAft>
                          <a:spcPts val="800"/>
                        </a:spcAft>
                      </a:pPr>
                      <a:r>
                        <a:rPr lang="en-US" sz="1400" b="1" cap="none" spc="0">
                          <a:solidFill>
                            <a:schemeClr val="tx1"/>
                          </a:solidFill>
                          <a:effectLst/>
                        </a:rPr>
                        <a:t>Test #2</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30%</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04007572"/>
                  </a:ext>
                </a:extLst>
              </a:tr>
            </a:tbl>
          </a:graphicData>
        </a:graphic>
      </p:graphicFrame>
    </p:spTree>
    <p:extLst>
      <p:ext uri="{BB962C8B-B14F-4D97-AF65-F5344CB8AC3E}">
        <p14:creationId xmlns:p14="http://schemas.microsoft.com/office/powerpoint/2010/main" val="3391143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a:normAutofit/>
          </a:bodyPr>
          <a:lstStyle/>
          <a:p>
            <a:pPr algn="ctr"/>
            <a:r>
              <a:rPr lang="en-US" dirty="0"/>
              <a:t>Week 11</a:t>
            </a:r>
          </a:p>
        </p:txBody>
      </p:sp>
      <p:graphicFrame>
        <p:nvGraphicFramePr>
          <p:cNvPr id="5" name="Content Placeholder 2" descr="SmartArt Process Diagram">
            <a:extLst>
              <a:ext uri="{FF2B5EF4-FFF2-40B4-BE49-F238E27FC236}">
                <a16:creationId xmlns:a16="http://schemas.microsoft.com/office/drawing/2014/main" id="{60233515-42BF-4401-AB7F-458C06159D34}"/>
              </a:ext>
            </a:extLst>
          </p:cNvPr>
          <p:cNvGraphicFramePr>
            <a:graphicFrameLocks noGrp="1"/>
          </p:cNvGraphicFramePr>
          <p:nvPr>
            <p:ph idx="1"/>
            <p:extLst>
              <p:ext uri="{D42A27DB-BD31-4B8C-83A1-F6EECF244321}">
                <p14:modId xmlns:p14="http://schemas.microsoft.com/office/powerpoint/2010/main" val="2034002967"/>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34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E45E-8D6A-911B-527B-2949DD255024}"/>
              </a:ext>
            </a:extLst>
          </p:cNvPr>
          <p:cNvSpPr>
            <a:spLocks noGrp="1"/>
          </p:cNvSpPr>
          <p:nvPr>
            <p:ph type="title"/>
          </p:nvPr>
        </p:nvSpPr>
        <p:spPr/>
        <p:txBody>
          <a:bodyPr/>
          <a:lstStyle/>
          <a:p>
            <a:r>
              <a:rPr lang="en-CA" dirty="0"/>
              <a:t>Objective- </a:t>
            </a:r>
            <a:r>
              <a:rPr lang="en-US" dirty="0"/>
              <a:t>Multi-Threading</a:t>
            </a:r>
            <a:br>
              <a:rPr lang="en-US" dirty="0"/>
            </a:br>
            <a:endParaRPr lang="en-CA" dirty="0"/>
          </a:p>
        </p:txBody>
      </p:sp>
      <p:sp>
        <p:nvSpPr>
          <p:cNvPr id="3" name="Content Placeholder 2">
            <a:extLst>
              <a:ext uri="{FF2B5EF4-FFF2-40B4-BE49-F238E27FC236}">
                <a16:creationId xmlns:a16="http://schemas.microsoft.com/office/drawing/2014/main" id="{3D41CBE8-27BF-5382-EE14-46955799863B}"/>
              </a:ext>
            </a:extLst>
          </p:cNvPr>
          <p:cNvSpPr>
            <a:spLocks noGrp="1"/>
          </p:cNvSpPr>
          <p:nvPr>
            <p:ph idx="1"/>
          </p:nvPr>
        </p:nvSpPr>
        <p:spPr/>
        <p:txBody>
          <a:bodyPr/>
          <a:lstStyle/>
          <a:p>
            <a:r>
              <a:rPr lang="en-US" dirty="0"/>
              <a:t>Introduce concurrency and multi-threading</a:t>
            </a:r>
          </a:p>
          <a:p>
            <a:r>
              <a:rPr lang="en-US" dirty="0"/>
              <a:t>Define the common terms associated with multi-threading</a:t>
            </a:r>
          </a:p>
          <a:p>
            <a:r>
              <a:rPr lang="en-US" dirty="0"/>
              <a:t>This chapter introduces the topic of multi-threading. </a:t>
            </a:r>
          </a:p>
          <a:p>
            <a:r>
              <a:rPr lang="en-US" dirty="0"/>
              <a:t>It describes the difference between threads and processes, the importance of tasks and communications in multi-threaded programming and some of the related terminology.</a:t>
            </a:r>
          </a:p>
          <a:p>
            <a:r>
              <a:rPr lang="en-US" dirty="0"/>
              <a:t>This chapter concludes by listing some of the STL algorithms that accept execution policy arguments.</a:t>
            </a:r>
            <a:endParaRPr lang="en-CA" dirty="0"/>
          </a:p>
        </p:txBody>
      </p:sp>
    </p:spTree>
    <p:extLst>
      <p:ext uri="{BB962C8B-B14F-4D97-AF65-F5344CB8AC3E}">
        <p14:creationId xmlns:p14="http://schemas.microsoft.com/office/powerpoint/2010/main" val="52919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224-24F1-950A-F7B2-F6D6C6AC537D}"/>
              </a:ext>
            </a:extLst>
          </p:cNvPr>
          <p:cNvSpPr>
            <a:spLocks noGrp="1"/>
          </p:cNvSpPr>
          <p:nvPr>
            <p:ph type="title"/>
          </p:nvPr>
        </p:nvSpPr>
        <p:spPr/>
        <p:txBody>
          <a:bodyPr/>
          <a:lstStyle/>
          <a:p>
            <a:r>
              <a:rPr lang="en-US" dirty="0"/>
              <a:t>Multi-Threading</a:t>
            </a:r>
            <a:br>
              <a:rPr lang="en-US" dirty="0"/>
            </a:br>
            <a:endParaRPr lang="en-CA" dirty="0"/>
          </a:p>
        </p:txBody>
      </p:sp>
      <p:sp>
        <p:nvSpPr>
          <p:cNvPr id="3" name="Content Placeholder 2">
            <a:extLst>
              <a:ext uri="{FF2B5EF4-FFF2-40B4-BE49-F238E27FC236}">
                <a16:creationId xmlns:a16="http://schemas.microsoft.com/office/drawing/2014/main" id="{C5676A41-3699-6DCD-3442-565C6E44A732}"/>
              </a:ext>
            </a:extLst>
          </p:cNvPr>
          <p:cNvSpPr>
            <a:spLocks noGrp="1"/>
          </p:cNvSpPr>
          <p:nvPr>
            <p:ph idx="1"/>
          </p:nvPr>
        </p:nvSpPr>
        <p:spPr/>
        <p:txBody>
          <a:bodyPr>
            <a:normAutofit/>
          </a:bodyPr>
          <a:lstStyle/>
          <a:p>
            <a:r>
              <a:rPr lang="en-US" dirty="0"/>
              <a:t>"Although threads seem to be a small step from sequential computation, in fact, they represent a huge step. They discard the most essential and appealing properties of sequential computation: understandability, predictability, and determinism. Threads, as a model of computation, are wildly non-deterministic, and the job of the programmer becomes one of pruning that nondeterminism." Lee (2006)</a:t>
            </a:r>
          </a:p>
          <a:p>
            <a:endParaRPr lang="en-CA" dirty="0"/>
          </a:p>
        </p:txBody>
      </p:sp>
    </p:spTree>
    <p:extLst>
      <p:ext uri="{BB962C8B-B14F-4D97-AF65-F5344CB8AC3E}">
        <p14:creationId xmlns:p14="http://schemas.microsoft.com/office/powerpoint/2010/main" val="4091260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41050-B161-583E-B582-BD3879B90785}"/>
              </a:ext>
            </a:extLst>
          </p:cNvPr>
          <p:cNvSpPr>
            <a:spLocks noGrp="1"/>
          </p:cNvSpPr>
          <p:nvPr>
            <p:ph type="title"/>
          </p:nvPr>
        </p:nvSpPr>
        <p:spPr/>
        <p:txBody>
          <a:bodyPr/>
          <a:lstStyle/>
          <a:p>
            <a:r>
              <a:rPr lang="en-US" dirty="0"/>
              <a:t>Multi-Threading</a:t>
            </a:r>
            <a:endParaRPr lang="en-CA" dirty="0"/>
          </a:p>
        </p:txBody>
      </p:sp>
      <p:sp>
        <p:nvSpPr>
          <p:cNvPr id="3" name="Content Placeholder 2">
            <a:extLst>
              <a:ext uri="{FF2B5EF4-FFF2-40B4-BE49-F238E27FC236}">
                <a16:creationId xmlns:a16="http://schemas.microsoft.com/office/drawing/2014/main" id="{83939B75-8A84-1A35-A494-9102A46C37AB}"/>
              </a:ext>
            </a:extLst>
          </p:cNvPr>
          <p:cNvSpPr>
            <a:spLocks noGrp="1"/>
          </p:cNvSpPr>
          <p:nvPr>
            <p:ph idx="1"/>
          </p:nvPr>
        </p:nvSpPr>
        <p:spPr>
          <a:xfrm>
            <a:off x="248575" y="1853754"/>
            <a:ext cx="11674135" cy="4067652"/>
          </a:xfrm>
        </p:spPr>
        <p:txBody>
          <a:bodyPr>
            <a:normAutofit lnSpcReduction="10000"/>
          </a:bodyPr>
          <a:lstStyle/>
          <a:p>
            <a:r>
              <a:rPr lang="en-US" dirty="0"/>
              <a:t>At the beginning of the millennium, the industry-wide introduction of multi-core CPUs to the consumer market promoted the need for multi-threading support in all object-oriented languages. </a:t>
            </a:r>
          </a:p>
          <a:p>
            <a:r>
              <a:rPr lang="en-US" dirty="0"/>
              <a:t>Multi-core CPUs can execute different strands of code concurrently and thereby enhance program performance. </a:t>
            </a:r>
          </a:p>
          <a:p>
            <a:r>
              <a:rPr lang="en-US" dirty="0"/>
              <a:t>A multi-threaded programming solution improves the elapsed time to complete execution by </a:t>
            </a:r>
            <a:r>
              <a:rPr lang="en-US" dirty="0">
                <a:highlight>
                  <a:srgbClr val="FFFF00"/>
                </a:highlight>
              </a:rPr>
              <a:t>distributing independent tasks across separate hardware threads. </a:t>
            </a:r>
          </a:p>
          <a:p>
            <a:r>
              <a:rPr lang="en-US" dirty="0"/>
              <a:t>The C++11 standard introduced </a:t>
            </a:r>
            <a:r>
              <a:rPr lang="en-US" dirty="0">
                <a:highlight>
                  <a:srgbClr val="FFFF00"/>
                </a:highlight>
              </a:rPr>
              <a:t>direct multi-threading facilities</a:t>
            </a:r>
            <a:r>
              <a:rPr lang="en-US" dirty="0"/>
              <a:t>. Its standard library includes a comprehensive set of libraries that support simple as well as complex multi-threading. </a:t>
            </a:r>
          </a:p>
          <a:p>
            <a:r>
              <a:rPr lang="en-US" dirty="0"/>
              <a:t>Moreover, C++17 enhanced the algorithms of the Standard Template Library to accommodate execution policies that allow both sequential and parallel processing.</a:t>
            </a:r>
          </a:p>
          <a:p>
            <a:endParaRPr lang="en-CA" dirty="0"/>
          </a:p>
        </p:txBody>
      </p:sp>
    </p:spTree>
    <p:extLst>
      <p:ext uri="{BB962C8B-B14F-4D97-AF65-F5344CB8AC3E}">
        <p14:creationId xmlns:p14="http://schemas.microsoft.com/office/powerpoint/2010/main" val="2294789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CF77B-F257-2BCB-D6FC-C7508AC3A143}"/>
              </a:ext>
            </a:extLst>
          </p:cNvPr>
          <p:cNvSpPr>
            <a:spLocks noGrp="1"/>
          </p:cNvSpPr>
          <p:nvPr>
            <p:ph type="title"/>
          </p:nvPr>
        </p:nvSpPr>
        <p:spPr>
          <a:xfrm>
            <a:off x="998817" y="112060"/>
            <a:ext cx="9603275" cy="1049235"/>
          </a:xfrm>
        </p:spPr>
        <p:txBody>
          <a:bodyPr/>
          <a:lstStyle/>
          <a:p>
            <a:r>
              <a:rPr lang="en-US" dirty="0"/>
              <a:t>Performance​</a:t>
            </a:r>
            <a:br>
              <a:rPr lang="en-US" dirty="0"/>
            </a:br>
            <a:endParaRPr lang="en-CA" dirty="0"/>
          </a:p>
        </p:txBody>
      </p:sp>
      <p:sp>
        <p:nvSpPr>
          <p:cNvPr id="3" name="Content Placeholder 2">
            <a:extLst>
              <a:ext uri="{FF2B5EF4-FFF2-40B4-BE49-F238E27FC236}">
                <a16:creationId xmlns:a16="http://schemas.microsoft.com/office/drawing/2014/main" id="{C9B37614-C83B-A1F0-F81D-670D3F522C13}"/>
              </a:ext>
            </a:extLst>
          </p:cNvPr>
          <p:cNvSpPr>
            <a:spLocks noGrp="1"/>
          </p:cNvSpPr>
          <p:nvPr>
            <p:ph idx="1"/>
          </p:nvPr>
        </p:nvSpPr>
        <p:spPr>
          <a:xfrm>
            <a:off x="214543" y="532660"/>
            <a:ext cx="11762913" cy="5590752"/>
          </a:xfrm>
        </p:spPr>
        <p:txBody>
          <a:bodyPr>
            <a:normAutofit/>
          </a:bodyPr>
          <a:lstStyle/>
          <a:p>
            <a:r>
              <a:rPr lang="en-US" dirty="0"/>
              <a:t>A program's performance can be described in terms of two aspects:</a:t>
            </a:r>
          </a:p>
          <a:p>
            <a:r>
              <a:rPr lang="en-US" dirty="0">
                <a:highlight>
                  <a:srgbClr val="FFFF00"/>
                </a:highlight>
              </a:rPr>
              <a:t>Tasks</a:t>
            </a:r>
            <a:r>
              <a:rPr lang="en-US" dirty="0"/>
              <a:t> are computationally intensive and consume processor time. </a:t>
            </a:r>
          </a:p>
          <a:p>
            <a:pPr lvl="1"/>
            <a:r>
              <a:rPr lang="en-US" dirty="0"/>
              <a:t>Communications involve the transfer of information between processors and memory and can render processors delay processor time. </a:t>
            </a:r>
          </a:p>
          <a:p>
            <a:pPr lvl="1"/>
            <a:r>
              <a:rPr lang="en-US" dirty="0"/>
              <a:t>A task represents a group of instructions. </a:t>
            </a:r>
          </a:p>
          <a:p>
            <a:pPr lvl="1"/>
            <a:r>
              <a:rPr lang="en-US" dirty="0"/>
              <a:t>It can refer to an entire program or a relatively small part of a much larger program. </a:t>
            </a:r>
          </a:p>
          <a:p>
            <a:pPr lvl="1"/>
            <a:r>
              <a:rPr lang="en-US" dirty="0"/>
              <a:t>Communications occur across communication channels between a processor and main memory or a processor and a resource, such as a file stream, input stream or output stream.</a:t>
            </a:r>
          </a:p>
          <a:p>
            <a:r>
              <a:rPr lang="en-US" dirty="0"/>
              <a:t>The time to complete a </a:t>
            </a:r>
            <a:r>
              <a:rPr lang="en-US" dirty="0">
                <a:highlight>
                  <a:srgbClr val="FFFF00"/>
                </a:highlight>
              </a:rPr>
              <a:t>communication</a:t>
            </a:r>
            <a:r>
              <a:rPr lang="en-US" dirty="0"/>
              <a:t> is referred to as its latency.</a:t>
            </a:r>
          </a:p>
          <a:p>
            <a:pPr lvl="1"/>
            <a:r>
              <a:rPr lang="en-US" dirty="0"/>
              <a:t> The latency of a communication between a processor and a resource is at least one order of magnitude greater than that between the processor and main memory.</a:t>
            </a:r>
          </a:p>
          <a:p>
            <a:pPr lvl="1"/>
            <a:r>
              <a:rPr lang="en-US" dirty="0"/>
              <a:t> Accessing a resource can leave the processor idle for a considerable period of time. </a:t>
            </a:r>
          </a:p>
          <a:p>
            <a:pPr lvl="1"/>
            <a:r>
              <a:rPr lang="en-US" dirty="0"/>
              <a:t>A processor waiting for a communication to complete is available to execute another task or another program.</a:t>
            </a:r>
          </a:p>
        </p:txBody>
      </p:sp>
    </p:spTree>
    <p:extLst>
      <p:ext uri="{BB962C8B-B14F-4D97-AF65-F5344CB8AC3E}">
        <p14:creationId xmlns:p14="http://schemas.microsoft.com/office/powerpoint/2010/main" val="2913059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50410-5F8B-9016-94B0-B65AA67D8013}"/>
              </a:ext>
            </a:extLst>
          </p:cNvPr>
          <p:cNvSpPr>
            <a:spLocks noGrp="1"/>
          </p:cNvSpPr>
          <p:nvPr>
            <p:ph type="title"/>
          </p:nvPr>
        </p:nvSpPr>
        <p:spPr/>
        <p:txBody>
          <a:bodyPr/>
          <a:lstStyle/>
          <a:p>
            <a:r>
              <a:rPr lang="en-US" dirty="0">
                <a:highlight>
                  <a:srgbClr val="FFFF00"/>
                </a:highlight>
              </a:rPr>
              <a:t>multi-tasking</a:t>
            </a:r>
            <a:endParaRPr lang="en-CA" dirty="0"/>
          </a:p>
        </p:txBody>
      </p:sp>
      <p:sp>
        <p:nvSpPr>
          <p:cNvPr id="3" name="Content Placeholder 2">
            <a:extLst>
              <a:ext uri="{FF2B5EF4-FFF2-40B4-BE49-F238E27FC236}">
                <a16:creationId xmlns:a16="http://schemas.microsoft.com/office/drawing/2014/main" id="{CD4BBBD8-372A-3367-8E67-ECBC9ED4F9E5}"/>
              </a:ext>
            </a:extLst>
          </p:cNvPr>
          <p:cNvSpPr>
            <a:spLocks noGrp="1"/>
          </p:cNvSpPr>
          <p:nvPr>
            <p:ph idx="1"/>
          </p:nvPr>
        </p:nvSpPr>
        <p:spPr/>
        <p:txBody>
          <a:bodyPr/>
          <a:lstStyle/>
          <a:p>
            <a:r>
              <a:rPr lang="en-US" dirty="0"/>
              <a:t>Operating systems are designed to switch from one task or program to another. The system of switching from one task to another is called </a:t>
            </a:r>
            <a:r>
              <a:rPr lang="en-US" dirty="0">
                <a:highlight>
                  <a:srgbClr val="FFFF00"/>
                </a:highlight>
              </a:rPr>
              <a:t>multi-tasking.</a:t>
            </a:r>
            <a:endParaRPr lang="en-CA" dirty="0">
              <a:highlight>
                <a:srgbClr val="FFFF00"/>
              </a:highlight>
            </a:endParaRPr>
          </a:p>
          <a:p>
            <a:endParaRPr lang="en-CA" dirty="0"/>
          </a:p>
        </p:txBody>
      </p:sp>
    </p:spTree>
    <p:extLst>
      <p:ext uri="{BB962C8B-B14F-4D97-AF65-F5344CB8AC3E}">
        <p14:creationId xmlns:p14="http://schemas.microsoft.com/office/powerpoint/2010/main" val="210138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7431-A91A-A043-A6A8-25A17A3DEF5B}"/>
              </a:ext>
            </a:extLst>
          </p:cNvPr>
          <p:cNvSpPr>
            <a:spLocks noGrp="1"/>
          </p:cNvSpPr>
          <p:nvPr>
            <p:ph type="title"/>
          </p:nvPr>
        </p:nvSpPr>
        <p:spPr/>
        <p:txBody>
          <a:bodyPr/>
          <a:lstStyle/>
          <a:p>
            <a:r>
              <a:rPr lang="en-US" dirty="0"/>
              <a:t>Role of Problem Size​</a:t>
            </a:r>
            <a:br>
              <a:rPr lang="en-US" dirty="0"/>
            </a:br>
            <a:endParaRPr lang="en-CA" dirty="0"/>
          </a:p>
        </p:txBody>
      </p:sp>
      <p:sp>
        <p:nvSpPr>
          <p:cNvPr id="3" name="Content Placeholder 2">
            <a:extLst>
              <a:ext uri="{FF2B5EF4-FFF2-40B4-BE49-F238E27FC236}">
                <a16:creationId xmlns:a16="http://schemas.microsoft.com/office/drawing/2014/main" id="{ACD2BD6F-77AB-86A5-E43B-BC4C4B7472AA}"/>
              </a:ext>
            </a:extLst>
          </p:cNvPr>
          <p:cNvSpPr>
            <a:spLocks noGrp="1"/>
          </p:cNvSpPr>
          <p:nvPr>
            <p:ph idx="1"/>
          </p:nvPr>
        </p:nvSpPr>
        <p:spPr/>
        <p:txBody>
          <a:bodyPr>
            <a:normAutofit fontScale="77500" lnSpcReduction="20000"/>
          </a:bodyPr>
          <a:lstStyle/>
          <a:p>
            <a:r>
              <a:rPr lang="en-US" dirty="0"/>
              <a:t>A program's performance becomes an issue once the program is used to solve problems of a certain size. The amounts of time and space (i.e., memory) that it requires to execute increase with problem size. Problems of large size can consume enough time or space to make the program's performance a critical programming issue.</a:t>
            </a:r>
          </a:p>
          <a:p>
            <a:r>
              <a:rPr lang="en-US" dirty="0"/>
              <a:t>The time and space that a program requires for its completion is described in terms of its complexity. The two distinct measures are time complexity and space complexity.</a:t>
            </a:r>
          </a:p>
          <a:p>
            <a:r>
              <a:rPr lang="en-US" dirty="0"/>
              <a:t>Time complexity refers to the rate at which elapsed time grows with problem size.</a:t>
            </a:r>
          </a:p>
          <a:p>
            <a:r>
              <a:rPr lang="en-US" dirty="0"/>
              <a:t>Space complexity refers to the rate at which memory requirements grow with problem size. For instance, the initialization of 1,000 elements to a value takes 1,000 units of time (linear complexity), while sorting the same 1,000 elements can take about 1,000 * 1,000 = 1,000,000 units of time (quadratic complexity). That is, while the setting of individual elements in an array might need not require our attention, the sorting parts of the same program may require attention if the problem size is large enough.</a:t>
            </a:r>
            <a:endParaRPr lang="en-CA" dirty="0"/>
          </a:p>
        </p:txBody>
      </p:sp>
    </p:spTree>
    <p:extLst>
      <p:ext uri="{BB962C8B-B14F-4D97-AF65-F5344CB8AC3E}">
        <p14:creationId xmlns:p14="http://schemas.microsoft.com/office/powerpoint/2010/main" val="315709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5B4F-AC96-58FB-687D-4D8D2DD5A8FD}"/>
              </a:ext>
            </a:extLst>
          </p:cNvPr>
          <p:cNvSpPr>
            <a:spLocks noGrp="1"/>
          </p:cNvSpPr>
          <p:nvPr>
            <p:ph type="title"/>
          </p:nvPr>
        </p:nvSpPr>
        <p:spPr/>
        <p:txBody>
          <a:bodyPr/>
          <a:lstStyle/>
          <a:p>
            <a:r>
              <a:rPr lang="en-US" dirty="0"/>
              <a:t>Multi-tasking</a:t>
            </a:r>
            <a:endParaRPr lang="en-CA" dirty="0"/>
          </a:p>
        </p:txBody>
      </p:sp>
      <p:sp>
        <p:nvSpPr>
          <p:cNvPr id="3" name="Content Placeholder 2">
            <a:extLst>
              <a:ext uri="{FF2B5EF4-FFF2-40B4-BE49-F238E27FC236}">
                <a16:creationId xmlns:a16="http://schemas.microsoft.com/office/drawing/2014/main" id="{D090FCB4-C67E-25CA-8A93-24840E66648A}"/>
              </a:ext>
            </a:extLst>
          </p:cNvPr>
          <p:cNvSpPr>
            <a:spLocks noGrp="1"/>
          </p:cNvSpPr>
          <p:nvPr>
            <p:ph idx="1"/>
          </p:nvPr>
        </p:nvSpPr>
        <p:spPr/>
        <p:txBody>
          <a:bodyPr>
            <a:normAutofit/>
          </a:bodyPr>
          <a:lstStyle/>
          <a:p>
            <a:endParaRPr lang="en-US" sz="2800" dirty="0"/>
          </a:p>
          <a:p>
            <a:r>
              <a:rPr lang="en-US" sz="2800" dirty="0"/>
              <a:t>Multi-tasking differs from multi-threading. Their difference can be described in terms of the distinction between a process and a thread.</a:t>
            </a:r>
            <a:endParaRPr lang="en-CA" sz="2800" dirty="0"/>
          </a:p>
        </p:txBody>
      </p:sp>
    </p:spTree>
    <p:extLst>
      <p:ext uri="{BB962C8B-B14F-4D97-AF65-F5344CB8AC3E}">
        <p14:creationId xmlns:p14="http://schemas.microsoft.com/office/powerpoint/2010/main" val="3935386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BF8A-9789-56F7-7120-8FEFDE567601}"/>
              </a:ext>
            </a:extLst>
          </p:cNvPr>
          <p:cNvSpPr>
            <a:spLocks noGrp="1"/>
          </p:cNvSpPr>
          <p:nvPr>
            <p:ph type="title"/>
          </p:nvPr>
        </p:nvSpPr>
        <p:spPr>
          <a:xfrm>
            <a:off x="989940" y="710214"/>
            <a:ext cx="9603275" cy="1049235"/>
          </a:xfrm>
        </p:spPr>
        <p:txBody>
          <a:bodyPr/>
          <a:lstStyle/>
          <a:p>
            <a:r>
              <a:rPr lang="en-US" dirty="0"/>
              <a:t>Process​</a:t>
            </a:r>
            <a:br>
              <a:rPr lang="en-US" dirty="0"/>
            </a:br>
            <a:endParaRPr lang="en-CA" dirty="0"/>
          </a:p>
        </p:txBody>
      </p:sp>
      <p:sp>
        <p:nvSpPr>
          <p:cNvPr id="3" name="Content Placeholder 2">
            <a:extLst>
              <a:ext uri="{FF2B5EF4-FFF2-40B4-BE49-F238E27FC236}">
                <a16:creationId xmlns:a16="http://schemas.microsoft.com/office/drawing/2014/main" id="{3B5123AE-650F-2EA7-482A-BEF7D6758706}"/>
              </a:ext>
            </a:extLst>
          </p:cNvPr>
          <p:cNvSpPr>
            <a:spLocks noGrp="1"/>
          </p:cNvSpPr>
          <p:nvPr>
            <p:ph idx="1"/>
          </p:nvPr>
        </p:nvSpPr>
        <p:spPr>
          <a:xfrm>
            <a:off x="298881" y="1875360"/>
            <a:ext cx="11765872" cy="4125946"/>
          </a:xfrm>
        </p:spPr>
        <p:txBody>
          <a:bodyPr>
            <a:normAutofit/>
          </a:bodyPr>
          <a:lstStyle/>
          <a:p>
            <a:r>
              <a:rPr lang="en-US" sz="2400" dirty="0"/>
              <a:t>A process is an instance of a program executing on the host platform. The compiled program takes the form of a file on secondary storage. </a:t>
            </a:r>
          </a:p>
          <a:p>
            <a:pPr lvl="1"/>
            <a:r>
              <a:rPr lang="en-US" sz="2000" dirty="0"/>
              <a:t>When the user instructs the operating system to load the executable program from this file into main memory, the system creates a process. </a:t>
            </a:r>
          </a:p>
          <a:p>
            <a:pPr lvl="1"/>
            <a:r>
              <a:rPr lang="en-US" sz="2000" dirty="0"/>
              <a:t>When the system transfers control to the process' entry point, execution starts. </a:t>
            </a:r>
          </a:p>
          <a:p>
            <a:pPr lvl="1"/>
            <a:r>
              <a:rPr lang="en-US" sz="2000" dirty="0"/>
              <a:t>At any instant during its execution the process contains all of the information related to its current activity. </a:t>
            </a:r>
          </a:p>
          <a:p>
            <a:pPr lvl="1"/>
            <a:r>
              <a:rPr lang="en-US" sz="2000" dirty="0"/>
              <a:t>When the process finishes executing, it returns control to the operating system and leaves the main memory it used ready for a new process.</a:t>
            </a:r>
          </a:p>
        </p:txBody>
      </p:sp>
    </p:spTree>
    <p:extLst>
      <p:ext uri="{BB962C8B-B14F-4D97-AF65-F5344CB8AC3E}">
        <p14:creationId xmlns:p14="http://schemas.microsoft.com/office/powerpoint/2010/main" val="2527871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3AB09-27DA-F81B-7367-0B2879925E1B}"/>
              </a:ext>
            </a:extLst>
          </p:cNvPr>
          <p:cNvSpPr>
            <a:spLocks noGrp="1"/>
          </p:cNvSpPr>
          <p:nvPr>
            <p:ph type="title"/>
          </p:nvPr>
        </p:nvSpPr>
        <p:spPr/>
        <p:txBody>
          <a:bodyPr/>
          <a:lstStyle/>
          <a:p>
            <a:r>
              <a:rPr lang="en-US" dirty="0"/>
              <a:t>Process​</a:t>
            </a:r>
            <a:endParaRPr lang="en-CA" dirty="0"/>
          </a:p>
        </p:txBody>
      </p:sp>
      <p:sp>
        <p:nvSpPr>
          <p:cNvPr id="3" name="Content Placeholder 2">
            <a:extLst>
              <a:ext uri="{FF2B5EF4-FFF2-40B4-BE49-F238E27FC236}">
                <a16:creationId xmlns:a16="http://schemas.microsoft.com/office/drawing/2014/main" id="{DFCB7B79-A076-6B79-C3D4-488EA76F4351}"/>
              </a:ext>
            </a:extLst>
          </p:cNvPr>
          <p:cNvSpPr>
            <a:spLocks noGrp="1"/>
          </p:cNvSpPr>
          <p:nvPr>
            <p:ph idx="1"/>
          </p:nvPr>
        </p:nvSpPr>
        <p:spPr>
          <a:xfrm>
            <a:off x="208705" y="2015732"/>
            <a:ext cx="11722883" cy="4037749"/>
          </a:xfrm>
        </p:spPr>
        <p:txBody>
          <a:bodyPr>
            <a:normAutofit lnSpcReduction="10000"/>
          </a:bodyPr>
          <a:lstStyle/>
          <a:p>
            <a:r>
              <a:rPr lang="en-US" dirty="0"/>
              <a:t>If a process requests a resource, the system's multi-tasking scheduler blocks the process and may start or restart another process. Once the requested resource is available, the scheduler places the blocked process in a wait state ready to restart. When the scheduler blocks another executing process, it can restart the waiting process.</a:t>
            </a:r>
          </a:p>
          <a:p>
            <a:r>
              <a:rPr lang="en-US" dirty="0"/>
              <a:t>This switch from one process to another is called a </a:t>
            </a:r>
            <a:r>
              <a:rPr lang="en-US" dirty="0">
                <a:highlight>
                  <a:srgbClr val="FFFF00"/>
                </a:highlight>
              </a:rPr>
              <a:t>context switch</a:t>
            </a:r>
            <a:r>
              <a:rPr lang="en-US" dirty="0"/>
              <a:t>. A process' context refers to the contents of the CPU's registers and program counters at the instant of blocking. A context switch suspends an executing process and stores its context in memory. The scheduler then retrieves the context of a waiting process from memory, restores it in the CPU's registers and program counters and restarts the reloaded process.</a:t>
            </a:r>
          </a:p>
          <a:p>
            <a:r>
              <a:rPr lang="en-US" dirty="0"/>
              <a:t>A context switch on a process is computationally intensive. The processor time required may be in the order of several thousand clock cycles.</a:t>
            </a:r>
            <a:endParaRPr lang="en-CA" dirty="0"/>
          </a:p>
          <a:p>
            <a:endParaRPr lang="en-CA" dirty="0"/>
          </a:p>
        </p:txBody>
      </p:sp>
    </p:spTree>
    <p:extLst>
      <p:ext uri="{BB962C8B-B14F-4D97-AF65-F5344CB8AC3E}">
        <p14:creationId xmlns:p14="http://schemas.microsoft.com/office/powerpoint/2010/main" val="2667291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717C-E407-E975-84CC-19B3B1010335}"/>
              </a:ext>
            </a:extLst>
          </p:cNvPr>
          <p:cNvSpPr>
            <a:spLocks noGrp="1"/>
          </p:cNvSpPr>
          <p:nvPr>
            <p:ph type="title"/>
          </p:nvPr>
        </p:nvSpPr>
        <p:spPr>
          <a:xfrm>
            <a:off x="1451579" y="804519"/>
            <a:ext cx="9603275" cy="1049235"/>
          </a:xfrm>
        </p:spPr>
        <p:txBody>
          <a:bodyPr>
            <a:normAutofit/>
          </a:bodyPr>
          <a:lstStyle/>
          <a:p>
            <a:r>
              <a:rPr lang="en-US" dirty="0"/>
              <a:t>Thread​</a:t>
            </a:r>
            <a:br>
              <a:rPr lang="en-US" dirty="0"/>
            </a:br>
            <a:endParaRPr lang="en-CA" dirty="0"/>
          </a:p>
        </p:txBody>
      </p:sp>
      <p:sp>
        <p:nvSpPr>
          <p:cNvPr id="3" name="Content Placeholder 2">
            <a:extLst>
              <a:ext uri="{FF2B5EF4-FFF2-40B4-BE49-F238E27FC236}">
                <a16:creationId xmlns:a16="http://schemas.microsoft.com/office/drawing/2014/main" id="{1D37CD89-74DE-232E-A99F-3E3255108D58}"/>
              </a:ext>
            </a:extLst>
          </p:cNvPr>
          <p:cNvSpPr>
            <a:spLocks noGrp="1"/>
          </p:cNvSpPr>
          <p:nvPr>
            <p:ph idx="1"/>
          </p:nvPr>
        </p:nvSpPr>
        <p:spPr>
          <a:xfrm>
            <a:off x="281148" y="1463284"/>
            <a:ext cx="6943725" cy="4590197"/>
          </a:xfrm>
        </p:spPr>
        <p:txBody>
          <a:bodyPr>
            <a:normAutofit/>
          </a:bodyPr>
          <a:lstStyle/>
          <a:p>
            <a:pPr>
              <a:lnSpc>
                <a:spcPct val="110000"/>
              </a:lnSpc>
            </a:pPr>
            <a:r>
              <a:rPr lang="en-US" dirty="0"/>
              <a:t>A thread is a sequence of program instructions that represents an independent flow of control within a process. Threads are light-weight versions of parts of processes. A thread can run concurrently with other threads and share the same address space with other threads. The task that each thread executes is part of the thread's host process.</a:t>
            </a:r>
          </a:p>
          <a:p>
            <a:pPr>
              <a:lnSpc>
                <a:spcPct val="110000"/>
              </a:lnSpc>
            </a:pPr>
            <a:r>
              <a:rPr lang="en-US" dirty="0"/>
              <a:t>A thread may be a software thread or a hardware thread. A software thread is a virtual thread associated with a task within a process. The task may be the same or different from the task associated with another thread. A hardware thread is a mini-process that executes a software thread (that is, the task associated with the software thread). The operating system's scheduler maps software threads to hardware threads.</a:t>
            </a:r>
          </a:p>
          <a:p>
            <a:pPr>
              <a:lnSpc>
                <a:spcPct val="110000"/>
              </a:lnSpc>
            </a:pPr>
            <a:endParaRPr lang="en-US" dirty="0"/>
          </a:p>
        </p:txBody>
      </p:sp>
      <p:grpSp>
        <p:nvGrpSpPr>
          <p:cNvPr id="10" name="Group 9">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90413" y="2012810"/>
            <a:ext cx="3668069" cy="3453535"/>
            <a:chOff x="7807230" y="2012810"/>
            <a:chExt cx="3251252" cy="3459865"/>
          </a:xfrm>
        </p:grpSpPr>
        <p:sp>
          <p:nvSpPr>
            <p:cNvPr id="11" name="Rectangle 10">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0CD5534F-038C-7CD3-8F2F-8D6B574F3E90}"/>
              </a:ext>
            </a:extLst>
          </p:cNvPr>
          <p:cNvPicPr>
            <a:picLocks noChangeAspect="1"/>
          </p:cNvPicPr>
          <p:nvPr/>
        </p:nvPicPr>
        <p:blipFill rotWithShape="1">
          <a:blip r:embed="rId2"/>
          <a:srcRect l="983" r="2090"/>
          <a:stretch/>
        </p:blipFill>
        <p:spPr>
          <a:xfrm>
            <a:off x="7555952" y="2177401"/>
            <a:ext cx="3336989" cy="3124351"/>
          </a:xfrm>
          <a:prstGeom prst="rect">
            <a:avLst/>
          </a:prstGeom>
        </p:spPr>
      </p:pic>
    </p:spTree>
    <p:extLst>
      <p:ext uri="{BB962C8B-B14F-4D97-AF65-F5344CB8AC3E}">
        <p14:creationId xmlns:p14="http://schemas.microsoft.com/office/powerpoint/2010/main" val="2188447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6AF3-9FF8-A89E-C734-2611ACA0CE41}"/>
              </a:ext>
            </a:extLst>
          </p:cNvPr>
          <p:cNvSpPr>
            <a:spLocks noGrp="1"/>
          </p:cNvSpPr>
          <p:nvPr>
            <p:ph type="title"/>
          </p:nvPr>
        </p:nvSpPr>
        <p:spPr/>
        <p:txBody>
          <a:bodyPr/>
          <a:lstStyle/>
          <a:p>
            <a:r>
              <a:rPr lang="en-US" dirty="0"/>
              <a:t>Thread​</a:t>
            </a:r>
            <a:br>
              <a:rPr lang="en-US" dirty="0"/>
            </a:br>
            <a:endParaRPr lang="en-CA" dirty="0"/>
          </a:p>
        </p:txBody>
      </p:sp>
      <p:sp>
        <p:nvSpPr>
          <p:cNvPr id="3" name="Content Placeholder 2">
            <a:extLst>
              <a:ext uri="{FF2B5EF4-FFF2-40B4-BE49-F238E27FC236}">
                <a16:creationId xmlns:a16="http://schemas.microsoft.com/office/drawing/2014/main" id="{98906ECC-6D23-D9E8-337F-F1A280B28A6E}"/>
              </a:ext>
            </a:extLst>
          </p:cNvPr>
          <p:cNvSpPr>
            <a:spLocks noGrp="1"/>
          </p:cNvSpPr>
          <p:nvPr>
            <p:ph idx="1"/>
          </p:nvPr>
        </p:nvSpPr>
        <p:spPr>
          <a:xfrm>
            <a:off x="550416" y="2015732"/>
            <a:ext cx="11026065" cy="4100983"/>
          </a:xfrm>
        </p:spPr>
        <p:txBody>
          <a:bodyPr>
            <a:normAutofit lnSpcReduction="10000"/>
          </a:bodyPr>
          <a:lstStyle/>
          <a:p>
            <a:r>
              <a:rPr lang="en-US" dirty="0"/>
              <a:t>Depending on the hardware available, the operating system can schedule several threads for concurrent execution. This is called </a:t>
            </a:r>
            <a:r>
              <a:rPr lang="en-US" dirty="0">
                <a:highlight>
                  <a:srgbClr val="FFFF00"/>
                </a:highlight>
              </a:rPr>
              <a:t>multi-threading</a:t>
            </a:r>
            <a:r>
              <a:rPr lang="en-US" dirty="0"/>
              <a:t>. </a:t>
            </a:r>
          </a:p>
          <a:p>
            <a:r>
              <a:rPr lang="en-US" dirty="0"/>
              <a:t>While the operating system completely controls the multi-tasking of its loaded processes, we can include within each process instructions that control multi-threading of that process' various tasks.</a:t>
            </a:r>
          </a:p>
          <a:p>
            <a:r>
              <a:rPr lang="en-US" dirty="0"/>
              <a:t>A context switch on a thread is similar to a context switch on a process. As a processor waits to complete a software thread's communication, the scheduler blocks the thread and may switch to another thread. Importantly, a context switch on a thread is much less computationally intensive than a context switch on a process. </a:t>
            </a:r>
          </a:p>
          <a:p>
            <a:r>
              <a:rPr lang="en-US" dirty="0"/>
              <a:t>The processor time required may be in the order of several hundred clock cycles. In other words, a thread is the lighter unit of system scheduling, while a process is the heavier.</a:t>
            </a:r>
            <a:endParaRPr lang="en-CA" dirty="0"/>
          </a:p>
          <a:p>
            <a:endParaRPr lang="en-CA" dirty="0"/>
          </a:p>
        </p:txBody>
      </p:sp>
    </p:spTree>
    <p:extLst>
      <p:ext uri="{BB962C8B-B14F-4D97-AF65-F5344CB8AC3E}">
        <p14:creationId xmlns:p14="http://schemas.microsoft.com/office/powerpoint/2010/main" val="1559837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333E-3267-2CB3-6461-8122D55E6472}"/>
              </a:ext>
            </a:extLst>
          </p:cNvPr>
          <p:cNvSpPr>
            <a:spLocks noGrp="1"/>
          </p:cNvSpPr>
          <p:nvPr>
            <p:ph type="title"/>
          </p:nvPr>
        </p:nvSpPr>
        <p:spPr/>
        <p:txBody>
          <a:bodyPr/>
          <a:lstStyle/>
          <a:p>
            <a:r>
              <a:rPr lang="en-US" dirty="0"/>
              <a:t>Terminology​</a:t>
            </a:r>
            <a:br>
              <a:rPr lang="en-US" dirty="0"/>
            </a:br>
            <a:endParaRPr lang="en-CA" dirty="0"/>
          </a:p>
        </p:txBody>
      </p:sp>
      <p:sp>
        <p:nvSpPr>
          <p:cNvPr id="3" name="Content Placeholder 2">
            <a:extLst>
              <a:ext uri="{FF2B5EF4-FFF2-40B4-BE49-F238E27FC236}">
                <a16:creationId xmlns:a16="http://schemas.microsoft.com/office/drawing/2014/main" id="{E0F22B6B-33F6-5A75-1233-1C116193C538}"/>
              </a:ext>
            </a:extLst>
          </p:cNvPr>
          <p:cNvSpPr>
            <a:spLocks noGrp="1"/>
          </p:cNvSpPr>
          <p:nvPr>
            <p:ph idx="1"/>
          </p:nvPr>
        </p:nvSpPr>
        <p:spPr/>
        <p:txBody>
          <a:bodyPr/>
          <a:lstStyle/>
          <a:p>
            <a:r>
              <a:rPr lang="en-US" dirty="0"/>
              <a:t>A process starts executing on a single thread. When it encounters an instruction that divides the execution path into </a:t>
            </a:r>
            <a:r>
              <a:rPr lang="en-US" dirty="0">
                <a:highlight>
                  <a:srgbClr val="FFFF00"/>
                </a:highlight>
              </a:rPr>
              <a:t>concurrent tasks</a:t>
            </a:r>
            <a:r>
              <a:rPr lang="en-US" dirty="0"/>
              <a:t>, we say that the process launches a concurrent task or spawns a </a:t>
            </a:r>
            <a:r>
              <a:rPr lang="en-US" dirty="0">
                <a:highlight>
                  <a:srgbClr val="FFFF00"/>
                </a:highlight>
              </a:rPr>
              <a:t>child thread</a:t>
            </a:r>
            <a:r>
              <a:rPr lang="en-US" dirty="0"/>
              <a:t>. When the child thread reunites with its parent, we say that the two join or the </a:t>
            </a:r>
            <a:r>
              <a:rPr lang="en-US" dirty="0">
                <a:highlight>
                  <a:srgbClr val="FFFF00"/>
                </a:highlight>
              </a:rPr>
              <a:t>child and parent threads synchronize</a:t>
            </a:r>
            <a:r>
              <a:rPr lang="en-US" dirty="0"/>
              <a:t>. The join point in the execution path is the </a:t>
            </a:r>
            <a:r>
              <a:rPr lang="en-US" dirty="0">
                <a:highlight>
                  <a:srgbClr val="FFFF00"/>
                </a:highlight>
              </a:rPr>
              <a:t>synchronization point</a:t>
            </a:r>
            <a:r>
              <a:rPr lang="en-US" dirty="0"/>
              <a:t>. If either task is still executing when the one thread reaches this point, that thread waits until the other has completed its task.</a:t>
            </a:r>
            <a:endParaRPr lang="en-CA" dirty="0"/>
          </a:p>
        </p:txBody>
      </p:sp>
    </p:spTree>
    <p:extLst>
      <p:ext uri="{BB962C8B-B14F-4D97-AF65-F5344CB8AC3E}">
        <p14:creationId xmlns:p14="http://schemas.microsoft.com/office/powerpoint/2010/main" val="1698100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A12A6-DF7E-2B99-FB9A-C0922394712B}"/>
              </a:ext>
            </a:extLst>
          </p:cNvPr>
          <p:cNvSpPr>
            <a:spLocks noGrp="1"/>
          </p:cNvSpPr>
          <p:nvPr>
            <p:ph type="title"/>
          </p:nvPr>
        </p:nvSpPr>
        <p:spPr/>
        <p:txBody>
          <a:bodyPr/>
          <a:lstStyle/>
          <a:p>
            <a:r>
              <a:rPr lang="en-US" dirty="0"/>
              <a:t>Shared Memory</a:t>
            </a:r>
            <a:endParaRPr lang="en-CA" dirty="0"/>
          </a:p>
        </p:txBody>
      </p:sp>
      <p:sp>
        <p:nvSpPr>
          <p:cNvPr id="3" name="Content Placeholder 2">
            <a:extLst>
              <a:ext uri="{FF2B5EF4-FFF2-40B4-BE49-F238E27FC236}">
                <a16:creationId xmlns:a16="http://schemas.microsoft.com/office/drawing/2014/main" id="{9D95FE17-A71D-CBA2-0384-F652A74E5FB9}"/>
              </a:ext>
            </a:extLst>
          </p:cNvPr>
          <p:cNvSpPr>
            <a:spLocks noGrp="1"/>
          </p:cNvSpPr>
          <p:nvPr>
            <p:ph idx="1"/>
          </p:nvPr>
        </p:nvSpPr>
        <p:spPr/>
        <p:txBody>
          <a:bodyPr/>
          <a:lstStyle/>
          <a:p>
            <a:r>
              <a:rPr lang="en-US" dirty="0"/>
              <a:t>​Multi-threaded programs share memory. Their complexity arises from the possibility of a thread accessing variables that it shares with other threads. Users expect the results of a program to be reproducible no matter how many times they are run. With multi-threaded programs, users expect the same results for the same set of inputs. That is, they expect a determinate solution. Since the order in which threads execute their instructions is indeterminate, multi-threaded programming demands attention and care whenever concurrently executing threads access a shared variable.</a:t>
            </a:r>
          </a:p>
          <a:p>
            <a:endParaRPr lang="en-CA" dirty="0"/>
          </a:p>
        </p:txBody>
      </p:sp>
    </p:spTree>
    <p:extLst>
      <p:ext uri="{BB962C8B-B14F-4D97-AF65-F5344CB8AC3E}">
        <p14:creationId xmlns:p14="http://schemas.microsoft.com/office/powerpoint/2010/main" val="1386092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DB2F8-5384-6AB9-C5CA-0D6DE882D003}"/>
              </a:ext>
            </a:extLst>
          </p:cNvPr>
          <p:cNvSpPr>
            <a:spLocks noGrp="1"/>
          </p:cNvSpPr>
          <p:nvPr>
            <p:ph type="title"/>
          </p:nvPr>
        </p:nvSpPr>
        <p:spPr/>
        <p:txBody>
          <a:bodyPr/>
          <a:lstStyle/>
          <a:p>
            <a:r>
              <a:rPr lang="en-US" dirty="0"/>
              <a:t>Shared State​</a:t>
            </a:r>
            <a:br>
              <a:rPr lang="en-US" dirty="0"/>
            </a:br>
            <a:endParaRPr lang="en-CA" dirty="0"/>
          </a:p>
        </p:txBody>
      </p:sp>
      <p:sp>
        <p:nvSpPr>
          <p:cNvPr id="3" name="Content Placeholder 2">
            <a:extLst>
              <a:ext uri="{FF2B5EF4-FFF2-40B4-BE49-F238E27FC236}">
                <a16:creationId xmlns:a16="http://schemas.microsoft.com/office/drawing/2014/main" id="{E622570E-4733-FA16-0675-C9F2E094DBF7}"/>
              </a:ext>
            </a:extLst>
          </p:cNvPr>
          <p:cNvSpPr>
            <a:spLocks noGrp="1"/>
          </p:cNvSpPr>
          <p:nvPr>
            <p:ph idx="1"/>
          </p:nvPr>
        </p:nvSpPr>
        <p:spPr/>
        <p:txBody>
          <a:bodyPr/>
          <a:lstStyle/>
          <a:p>
            <a:r>
              <a:rPr lang="en-US" dirty="0"/>
              <a:t>A shared state is a state shared by two threads for the purpose of communicating a value from one thread to the other. C++11 uses this technique in its thread libraries.</a:t>
            </a:r>
            <a:endParaRPr lang="en-CA" dirty="0"/>
          </a:p>
        </p:txBody>
      </p:sp>
    </p:spTree>
    <p:extLst>
      <p:ext uri="{BB962C8B-B14F-4D97-AF65-F5344CB8AC3E}">
        <p14:creationId xmlns:p14="http://schemas.microsoft.com/office/powerpoint/2010/main" val="3440858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7789-AD3B-9CD9-528A-1A97DBCF07C6}"/>
              </a:ext>
            </a:extLst>
          </p:cNvPr>
          <p:cNvSpPr>
            <a:spLocks noGrp="1"/>
          </p:cNvSpPr>
          <p:nvPr>
            <p:ph type="title"/>
          </p:nvPr>
        </p:nvSpPr>
        <p:spPr/>
        <p:txBody>
          <a:bodyPr/>
          <a:lstStyle/>
          <a:p>
            <a:r>
              <a:rPr lang="en-US" dirty="0"/>
              <a:t>Mutexes, Locks, and Atomics​</a:t>
            </a:r>
            <a:br>
              <a:rPr lang="en-US" dirty="0"/>
            </a:br>
            <a:endParaRPr lang="en-CA" dirty="0"/>
          </a:p>
        </p:txBody>
      </p:sp>
      <p:sp>
        <p:nvSpPr>
          <p:cNvPr id="3" name="Content Placeholder 2">
            <a:extLst>
              <a:ext uri="{FF2B5EF4-FFF2-40B4-BE49-F238E27FC236}">
                <a16:creationId xmlns:a16="http://schemas.microsoft.com/office/drawing/2014/main" id="{6A4AA056-D168-34E6-A9BB-E25B4C1DA71A}"/>
              </a:ext>
            </a:extLst>
          </p:cNvPr>
          <p:cNvSpPr>
            <a:spLocks noGrp="1"/>
          </p:cNvSpPr>
          <p:nvPr>
            <p:ph idx="1"/>
          </p:nvPr>
        </p:nvSpPr>
        <p:spPr/>
        <p:txBody>
          <a:bodyPr/>
          <a:lstStyle/>
          <a:p>
            <a:r>
              <a:rPr lang="en-US" dirty="0"/>
              <a:t>Mutex stands for </a:t>
            </a:r>
            <a:r>
              <a:rPr lang="en-US" dirty="0">
                <a:highlight>
                  <a:srgbClr val="FFFF00"/>
                </a:highlight>
              </a:rPr>
              <a:t>mutual exclusion</a:t>
            </a:r>
            <a:r>
              <a:rPr lang="en-US" dirty="0"/>
              <a:t>. It is a technique that excludes access by other threads to a memory location while a particular thread updates the value at that location. Mutexes are implemented using locks. The thread that is changing the value owns a lock on the memory locations and must release it before any other thread can acquire that lock.</a:t>
            </a:r>
          </a:p>
          <a:p>
            <a:r>
              <a:rPr lang="en-US" dirty="0"/>
              <a:t>The C++11 thread libraries include a library for implementing mutexes and locks. This technique, which is used in many multi-threaded programming solutions is beyond the scope of these notes.</a:t>
            </a:r>
          </a:p>
          <a:p>
            <a:endParaRPr lang="en-CA" dirty="0"/>
          </a:p>
        </p:txBody>
      </p:sp>
    </p:spTree>
    <p:extLst>
      <p:ext uri="{BB962C8B-B14F-4D97-AF65-F5344CB8AC3E}">
        <p14:creationId xmlns:p14="http://schemas.microsoft.com/office/powerpoint/2010/main" val="1573852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C6D8-0DAD-0EBC-B494-8BE6DF6BD165}"/>
              </a:ext>
            </a:extLst>
          </p:cNvPr>
          <p:cNvSpPr>
            <a:spLocks noGrp="1"/>
          </p:cNvSpPr>
          <p:nvPr>
            <p:ph type="title"/>
          </p:nvPr>
        </p:nvSpPr>
        <p:spPr/>
        <p:txBody>
          <a:bodyPr/>
          <a:lstStyle/>
          <a:p>
            <a:r>
              <a:rPr lang="en-US" dirty="0"/>
              <a:t>Atomics​</a:t>
            </a:r>
            <a:br>
              <a:rPr lang="en-US" dirty="0"/>
            </a:br>
            <a:endParaRPr lang="en-CA" dirty="0"/>
          </a:p>
        </p:txBody>
      </p:sp>
      <p:sp>
        <p:nvSpPr>
          <p:cNvPr id="3" name="Content Placeholder 2">
            <a:extLst>
              <a:ext uri="{FF2B5EF4-FFF2-40B4-BE49-F238E27FC236}">
                <a16:creationId xmlns:a16="http://schemas.microsoft.com/office/drawing/2014/main" id="{152E042F-796B-CAF3-FD80-D805657F0298}"/>
              </a:ext>
            </a:extLst>
          </p:cNvPr>
          <p:cNvSpPr>
            <a:spLocks noGrp="1"/>
          </p:cNvSpPr>
          <p:nvPr>
            <p:ph idx="1"/>
          </p:nvPr>
        </p:nvSpPr>
        <p:spPr/>
        <p:txBody>
          <a:bodyPr>
            <a:normAutofit/>
          </a:bodyPr>
          <a:lstStyle/>
          <a:p>
            <a:r>
              <a:rPr lang="en-US" dirty="0"/>
              <a:t>The C++11 libraries also include an atomics library for implementing lock-free execution of instruction. Atomics treat an instruction as indivisible. This technique is used in many multi-threaded programming solutions and is also beyond the scope of these notes.</a:t>
            </a:r>
          </a:p>
          <a:p>
            <a:endParaRPr lang="en-US" dirty="0"/>
          </a:p>
        </p:txBody>
      </p:sp>
    </p:spTree>
    <p:extLst>
      <p:ext uri="{BB962C8B-B14F-4D97-AF65-F5344CB8AC3E}">
        <p14:creationId xmlns:p14="http://schemas.microsoft.com/office/powerpoint/2010/main" val="2542399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C802-E726-1D1C-AF82-FE066CDB65C5}"/>
              </a:ext>
            </a:extLst>
          </p:cNvPr>
          <p:cNvSpPr>
            <a:spLocks noGrp="1"/>
          </p:cNvSpPr>
          <p:nvPr>
            <p:ph type="title"/>
          </p:nvPr>
        </p:nvSpPr>
        <p:spPr/>
        <p:txBody>
          <a:bodyPr/>
          <a:lstStyle/>
          <a:p>
            <a:r>
              <a:rPr lang="en-US" dirty="0"/>
              <a:t>Deadlock​</a:t>
            </a:r>
            <a:br>
              <a:rPr lang="en-US" dirty="0"/>
            </a:br>
            <a:endParaRPr lang="en-CA" dirty="0"/>
          </a:p>
        </p:txBody>
      </p:sp>
      <p:sp>
        <p:nvSpPr>
          <p:cNvPr id="3" name="Content Placeholder 2">
            <a:extLst>
              <a:ext uri="{FF2B5EF4-FFF2-40B4-BE49-F238E27FC236}">
                <a16:creationId xmlns:a16="http://schemas.microsoft.com/office/drawing/2014/main" id="{402AB0F5-ABB7-326E-588D-8D25C4BF0164}"/>
              </a:ext>
            </a:extLst>
          </p:cNvPr>
          <p:cNvSpPr>
            <a:spLocks noGrp="1"/>
          </p:cNvSpPr>
          <p:nvPr>
            <p:ph idx="1"/>
          </p:nvPr>
        </p:nvSpPr>
        <p:spPr/>
        <p:txBody>
          <a:bodyPr/>
          <a:lstStyle/>
          <a:p>
            <a:r>
              <a:rPr lang="en-US" dirty="0"/>
              <a:t>A deadlock occurs when two or more threads are waiting for one another to complete execution and therefore are blocked forever.</a:t>
            </a:r>
            <a:endParaRPr lang="en-CA" dirty="0"/>
          </a:p>
          <a:p>
            <a:endParaRPr lang="en-CA" dirty="0"/>
          </a:p>
        </p:txBody>
      </p:sp>
    </p:spTree>
    <p:extLst>
      <p:ext uri="{BB962C8B-B14F-4D97-AF65-F5344CB8AC3E}">
        <p14:creationId xmlns:p14="http://schemas.microsoft.com/office/powerpoint/2010/main" val="3326445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8E597-CA90-D5B5-EE4A-1D57C40E0DC9}"/>
              </a:ext>
            </a:extLst>
          </p:cNvPr>
          <p:cNvSpPr>
            <a:spLocks noGrp="1"/>
          </p:cNvSpPr>
          <p:nvPr>
            <p:ph type="title"/>
          </p:nvPr>
        </p:nvSpPr>
        <p:spPr/>
        <p:txBody>
          <a:bodyPr>
            <a:normAutofit/>
          </a:bodyPr>
          <a:lstStyle/>
          <a:p>
            <a:r>
              <a:rPr lang="en-US" dirty="0"/>
              <a:t>Policy-Based Execution​-Execution Policies​</a:t>
            </a:r>
            <a:br>
              <a:rPr lang="en-US" dirty="0"/>
            </a:br>
            <a:endParaRPr lang="en-CA" dirty="0"/>
          </a:p>
        </p:txBody>
      </p:sp>
      <p:sp>
        <p:nvSpPr>
          <p:cNvPr id="3" name="Content Placeholder 2">
            <a:extLst>
              <a:ext uri="{FF2B5EF4-FFF2-40B4-BE49-F238E27FC236}">
                <a16:creationId xmlns:a16="http://schemas.microsoft.com/office/drawing/2014/main" id="{7732C8FF-7B91-357D-7240-D08FD034B412}"/>
              </a:ext>
            </a:extLst>
          </p:cNvPr>
          <p:cNvSpPr>
            <a:spLocks noGrp="1"/>
          </p:cNvSpPr>
          <p:nvPr>
            <p:ph idx="1"/>
          </p:nvPr>
        </p:nvSpPr>
        <p:spPr>
          <a:xfrm>
            <a:off x="630315" y="1926453"/>
            <a:ext cx="11008310" cy="4190261"/>
          </a:xfrm>
        </p:spPr>
        <p:txBody>
          <a:bodyPr>
            <a:normAutofit lnSpcReduction="10000"/>
          </a:bodyPr>
          <a:lstStyle/>
          <a:p>
            <a:r>
              <a:rPr lang="en-US" dirty="0"/>
              <a:t>C++17 introduced execution policies to specify the method of computation on multi-threaded and vector hardware. The C++17 version of the STL algorithms accommodates these policies.</a:t>
            </a:r>
          </a:p>
          <a:p>
            <a:r>
              <a:rPr lang="en-US" dirty="0"/>
              <a:t>Policy Types​: C++17 identifies three policy types:</a:t>
            </a:r>
          </a:p>
          <a:p>
            <a:r>
              <a:rPr lang="en-US" dirty="0">
                <a:highlight>
                  <a:srgbClr val="FFFF00"/>
                </a:highlight>
              </a:rPr>
              <a:t>std::execution::</a:t>
            </a:r>
            <a:r>
              <a:rPr lang="en-US" dirty="0" err="1">
                <a:highlight>
                  <a:srgbClr val="FFFF00"/>
                </a:highlight>
              </a:rPr>
              <a:t>sequenced_policy</a:t>
            </a:r>
            <a:r>
              <a:rPr lang="en-US" dirty="0">
                <a:highlight>
                  <a:srgbClr val="FFFF00"/>
                </a:highlight>
              </a:rPr>
              <a:t> </a:t>
            </a:r>
            <a:r>
              <a:rPr lang="en-US" dirty="0"/>
              <a:t>- execution may not be parallelized: the element access functions are indeterminately sequenced in the calling thread</a:t>
            </a:r>
          </a:p>
          <a:p>
            <a:r>
              <a:rPr lang="en-US" dirty="0">
                <a:highlight>
                  <a:srgbClr val="FFFF00"/>
                </a:highlight>
              </a:rPr>
              <a:t>std::execution::</a:t>
            </a:r>
            <a:r>
              <a:rPr lang="en-US" dirty="0" err="1">
                <a:highlight>
                  <a:srgbClr val="FFFF00"/>
                </a:highlight>
              </a:rPr>
              <a:t>parallel_policy</a:t>
            </a:r>
            <a:r>
              <a:rPr lang="en-US" dirty="0">
                <a:highlight>
                  <a:srgbClr val="FFFF00"/>
                </a:highlight>
              </a:rPr>
              <a:t> </a:t>
            </a:r>
            <a:r>
              <a:rPr lang="en-US" dirty="0"/>
              <a:t>- execution may be parallelized: the element access functions may execute in either the invoking thread or in a thread implicitly created by the library to support parallel algorithm execution</a:t>
            </a:r>
          </a:p>
          <a:p>
            <a:r>
              <a:rPr lang="en-US" dirty="0">
                <a:highlight>
                  <a:srgbClr val="FFFF00"/>
                </a:highlight>
              </a:rPr>
              <a:t>std::execution::</a:t>
            </a:r>
            <a:r>
              <a:rPr lang="en-US" dirty="0" err="1">
                <a:highlight>
                  <a:srgbClr val="FFFF00"/>
                </a:highlight>
              </a:rPr>
              <a:t>parallel_unsequenced_policy</a:t>
            </a:r>
            <a:r>
              <a:rPr lang="en-US" dirty="0">
                <a:highlight>
                  <a:srgbClr val="FFFF00"/>
                </a:highlight>
              </a:rPr>
              <a:t> </a:t>
            </a:r>
            <a:r>
              <a:rPr lang="en-US" dirty="0"/>
              <a:t>- execution may be parallelized, vectorized or migrated across threads: the element access functions may execute in unordered fashion in unspecified threads</a:t>
            </a:r>
            <a:endParaRPr lang="en-CA" dirty="0"/>
          </a:p>
        </p:txBody>
      </p:sp>
    </p:spTree>
    <p:extLst>
      <p:ext uri="{BB962C8B-B14F-4D97-AF65-F5344CB8AC3E}">
        <p14:creationId xmlns:p14="http://schemas.microsoft.com/office/powerpoint/2010/main" val="743123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2948A-0F7B-E3DB-B3D8-7D53256AEE72}"/>
              </a:ext>
            </a:extLst>
          </p:cNvPr>
          <p:cNvSpPr>
            <a:spLocks noGrp="1"/>
          </p:cNvSpPr>
          <p:nvPr>
            <p:ph type="title"/>
          </p:nvPr>
        </p:nvSpPr>
        <p:spPr/>
        <p:txBody>
          <a:bodyPr/>
          <a:lstStyle/>
          <a:p>
            <a:r>
              <a:rPr lang="en-CA" dirty="0"/>
              <a:t>Example</a:t>
            </a:r>
          </a:p>
        </p:txBody>
      </p:sp>
      <p:sp>
        <p:nvSpPr>
          <p:cNvPr id="3" name="Content Placeholder 2">
            <a:extLst>
              <a:ext uri="{FF2B5EF4-FFF2-40B4-BE49-F238E27FC236}">
                <a16:creationId xmlns:a16="http://schemas.microsoft.com/office/drawing/2014/main" id="{4AB2A049-93F2-32CF-7244-BB8C0B4A2AD4}"/>
              </a:ext>
            </a:extLst>
          </p:cNvPr>
          <p:cNvSpPr>
            <a:spLocks noGrp="1"/>
          </p:cNvSpPr>
          <p:nvPr>
            <p:ph idx="1"/>
          </p:nvPr>
        </p:nvSpPr>
        <p:spPr/>
        <p:txBody>
          <a:bodyPr/>
          <a:lstStyle/>
          <a:p>
            <a:r>
              <a:rPr lang="en-US" dirty="0">
                <a:hlinkClick r:id="rId2"/>
              </a:rPr>
              <a:t>Multithreading | Object Oriented Software Development (C++) (sdds.ca)</a:t>
            </a:r>
            <a:endParaRPr lang="en-CA" dirty="0"/>
          </a:p>
        </p:txBody>
      </p:sp>
    </p:spTree>
    <p:extLst>
      <p:ext uri="{BB962C8B-B14F-4D97-AF65-F5344CB8AC3E}">
        <p14:creationId xmlns:p14="http://schemas.microsoft.com/office/powerpoint/2010/main" val="734183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3530-A8AF-5ED6-7B76-176F6207E0A3}"/>
              </a:ext>
            </a:extLst>
          </p:cNvPr>
          <p:cNvSpPr>
            <a:spLocks noGrp="1"/>
          </p:cNvSpPr>
          <p:nvPr>
            <p:ph type="title"/>
          </p:nvPr>
        </p:nvSpPr>
        <p:spPr/>
        <p:txBody>
          <a:bodyPr/>
          <a:lstStyle/>
          <a:p>
            <a:r>
              <a:rPr lang="en-US" dirty="0"/>
              <a:t>Thread Class</a:t>
            </a:r>
            <a:endParaRPr lang="en-CA" dirty="0"/>
          </a:p>
        </p:txBody>
      </p:sp>
      <p:sp>
        <p:nvSpPr>
          <p:cNvPr id="3" name="Content Placeholder 2">
            <a:extLst>
              <a:ext uri="{FF2B5EF4-FFF2-40B4-BE49-F238E27FC236}">
                <a16:creationId xmlns:a16="http://schemas.microsoft.com/office/drawing/2014/main" id="{8366BD0D-D7D2-445D-CF51-25AEFCE9CFA6}"/>
              </a:ext>
            </a:extLst>
          </p:cNvPr>
          <p:cNvSpPr>
            <a:spLocks noGrp="1"/>
          </p:cNvSpPr>
          <p:nvPr>
            <p:ph idx="1"/>
          </p:nvPr>
        </p:nvSpPr>
        <p:spPr/>
        <p:txBody>
          <a:bodyPr>
            <a:normAutofit/>
          </a:bodyPr>
          <a:lstStyle/>
          <a:p>
            <a:r>
              <a:rPr lang="en-US" dirty="0"/>
              <a:t>​The thread class defines an object that represents a single thread of execution in a process. The thread class template is defined in the header file &lt;thread&gt;.</a:t>
            </a:r>
          </a:p>
          <a:p>
            <a:r>
              <a:rPr lang="en-US" dirty="0"/>
              <a:t>A thread object is either joinable or not-joinable. A joinable object represents an actual thread of execution with a unique id. A non-joinable object represents a potential thread of execution (the object is not associated yet with a hardware thread, or the thread has been already joined). Operations on a thread object can change its joinable/non-joinable state.</a:t>
            </a:r>
            <a:endParaRPr lang="en-CA" dirty="0"/>
          </a:p>
        </p:txBody>
      </p:sp>
    </p:spTree>
    <p:extLst>
      <p:ext uri="{BB962C8B-B14F-4D97-AF65-F5344CB8AC3E}">
        <p14:creationId xmlns:p14="http://schemas.microsoft.com/office/powerpoint/2010/main" val="37182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4549-102E-86BC-EA64-E5114AF9DC25}"/>
              </a:ext>
            </a:extLst>
          </p:cNvPr>
          <p:cNvSpPr>
            <a:spLocks noGrp="1"/>
          </p:cNvSpPr>
          <p:nvPr>
            <p:ph type="title"/>
          </p:nvPr>
        </p:nvSpPr>
        <p:spPr>
          <a:xfrm>
            <a:off x="-66502" y="0"/>
            <a:ext cx="9603275" cy="1049235"/>
          </a:xfrm>
        </p:spPr>
        <p:txBody>
          <a:bodyPr/>
          <a:lstStyle/>
          <a:p>
            <a:r>
              <a:rPr lang="en-US" dirty="0"/>
              <a:t>Example​</a:t>
            </a:r>
            <a:br>
              <a:rPr lang="en-US" dirty="0"/>
            </a:br>
            <a:endParaRPr lang="en-CA" dirty="0"/>
          </a:p>
        </p:txBody>
      </p:sp>
      <p:sp>
        <p:nvSpPr>
          <p:cNvPr id="3" name="Content Placeholder 2">
            <a:extLst>
              <a:ext uri="{FF2B5EF4-FFF2-40B4-BE49-F238E27FC236}">
                <a16:creationId xmlns:a16="http://schemas.microsoft.com/office/drawing/2014/main" id="{893C16B8-8818-57AE-3F63-698886685591}"/>
              </a:ext>
            </a:extLst>
          </p:cNvPr>
          <p:cNvSpPr>
            <a:spLocks noGrp="1"/>
          </p:cNvSpPr>
          <p:nvPr>
            <p:ph idx="1"/>
          </p:nvPr>
        </p:nvSpPr>
        <p:spPr>
          <a:xfrm>
            <a:off x="363985" y="1421262"/>
            <a:ext cx="2485747" cy="5281379"/>
          </a:xfrm>
        </p:spPr>
        <p:txBody>
          <a:bodyPr>
            <a:normAutofit/>
          </a:bodyPr>
          <a:lstStyle/>
          <a:p>
            <a:r>
              <a:rPr lang="en-US" dirty="0"/>
              <a:t>The following program executes three tasks concurrently. It spawns two child threads from its main thread, executes all three tasks and waits in its main thread for the spawned threads to finish.</a:t>
            </a:r>
            <a:endParaRPr lang="en-CA" dirty="0"/>
          </a:p>
        </p:txBody>
      </p:sp>
      <p:pic>
        <p:nvPicPr>
          <p:cNvPr id="6" name="Picture 5">
            <a:extLst>
              <a:ext uri="{FF2B5EF4-FFF2-40B4-BE49-F238E27FC236}">
                <a16:creationId xmlns:a16="http://schemas.microsoft.com/office/drawing/2014/main" id="{ED158294-50C3-C54D-1EB9-D3799D8892C3}"/>
              </a:ext>
            </a:extLst>
          </p:cNvPr>
          <p:cNvPicPr>
            <a:picLocks noChangeAspect="1"/>
          </p:cNvPicPr>
          <p:nvPr/>
        </p:nvPicPr>
        <p:blipFill>
          <a:blip r:embed="rId2"/>
          <a:stretch>
            <a:fillRect/>
          </a:stretch>
        </p:blipFill>
        <p:spPr>
          <a:xfrm>
            <a:off x="3106547" y="0"/>
            <a:ext cx="3922776" cy="6858000"/>
          </a:xfrm>
          <a:prstGeom prst="rect">
            <a:avLst/>
          </a:prstGeom>
        </p:spPr>
      </p:pic>
      <p:pic>
        <p:nvPicPr>
          <p:cNvPr id="4" name="Picture 3">
            <a:extLst>
              <a:ext uri="{FF2B5EF4-FFF2-40B4-BE49-F238E27FC236}">
                <a16:creationId xmlns:a16="http://schemas.microsoft.com/office/drawing/2014/main" id="{03D24673-945D-B520-06D2-4250B4265646}"/>
              </a:ext>
            </a:extLst>
          </p:cNvPr>
          <p:cNvPicPr>
            <a:picLocks noChangeAspect="1"/>
          </p:cNvPicPr>
          <p:nvPr/>
        </p:nvPicPr>
        <p:blipFill>
          <a:blip r:embed="rId3"/>
          <a:stretch>
            <a:fillRect/>
          </a:stretch>
        </p:blipFill>
        <p:spPr>
          <a:xfrm>
            <a:off x="6994408" y="0"/>
            <a:ext cx="5342021"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64315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AF06-EE75-A50F-4522-FE1068E0E6C1}"/>
              </a:ext>
            </a:extLst>
          </p:cNvPr>
          <p:cNvSpPr>
            <a:spLocks noGrp="1"/>
          </p:cNvSpPr>
          <p:nvPr>
            <p:ph type="title"/>
          </p:nvPr>
        </p:nvSpPr>
        <p:spPr/>
        <p:txBody>
          <a:bodyPr/>
          <a:lstStyle/>
          <a:p>
            <a:r>
              <a:rPr lang="en-US" dirty="0"/>
              <a:t>Thread Identifier</a:t>
            </a:r>
            <a:endParaRPr lang="en-CA" dirty="0"/>
          </a:p>
        </p:txBody>
      </p:sp>
      <p:sp>
        <p:nvSpPr>
          <p:cNvPr id="3" name="Content Placeholder 2">
            <a:extLst>
              <a:ext uri="{FF2B5EF4-FFF2-40B4-BE49-F238E27FC236}">
                <a16:creationId xmlns:a16="http://schemas.microsoft.com/office/drawing/2014/main" id="{DCA9BAED-D247-A6F8-AAB9-A6ECAAD1C78A}"/>
              </a:ext>
            </a:extLst>
          </p:cNvPr>
          <p:cNvSpPr>
            <a:spLocks noGrp="1"/>
          </p:cNvSpPr>
          <p:nvPr>
            <p:ph idx="1"/>
          </p:nvPr>
        </p:nvSpPr>
        <p:spPr>
          <a:xfrm>
            <a:off x="173195" y="2013552"/>
            <a:ext cx="6786897" cy="3612591"/>
          </a:xfrm>
        </p:spPr>
        <p:txBody>
          <a:bodyPr>
            <a:normAutofit/>
          </a:bodyPr>
          <a:lstStyle/>
          <a:p>
            <a:r>
              <a:rPr lang="en-US" dirty="0"/>
              <a:t>​The thread identifier of a joinable thread object is accessible from within the function executing the thread's task. </a:t>
            </a:r>
            <a:r>
              <a:rPr lang="en-US" dirty="0">
                <a:highlight>
                  <a:srgbClr val="FFFF00"/>
                </a:highlight>
              </a:rPr>
              <a:t>std::</a:t>
            </a:r>
            <a:r>
              <a:rPr lang="en-US" dirty="0" err="1">
                <a:highlight>
                  <a:srgbClr val="FFFF00"/>
                </a:highlight>
              </a:rPr>
              <a:t>this_thread</a:t>
            </a:r>
            <a:r>
              <a:rPr lang="en-US" dirty="0">
                <a:highlight>
                  <a:srgbClr val="FFFF00"/>
                </a:highlight>
              </a:rPr>
              <a:t>::</a:t>
            </a:r>
            <a:r>
              <a:rPr lang="en-US" dirty="0" err="1">
                <a:highlight>
                  <a:srgbClr val="FFFF00"/>
                </a:highlight>
              </a:rPr>
              <a:t>get_id</a:t>
            </a:r>
            <a:r>
              <a:rPr lang="en-US" dirty="0">
                <a:highlight>
                  <a:srgbClr val="FFFF00"/>
                </a:highlight>
              </a:rPr>
              <a:t>() </a:t>
            </a:r>
            <a:r>
              <a:rPr lang="en-US" dirty="0"/>
              <a:t>returns this identifier.</a:t>
            </a:r>
          </a:p>
          <a:p>
            <a:r>
              <a:rPr lang="en-US" dirty="0"/>
              <a:t>The following program launches 10 thread objects and displays their identifiers on standard output. The program creates each object through the constructor template with the address of a function as its sole argument:</a:t>
            </a:r>
          </a:p>
          <a:p>
            <a:endParaRPr lang="en-US" dirty="0"/>
          </a:p>
          <a:p>
            <a:endParaRPr lang="en-CA" dirty="0"/>
          </a:p>
        </p:txBody>
      </p:sp>
      <p:pic>
        <p:nvPicPr>
          <p:cNvPr id="7" name="Picture 6">
            <a:extLst>
              <a:ext uri="{FF2B5EF4-FFF2-40B4-BE49-F238E27FC236}">
                <a16:creationId xmlns:a16="http://schemas.microsoft.com/office/drawing/2014/main" id="{BEBE5C2E-3813-F43B-0B64-A8BE460B425D}"/>
              </a:ext>
            </a:extLst>
          </p:cNvPr>
          <p:cNvPicPr>
            <a:picLocks noChangeAspect="1"/>
          </p:cNvPicPr>
          <p:nvPr/>
        </p:nvPicPr>
        <p:blipFill>
          <a:blip r:embed="rId2"/>
          <a:stretch>
            <a:fillRect/>
          </a:stretch>
        </p:blipFill>
        <p:spPr>
          <a:xfrm>
            <a:off x="6841114" y="71021"/>
            <a:ext cx="5452110" cy="6858000"/>
          </a:xfrm>
          <a:prstGeom prst="rect">
            <a:avLst/>
          </a:prstGeom>
        </p:spPr>
      </p:pic>
    </p:spTree>
    <p:extLst>
      <p:ext uri="{BB962C8B-B14F-4D97-AF65-F5344CB8AC3E}">
        <p14:creationId xmlns:p14="http://schemas.microsoft.com/office/powerpoint/2010/main" val="3932871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9E39-851F-7F7B-998D-876C15468AA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5151A53-2DA5-B094-FEE7-C8B910DE4B8D}"/>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972306B1-55BD-F5D2-5AB3-061DF256B1F7}"/>
              </a:ext>
            </a:extLst>
          </p:cNvPr>
          <p:cNvPicPr>
            <a:picLocks noChangeAspect="1"/>
          </p:cNvPicPr>
          <p:nvPr/>
        </p:nvPicPr>
        <p:blipFill>
          <a:blip r:embed="rId2"/>
          <a:stretch>
            <a:fillRect/>
          </a:stretch>
        </p:blipFill>
        <p:spPr>
          <a:xfrm>
            <a:off x="199427" y="0"/>
            <a:ext cx="5703063" cy="6858000"/>
          </a:xfrm>
          <a:prstGeom prst="rect">
            <a:avLst/>
          </a:prstGeom>
        </p:spPr>
      </p:pic>
    </p:spTree>
    <p:extLst>
      <p:ext uri="{BB962C8B-B14F-4D97-AF65-F5344CB8AC3E}">
        <p14:creationId xmlns:p14="http://schemas.microsoft.com/office/powerpoint/2010/main" val="2249880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D68C-957C-06C0-2A3B-263CCA2793A1}"/>
              </a:ext>
            </a:extLst>
          </p:cNvPr>
          <p:cNvSpPr>
            <a:spLocks noGrp="1"/>
          </p:cNvSpPr>
          <p:nvPr>
            <p:ph type="title"/>
          </p:nvPr>
        </p:nvSpPr>
        <p:spPr>
          <a:xfrm>
            <a:off x="0" y="67673"/>
            <a:ext cx="9603275" cy="1049235"/>
          </a:xfrm>
        </p:spPr>
        <p:txBody>
          <a:bodyPr/>
          <a:lstStyle/>
          <a:p>
            <a:r>
              <a:rPr lang="en-US" dirty="0"/>
              <a:t>Function Object​</a:t>
            </a:r>
            <a:br>
              <a:rPr lang="en-US" dirty="0"/>
            </a:br>
            <a:endParaRPr lang="en-CA" dirty="0"/>
          </a:p>
        </p:txBody>
      </p:sp>
      <p:sp>
        <p:nvSpPr>
          <p:cNvPr id="3" name="Content Placeholder 2">
            <a:extLst>
              <a:ext uri="{FF2B5EF4-FFF2-40B4-BE49-F238E27FC236}">
                <a16:creationId xmlns:a16="http://schemas.microsoft.com/office/drawing/2014/main" id="{60A562EF-A39B-BC0E-E686-3D5FB8D4BDFD}"/>
              </a:ext>
            </a:extLst>
          </p:cNvPr>
          <p:cNvSpPr>
            <a:spLocks noGrp="1"/>
          </p:cNvSpPr>
          <p:nvPr>
            <p:ph idx="1"/>
          </p:nvPr>
        </p:nvSpPr>
        <p:spPr>
          <a:xfrm>
            <a:off x="102175" y="592290"/>
            <a:ext cx="5020242" cy="3450613"/>
          </a:xfrm>
        </p:spPr>
        <p:txBody>
          <a:bodyPr/>
          <a:lstStyle/>
          <a:p>
            <a:r>
              <a:rPr lang="en-US" dirty="0"/>
              <a:t>The function object version of the above example is as follows:</a:t>
            </a:r>
            <a:endParaRPr lang="en-CA" dirty="0"/>
          </a:p>
        </p:txBody>
      </p:sp>
      <p:pic>
        <p:nvPicPr>
          <p:cNvPr id="5" name="Picture 4">
            <a:extLst>
              <a:ext uri="{FF2B5EF4-FFF2-40B4-BE49-F238E27FC236}">
                <a16:creationId xmlns:a16="http://schemas.microsoft.com/office/drawing/2014/main" id="{FAFFBCB6-3127-B40F-CF0F-7F94E4D558F2}"/>
              </a:ext>
            </a:extLst>
          </p:cNvPr>
          <p:cNvPicPr>
            <a:picLocks noChangeAspect="1"/>
          </p:cNvPicPr>
          <p:nvPr/>
        </p:nvPicPr>
        <p:blipFill>
          <a:blip r:embed="rId2"/>
          <a:stretch>
            <a:fillRect/>
          </a:stretch>
        </p:blipFill>
        <p:spPr>
          <a:xfrm>
            <a:off x="102175" y="1695450"/>
            <a:ext cx="6438900" cy="5162550"/>
          </a:xfrm>
          <a:prstGeom prst="rect">
            <a:avLst/>
          </a:prstGeom>
          <a:ln w="889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A238FEE3-0E40-E727-BD85-D2E4E89CE783}"/>
              </a:ext>
            </a:extLst>
          </p:cNvPr>
          <p:cNvPicPr>
            <a:picLocks noChangeAspect="1"/>
          </p:cNvPicPr>
          <p:nvPr/>
        </p:nvPicPr>
        <p:blipFill>
          <a:blip r:embed="rId3"/>
          <a:stretch>
            <a:fillRect/>
          </a:stretch>
        </p:blipFill>
        <p:spPr>
          <a:xfrm>
            <a:off x="4385570" y="1863467"/>
            <a:ext cx="5772150" cy="3438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66068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5CD0-EEEC-3949-8355-6CA2A546E027}"/>
              </a:ext>
            </a:extLst>
          </p:cNvPr>
          <p:cNvSpPr>
            <a:spLocks noGrp="1"/>
          </p:cNvSpPr>
          <p:nvPr>
            <p:ph type="title"/>
          </p:nvPr>
        </p:nvSpPr>
        <p:spPr>
          <a:xfrm>
            <a:off x="0" y="0"/>
            <a:ext cx="9603275" cy="1049235"/>
          </a:xfrm>
        </p:spPr>
        <p:txBody>
          <a:bodyPr/>
          <a:lstStyle/>
          <a:p>
            <a:r>
              <a:rPr lang="en-US" dirty="0"/>
              <a:t>Lambda Expression​</a:t>
            </a:r>
            <a:br>
              <a:rPr lang="en-US" dirty="0"/>
            </a:br>
            <a:endParaRPr lang="en-CA" dirty="0"/>
          </a:p>
        </p:txBody>
      </p:sp>
      <p:sp>
        <p:nvSpPr>
          <p:cNvPr id="3" name="Content Placeholder 2">
            <a:extLst>
              <a:ext uri="{FF2B5EF4-FFF2-40B4-BE49-F238E27FC236}">
                <a16:creationId xmlns:a16="http://schemas.microsoft.com/office/drawing/2014/main" id="{F3BFBAFA-D4F1-169D-54A0-52D6A5D50BF8}"/>
              </a:ext>
            </a:extLst>
          </p:cNvPr>
          <p:cNvSpPr>
            <a:spLocks noGrp="1"/>
          </p:cNvSpPr>
          <p:nvPr>
            <p:ph idx="1"/>
          </p:nvPr>
        </p:nvSpPr>
        <p:spPr>
          <a:xfrm>
            <a:off x="390618" y="2202163"/>
            <a:ext cx="3968318" cy="5042015"/>
          </a:xfrm>
        </p:spPr>
        <p:txBody>
          <a:bodyPr/>
          <a:lstStyle/>
          <a:p>
            <a:r>
              <a:rPr lang="en-US" dirty="0"/>
              <a:t>The lambda expression version of the above example is more compact and accesses the index </a:t>
            </a:r>
            <a:r>
              <a:rPr lang="en-US" dirty="0" err="1"/>
              <a:t>i</a:t>
            </a:r>
            <a:r>
              <a:rPr lang="en-US" dirty="0"/>
              <a:t> by value as a non-local variable:</a:t>
            </a:r>
            <a:endParaRPr lang="en-CA" dirty="0"/>
          </a:p>
        </p:txBody>
      </p:sp>
      <p:pic>
        <p:nvPicPr>
          <p:cNvPr id="5" name="Picture 4">
            <a:extLst>
              <a:ext uri="{FF2B5EF4-FFF2-40B4-BE49-F238E27FC236}">
                <a16:creationId xmlns:a16="http://schemas.microsoft.com/office/drawing/2014/main" id="{1F08E112-74D3-6A4F-6E0B-6298BDF51582}"/>
              </a:ext>
            </a:extLst>
          </p:cNvPr>
          <p:cNvPicPr>
            <a:picLocks noChangeAspect="1"/>
          </p:cNvPicPr>
          <p:nvPr/>
        </p:nvPicPr>
        <p:blipFill>
          <a:blip r:embed="rId2"/>
          <a:stretch>
            <a:fillRect/>
          </a:stretch>
        </p:blipFill>
        <p:spPr>
          <a:xfrm>
            <a:off x="5170502" y="0"/>
            <a:ext cx="6858000" cy="6858000"/>
          </a:xfrm>
          <a:prstGeom prst="rect">
            <a:avLst/>
          </a:prstGeom>
        </p:spPr>
      </p:pic>
    </p:spTree>
    <p:extLst>
      <p:ext uri="{BB962C8B-B14F-4D97-AF65-F5344CB8AC3E}">
        <p14:creationId xmlns:p14="http://schemas.microsoft.com/office/powerpoint/2010/main" val="3624375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8252E-22A4-6AFB-7828-46F8AA7CDCF4}"/>
              </a:ext>
            </a:extLst>
          </p:cNvPr>
          <p:cNvSpPr>
            <a:spLocks noGrp="1"/>
          </p:cNvSpPr>
          <p:nvPr>
            <p:ph type="title"/>
          </p:nvPr>
        </p:nvSpPr>
        <p:spPr/>
        <p:txBody>
          <a:bodyPr/>
          <a:lstStyle/>
          <a:p>
            <a:r>
              <a:rPr lang="en-US" dirty="0"/>
              <a:t>future Library​</a:t>
            </a:r>
            <a:br>
              <a:rPr lang="en-US" dirty="0"/>
            </a:br>
            <a:endParaRPr lang="en-CA" dirty="0"/>
          </a:p>
        </p:txBody>
      </p:sp>
      <p:sp>
        <p:nvSpPr>
          <p:cNvPr id="3" name="Content Placeholder 2">
            <a:extLst>
              <a:ext uri="{FF2B5EF4-FFF2-40B4-BE49-F238E27FC236}">
                <a16:creationId xmlns:a16="http://schemas.microsoft.com/office/drawing/2014/main" id="{15CD26B1-212F-EE6C-7464-267EDE7ED54E}"/>
              </a:ext>
            </a:extLst>
          </p:cNvPr>
          <p:cNvSpPr>
            <a:spLocks noGrp="1"/>
          </p:cNvSpPr>
          <p:nvPr>
            <p:ph idx="1"/>
          </p:nvPr>
        </p:nvSpPr>
        <p:spPr>
          <a:xfrm>
            <a:off x="0" y="1344881"/>
            <a:ext cx="7038975" cy="4708600"/>
          </a:xfrm>
        </p:spPr>
        <p:txBody>
          <a:bodyPr>
            <a:normAutofit/>
          </a:bodyPr>
          <a:lstStyle/>
          <a:p>
            <a:r>
              <a:rPr lang="en-US" dirty="0"/>
              <a:t>The future library of the thread support category facilitates efficient transfer of values between tasks through shared states. The class and function templates that support communications across a shared state are defined in the header file &lt;future&gt;.</a:t>
            </a:r>
          </a:p>
          <a:p>
            <a:r>
              <a:rPr lang="en-US" dirty="0"/>
              <a:t>A future object retrieves a value that a provider has stored in a shared state. Each provider-future pair establishes a synchronization point for two tasks that are executing concurrently. The provider creates an empty shared state on initialization. Once the provider has supplied a value to that shared state, that state is ready for access by the future object associated with that provider. A shared state can survive the lifetime of its provider.</a:t>
            </a:r>
            <a:endParaRPr lang="en-CA" dirty="0"/>
          </a:p>
        </p:txBody>
      </p:sp>
      <p:pic>
        <p:nvPicPr>
          <p:cNvPr id="5" name="Picture 4">
            <a:extLst>
              <a:ext uri="{FF2B5EF4-FFF2-40B4-BE49-F238E27FC236}">
                <a16:creationId xmlns:a16="http://schemas.microsoft.com/office/drawing/2014/main" id="{9B6BC6C7-FED6-EA7A-4985-9D76843F51E6}"/>
              </a:ext>
            </a:extLst>
          </p:cNvPr>
          <p:cNvPicPr>
            <a:picLocks noChangeAspect="1"/>
          </p:cNvPicPr>
          <p:nvPr/>
        </p:nvPicPr>
        <p:blipFill>
          <a:blip r:embed="rId2"/>
          <a:stretch>
            <a:fillRect/>
          </a:stretch>
        </p:blipFill>
        <p:spPr>
          <a:xfrm>
            <a:off x="7038975" y="804519"/>
            <a:ext cx="5153025" cy="3990975"/>
          </a:xfrm>
          <a:prstGeom prst="rect">
            <a:avLst/>
          </a:prstGeom>
        </p:spPr>
      </p:pic>
    </p:spTree>
    <p:extLst>
      <p:ext uri="{BB962C8B-B14F-4D97-AF65-F5344CB8AC3E}">
        <p14:creationId xmlns:p14="http://schemas.microsoft.com/office/powerpoint/2010/main" val="3679555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8DE-9136-984E-A9F2-41AEEB5E41FE}"/>
              </a:ext>
            </a:extLst>
          </p:cNvPr>
          <p:cNvSpPr>
            <a:spLocks noGrp="1"/>
          </p:cNvSpPr>
          <p:nvPr>
            <p:ph type="title"/>
          </p:nvPr>
        </p:nvSpPr>
        <p:spPr>
          <a:xfrm>
            <a:off x="1294362" y="94306"/>
            <a:ext cx="9603275" cy="1049235"/>
          </a:xfrm>
        </p:spPr>
        <p:txBody>
          <a:bodyPr/>
          <a:lstStyle/>
          <a:p>
            <a:r>
              <a:rPr lang="en-US" dirty="0"/>
              <a:t>Futures</a:t>
            </a:r>
            <a:endParaRPr lang="en-CA" dirty="0"/>
          </a:p>
        </p:txBody>
      </p:sp>
      <p:sp>
        <p:nvSpPr>
          <p:cNvPr id="3" name="Content Placeholder 2">
            <a:extLst>
              <a:ext uri="{FF2B5EF4-FFF2-40B4-BE49-F238E27FC236}">
                <a16:creationId xmlns:a16="http://schemas.microsoft.com/office/drawing/2014/main" id="{03F6E7C9-C503-6513-79B8-BF79B90661E3}"/>
              </a:ext>
            </a:extLst>
          </p:cNvPr>
          <p:cNvSpPr>
            <a:spLocks noGrp="1"/>
          </p:cNvSpPr>
          <p:nvPr>
            <p:ph idx="1"/>
          </p:nvPr>
        </p:nvSpPr>
        <p:spPr>
          <a:xfrm>
            <a:off x="390617" y="1207363"/>
            <a:ext cx="11461072" cy="4909351"/>
          </a:xfrm>
        </p:spPr>
        <p:txBody>
          <a:bodyPr>
            <a:normAutofit fontScale="92500" lnSpcReduction="20000"/>
          </a:bodyPr>
          <a:lstStyle/>
          <a:p>
            <a:r>
              <a:rPr lang="en-US" dirty="0"/>
              <a:t>Instantiation of the templated std::future class creates a future object. A future object is either valid or not-valid. A valid object is associated with a shared state and can retrieve the value of that shared state once it is ready. Until it is ready, any retrieval request necessarily waits.</a:t>
            </a:r>
          </a:p>
          <a:p>
            <a:r>
              <a:rPr lang="en-US" dirty="0"/>
              <a:t>Member Functions​</a:t>
            </a:r>
          </a:p>
          <a:p>
            <a:r>
              <a:rPr lang="en-US" dirty="0"/>
              <a:t>The member functions of the templated future class include:</a:t>
            </a:r>
          </a:p>
          <a:p>
            <a:pPr lvl="1"/>
            <a:r>
              <a:rPr lang="en-US" dirty="0">
                <a:highlight>
                  <a:srgbClr val="FFFF00"/>
                </a:highlight>
              </a:rPr>
              <a:t>future() </a:t>
            </a:r>
            <a:r>
              <a:rPr lang="en-US" dirty="0" err="1">
                <a:highlight>
                  <a:srgbClr val="FFFF00"/>
                </a:highlight>
              </a:rPr>
              <a:t>noexcept</a:t>
            </a:r>
            <a:r>
              <a:rPr lang="en-US" dirty="0">
                <a:highlight>
                  <a:srgbClr val="FFFF00"/>
                </a:highlight>
              </a:rPr>
              <a:t> </a:t>
            </a:r>
            <a:r>
              <a:rPr lang="en-US" dirty="0"/>
              <a:t>- creates a future object not associated with a shared state</a:t>
            </a:r>
          </a:p>
          <a:p>
            <a:pPr lvl="1"/>
            <a:r>
              <a:rPr lang="en-US" dirty="0">
                <a:highlight>
                  <a:srgbClr val="FFFF00"/>
                </a:highlight>
              </a:rPr>
              <a:t>future(future&amp;&amp; f) </a:t>
            </a:r>
            <a:r>
              <a:rPr lang="en-US" dirty="0" err="1">
                <a:highlight>
                  <a:srgbClr val="FFFF00"/>
                </a:highlight>
              </a:rPr>
              <a:t>noexcept</a:t>
            </a:r>
            <a:r>
              <a:rPr lang="en-US" dirty="0">
                <a:highlight>
                  <a:srgbClr val="FFFF00"/>
                </a:highlight>
              </a:rPr>
              <a:t> </a:t>
            </a:r>
            <a:r>
              <a:rPr lang="en-US" dirty="0"/>
              <a:t>- moves the shared state from future f to the current object</a:t>
            </a:r>
          </a:p>
          <a:p>
            <a:pPr lvl="1"/>
            <a:r>
              <a:rPr lang="en-US" dirty="0">
                <a:highlight>
                  <a:srgbClr val="FFFF00"/>
                </a:highlight>
              </a:rPr>
              <a:t>~future()</a:t>
            </a:r>
            <a:r>
              <a:rPr lang="en-US" dirty="0"/>
              <a:t> - disassociates the shared state from the current object and destroys the state if not associated with any other object</a:t>
            </a:r>
          </a:p>
          <a:p>
            <a:pPr lvl="1"/>
            <a:r>
              <a:rPr lang="en-US" dirty="0">
                <a:highlight>
                  <a:srgbClr val="FFFF00"/>
                </a:highlight>
              </a:rPr>
              <a:t>future&amp; operator=(future&amp;&amp; f) </a:t>
            </a:r>
            <a:r>
              <a:rPr lang="en-US" dirty="0" err="1">
                <a:highlight>
                  <a:srgbClr val="FFFF00"/>
                </a:highlight>
              </a:rPr>
              <a:t>noexcept</a:t>
            </a:r>
            <a:r>
              <a:rPr lang="en-US" dirty="0">
                <a:highlight>
                  <a:srgbClr val="FFFF00"/>
                </a:highlight>
              </a:rPr>
              <a:t> </a:t>
            </a:r>
            <a:r>
              <a:rPr lang="en-US" dirty="0"/>
              <a:t>- acquires the shared state of future f</a:t>
            </a:r>
          </a:p>
          <a:p>
            <a:pPr lvl="1"/>
            <a:r>
              <a:rPr lang="en-US" dirty="0">
                <a:highlight>
                  <a:srgbClr val="FFFF00"/>
                </a:highlight>
              </a:rPr>
              <a:t>T get() </a:t>
            </a:r>
            <a:r>
              <a:rPr lang="en-US" dirty="0"/>
              <a:t>- returns the value stored in the current object's shared state, if ready; waits, if not ready</a:t>
            </a:r>
          </a:p>
          <a:p>
            <a:pPr lvl="1"/>
            <a:r>
              <a:rPr lang="en-US" dirty="0">
                <a:highlight>
                  <a:srgbClr val="FFFF00"/>
                </a:highlight>
              </a:rPr>
              <a:t>bool valid() const </a:t>
            </a:r>
            <a:r>
              <a:rPr lang="en-US" dirty="0" err="1">
                <a:highlight>
                  <a:srgbClr val="FFFF00"/>
                </a:highlight>
              </a:rPr>
              <a:t>noexcept</a:t>
            </a:r>
            <a:r>
              <a:rPr lang="en-US" dirty="0">
                <a:highlight>
                  <a:srgbClr val="FFFF00"/>
                </a:highlight>
              </a:rPr>
              <a:t> </a:t>
            </a:r>
            <a:r>
              <a:rPr lang="en-US" dirty="0"/>
              <a:t>- returns true if the current object is associated with a shared state</a:t>
            </a:r>
          </a:p>
          <a:p>
            <a:pPr lvl="1"/>
            <a:r>
              <a:rPr lang="en-US" dirty="0">
                <a:highlight>
                  <a:srgbClr val="FFFF00"/>
                </a:highlight>
              </a:rPr>
              <a:t>void wait() const </a:t>
            </a:r>
            <a:r>
              <a:rPr lang="en-US" dirty="0"/>
              <a:t>- waits for the current object's shared state to be ready</a:t>
            </a:r>
          </a:p>
          <a:p>
            <a:r>
              <a:rPr lang="en-US" dirty="0"/>
              <a:t>This </a:t>
            </a:r>
            <a:r>
              <a:rPr lang="en-US" dirty="0" err="1"/>
              <a:t>class'</a:t>
            </a:r>
            <a:r>
              <a:rPr lang="en-US" dirty="0"/>
              <a:t> copy-constructor and the copy-assignment special member functions are deleted.</a:t>
            </a:r>
            <a:endParaRPr lang="en-CA" dirty="0"/>
          </a:p>
        </p:txBody>
      </p:sp>
    </p:spTree>
    <p:extLst>
      <p:ext uri="{BB962C8B-B14F-4D97-AF65-F5344CB8AC3E}">
        <p14:creationId xmlns:p14="http://schemas.microsoft.com/office/powerpoint/2010/main" val="855179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6EBA5-3F67-5367-124F-341C0D80BDF1}"/>
              </a:ext>
            </a:extLst>
          </p:cNvPr>
          <p:cNvSpPr>
            <a:spLocks noGrp="1"/>
          </p:cNvSpPr>
          <p:nvPr>
            <p:ph type="title"/>
          </p:nvPr>
        </p:nvSpPr>
        <p:spPr/>
        <p:txBody>
          <a:bodyPr/>
          <a:lstStyle/>
          <a:p>
            <a:r>
              <a:rPr lang="en-US" dirty="0"/>
              <a:t>Providers​</a:t>
            </a:r>
            <a:br>
              <a:rPr lang="en-US" dirty="0"/>
            </a:br>
            <a:endParaRPr lang="en-CA" dirty="0"/>
          </a:p>
        </p:txBody>
      </p:sp>
      <p:sp>
        <p:nvSpPr>
          <p:cNvPr id="3" name="Content Placeholder 2">
            <a:extLst>
              <a:ext uri="{FF2B5EF4-FFF2-40B4-BE49-F238E27FC236}">
                <a16:creationId xmlns:a16="http://schemas.microsoft.com/office/drawing/2014/main" id="{000B98BB-B890-3222-D2C1-2CA581A9831C}"/>
              </a:ext>
            </a:extLst>
          </p:cNvPr>
          <p:cNvSpPr>
            <a:spLocks noGrp="1"/>
          </p:cNvSpPr>
          <p:nvPr>
            <p:ph idx="1"/>
          </p:nvPr>
        </p:nvSpPr>
        <p:spPr/>
        <p:txBody>
          <a:bodyPr>
            <a:normAutofit/>
          </a:bodyPr>
          <a:lstStyle/>
          <a:p>
            <a:r>
              <a:rPr lang="en-US" sz="2800" dirty="0"/>
              <a:t>A provider object complements a future object. One of the following templates can instantiate a provider object:</a:t>
            </a:r>
          </a:p>
          <a:p>
            <a:endParaRPr lang="en-US" sz="2800" dirty="0"/>
          </a:p>
          <a:p>
            <a:pPr lvl="1"/>
            <a:r>
              <a:rPr lang="en-US" sz="2400" dirty="0">
                <a:highlight>
                  <a:srgbClr val="FFFF00"/>
                </a:highlight>
              </a:rPr>
              <a:t>std::promise </a:t>
            </a:r>
            <a:r>
              <a:rPr lang="en-US" sz="2400" dirty="0"/>
              <a:t>class template</a:t>
            </a:r>
          </a:p>
          <a:p>
            <a:pPr lvl="1"/>
            <a:r>
              <a:rPr lang="en-US" sz="2400" dirty="0">
                <a:highlight>
                  <a:srgbClr val="FFFF00"/>
                </a:highlight>
              </a:rPr>
              <a:t>std::</a:t>
            </a:r>
            <a:r>
              <a:rPr lang="en-US" sz="2400" dirty="0" err="1">
                <a:highlight>
                  <a:srgbClr val="FFFF00"/>
                </a:highlight>
              </a:rPr>
              <a:t>packaged_task</a:t>
            </a:r>
            <a:r>
              <a:rPr lang="en-US" sz="2400" dirty="0">
                <a:highlight>
                  <a:srgbClr val="FFFF00"/>
                </a:highlight>
              </a:rPr>
              <a:t> </a:t>
            </a:r>
            <a:r>
              <a:rPr lang="en-US" sz="2400" dirty="0"/>
              <a:t>class template</a:t>
            </a:r>
          </a:p>
          <a:p>
            <a:pPr lvl="1"/>
            <a:r>
              <a:rPr lang="en-US" sz="2400" dirty="0">
                <a:highlight>
                  <a:srgbClr val="FFFF00"/>
                </a:highlight>
              </a:rPr>
              <a:t>std::async() </a:t>
            </a:r>
            <a:r>
              <a:rPr lang="en-US" sz="2400" dirty="0"/>
              <a:t>function template</a:t>
            </a:r>
            <a:endParaRPr lang="en-CA" sz="2400" dirty="0"/>
          </a:p>
        </p:txBody>
      </p:sp>
    </p:spTree>
    <p:extLst>
      <p:ext uri="{BB962C8B-B14F-4D97-AF65-F5344CB8AC3E}">
        <p14:creationId xmlns:p14="http://schemas.microsoft.com/office/powerpoint/2010/main" val="3212637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C562-3597-A975-652E-B879CD949EB9}"/>
              </a:ext>
            </a:extLst>
          </p:cNvPr>
          <p:cNvSpPr>
            <a:spLocks noGrp="1"/>
          </p:cNvSpPr>
          <p:nvPr>
            <p:ph type="title"/>
          </p:nvPr>
        </p:nvSpPr>
        <p:spPr>
          <a:xfrm>
            <a:off x="1294362" y="67673"/>
            <a:ext cx="9603275" cy="1049235"/>
          </a:xfrm>
        </p:spPr>
        <p:txBody>
          <a:bodyPr/>
          <a:lstStyle/>
          <a:p>
            <a:r>
              <a:rPr lang="en-US" dirty="0"/>
              <a:t>promise Objects</a:t>
            </a:r>
            <a:endParaRPr lang="en-CA" dirty="0"/>
          </a:p>
        </p:txBody>
      </p:sp>
      <p:sp>
        <p:nvSpPr>
          <p:cNvPr id="3" name="Content Placeholder 2">
            <a:extLst>
              <a:ext uri="{FF2B5EF4-FFF2-40B4-BE49-F238E27FC236}">
                <a16:creationId xmlns:a16="http://schemas.microsoft.com/office/drawing/2014/main" id="{72AF5CDE-5C66-6F0D-AA8E-92CE36691B37}"/>
              </a:ext>
            </a:extLst>
          </p:cNvPr>
          <p:cNvSpPr>
            <a:spLocks noGrp="1"/>
          </p:cNvSpPr>
          <p:nvPr>
            <p:ph idx="1"/>
          </p:nvPr>
        </p:nvSpPr>
        <p:spPr>
          <a:xfrm>
            <a:off x="319596" y="2015732"/>
            <a:ext cx="11629747" cy="4056594"/>
          </a:xfrm>
        </p:spPr>
        <p:txBody>
          <a:bodyPr>
            <a:normAutofit fontScale="92500" lnSpcReduction="10000"/>
          </a:bodyPr>
          <a:lstStyle/>
          <a:p>
            <a:r>
              <a:rPr lang="en-US" dirty="0"/>
              <a:t>​A promise object creates or acquires a shared state in which it can store a value.</a:t>
            </a:r>
          </a:p>
          <a:p>
            <a:r>
              <a:rPr lang="en-US" dirty="0"/>
              <a:t>The templated </a:t>
            </a:r>
            <a:r>
              <a:rPr lang="en-US" dirty="0">
                <a:highlight>
                  <a:srgbClr val="FFFF00"/>
                </a:highlight>
              </a:rPr>
              <a:t>promise</a:t>
            </a:r>
            <a:r>
              <a:rPr lang="en-US" dirty="0"/>
              <a:t> class defines a simple </a:t>
            </a:r>
            <a:r>
              <a:rPr lang="en-US" dirty="0" err="1">
                <a:highlight>
                  <a:srgbClr val="FFFF00"/>
                </a:highlight>
              </a:rPr>
              <a:t>set_value</a:t>
            </a:r>
            <a:r>
              <a:rPr lang="en-US" dirty="0">
                <a:highlight>
                  <a:srgbClr val="FFFF00"/>
                </a:highlight>
              </a:rPr>
              <a:t>() </a:t>
            </a:r>
            <a:r>
              <a:rPr lang="en-US" dirty="0"/>
              <a:t>counterpart to the </a:t>
            </a:r>
            <a:r>
              <a:rPr lang="en-US" dirty="0">
                <a:highlight>
                  <a:srgbClr val="FFFF00"/>
                </a:highlight>
              </a:rPr>
              <a:t>get() </a:t>
            </a:r>
            <a:r>
              <a:rPr lang="en-US" dirty="0"/>
              <a:t>member function of the templated </a:t>
            </a:r>
            <a:r>
              <a:rPr lang="en-US" dirty="0">
                <a:highlight>
                  <a:srgbClr val="FFFF00"/>
                </a:highlight>
              </a:rPr>
              <a:t>future</a:t>
            </a:r>
            <a:r>
              <a:rPr lang="en-US" dirty="0"/>
              <a:t> class. The member functions of the templated promise class include:</a:t>
            </a:r>
          </a:p>
          <a:p>
            <a:pPr lvl="1"/>
            <a:r>
              <a:rPr lang="en-US" dirty="0">
                <a:highlight>
                  <a:srgbClr val="FFFF00"/>
                </a:highlight>
              </a:rPr>
              <a:t>promise() </a:t>
            </a:r>
            <a:r>
              <a:rPr lang="en-US" dirty="0"/>
              <a:t>- a promise object with a new empty shared state</a:t>
            </a:r>
          </a:p>
          <a:p>
            <a:pPr lvl="1"/>
            <a:r>
              <a:rPr lang="en-US" dirty="0">
                <a:highlight>
                  <a:srgbClr val="FFFF00"/>
                </a:highlight>
              </a:rPr>
              <a:t>promise(promise&amp;&amp; p) </a:t>
            </a:r>
            <a:r>
              <a:rPr lang="en-US" dirty="0" err="1">
                <a:highlight>
                  <a:srgbClr val="FFFF00"/>
                </a:highlight>
              </a:rPr>
              <a:t>noexcept</a:t>
            </a:r>
            <a:r>
              <a:rPr lang="en-US" dirty="0">
                <a:highlight>
                  <a:srgbClr val="FFFF00"/>
                </a:highlight>
              </a:rPr>
              <a:t> </a:t>
            </a:r>
            <a:r>
              <a:rPr lang="en-US" dirty="0"/>
              <a:t>- moves the shared state from promise p to the newly created current object</a:t>
            </a:r>
          </a:p>
          <a:p>
            <a:pPr lvl="1"/>
            <a:r>
              <a:rPr lang="en-US" dirty="0">
                <a:highlight>
                  <a:srgbClr val="FFFF00"/>
                </a:highlight>
              </a:rPr>
              <a:t>~promise() </a:t>
            </a:r>
            <a:r>
              <a:rPr lang="en-US" dirty="0"/>
              <a:t>- abandons the shared state and destroys the promise</a:t>
            </a:r>
          </a:p>
          <a:p>
            <a:pPr lvl="1"/>
            <a:r>
              <a:rPr lang="en-US" dirty="0">
                <a:highlight>
                  <a:srgbClr val="FFFF00"/>
                </a:highlight>
              </a:rPr>
              <a:t>promise&amp; operator=(promise&amp;&amp; p) </a:t>
            </a:r>
            <a:r>
              <a:rPr lang="en-US" dirty="0" err="1">
                <a:highlight>
                  <a:srgbClr val="FFFF00"/>
                </a:highlight>
              </a:rPr>
              <a:t>noexcept</a:t>
            </a:r>
            <a:r>
              <a:rPr lang="en-US" dirty="0">
                <a:highlight>
                  <a:srgbClr val="FFFF00"/>
                </a:highlight>
              </a:rPr>
              <a:t> </a:t>
            </a:r>
            <a:r>
              <a:rPr lang="en-US" dirty="0"/>
              <a:t>- moves the shared state from promise p to the current object</a:t>
            </a:r>
          </a:p>
          <a:p>
            <a:pPr lvl="1"/>
            <a:r>
              <a:rPr lang="en-US" dirty="0">
                <a:highlight>
                  <a:srgbClr val="FFFF00"/>
                </a:highlight>
              </a:rPr>
              <a:t>future&lt;T&gt; </a:t>
            </a:r>
            <a:r>
              <a:rPr lang="en-US" dirty="0" err="1">
                <a:highlight>
                  <a:srgbClr val="FFFF00"/>
                </a:highlight>
              </a:rPr>
              <a:t>get_future</a:t>
            </a:r>
            <a:r>
              <a:rPr lang="en-US" dirty="0">
                <a:highlight>
                  <a:srgbClr val="FFFF00"/>
                </a:highlight>
              </a:rPr>
              <a:t>() </a:t>
            </a:r>
            <a:r>
              <a:rPr lang="en-US" dirty="0"/>
              <a:t>- returns the future object associated with the current object's shared state</a:t>
            </a:r>
          </a:p>
          <a:p>
            <a:pPr lvl="1"/>
            <a:r>
              <a:rPr lang="en-US" dirty="0">
                <a:highlight>
                  <a:srgbClr val="FFFF00"/>
                </a:highlight>
              </a:rPr>
              <a:t>void </a:t>
            </a:r>
            <a:r>
              <a:rPr lang="en-US" dirty="0" err="1">
                <a:highlight>
                  <a:srgbClr val="FFFF00"/>
                </a:highlight>
              </a:rPr>
              <a:t>set_value</a:t>
            </a:r>
            <a:r>
              <a:rPr lang="en-US" dirty="0">
                <a:highlight>
                  <a:srgbClr val="FFFF00"/>
                </a:highlight>
              </a:rPr>
              <a:t>(const T&amp;) </a:t>
            </a:r>
            <a:r>
              <a:rPr lang="en-US" dirty="0"/>
              <a:t>- stores a value in the current object's shared state, making it ready for retrieval</a:t>
            </a:r>
          </a:p>
          <a:p>
            <a:pPr lvl="1"/>
            <a:r>
              <a:rPr lang="en-US" dirty="0">
                <a:highlight>
                  <a:srgbClr val="FFFF00"/>
                </a:highlight>
              </a:rPr>
              <a:t>void swap(promise&amp; p)</a:t>
            </a:r>
            <a:r>
              <a:rPr lang="en-US" dirty="0"/>
              <a:t> - swaps the shared state of the current object with the shared state of object p</a:t>
            </a:r>
          </a:p>
          <a:p>
            <a:r>
              <a:rPr lang="en-US" dirty="0"/>
              <a:t>This template's copy-constructor and the copy-assignment operations are deleted.</a:t>
            </a:r>
            <a:endParaRPr lang="en-CA" dirty="0"/>
          </a:p>
        </p:txBody>
      </p:sp>
    </p:spTree>
    <p:extLst>
      <p:ext uri="{BB962C8B-B14F-4D97-AF65-F5344CB8AC3E}">
        <p14:creationId xmlns:p14="http://schemas.microsoft.com/office/powerpoint/2010/main" val="1412206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0815F-9898-8374-7D81-81405D5BD65D}"/>
              </a:ext>
            </a:extLst>
          </p:cNvPr>
          <p:cNvSpPr>
            <a:spLocks noGrp="1"/>
          </p:cNvSpPr>
          <p:nvPr>
            <p:ph type="title"/>
          </p:nvPr>
        </p:nvSpPr>
        <p:spPr/>
        <p:txBody>
          <a:bodyPr/>
          <a:lstStyle/>
          <a:p>
            <a:r>
              <a:rPr lang="en-US" dirty="0" err="1"/>
              <a:t>packaged_task</a:t>
            </a:r>
            <a:r>
              <a:rPr lang="en-US" dirty="0"/>
              <a:t> Object</a:t>
            </a:r>
            <a:endParaRPr lang="en-CA" dirty="0"/>
          </a:p>
        </p:txBody>
      </p:sp>
      <p:sp>
        <p:nvSpPr>
          <p:cNvPr id="3" name="Content Placeholder 2">
            <a:extLst>
              <a:ext uri="{FF2B5EF4-FFF2-40B4-BE49-F238E27FC236}">
                <a16:creationId xmlns:a16="http://schemas.microsoft.com/office/drawing/2014/main" id="{DDA9E866-208D-9954-3C23-A59F0F23F61F}"/>
              </a:ext>
            </a:extLst>
          </p:cNvPr>
          <p:cNvSpPr>
            <a:spLocks noGrp="1"/>
          </p:cNvSpPr>
          <p:nvPr>
            <p:ph idx="1"/>
          </p:nvPr>
        </p:nvSpPr>
        <p:spPr>
          <a:xfrm>
            <a:off x="177553" y="2015731"/>
            <a:ext cx="11629748" cy="4037749"/>
          </a:xfrm>
        </p:spPr>
        <p:txBody>
          <a:bodyPr>
            <a:normAutofit fontScale="77500" lnSpcReduction="20000"/>
          </a:bodyPr>
          <a:lstStyle/>
          <a:p>
            <a:r>
              <a:rPr lang="en-US" dirty="0"/>
              <a:t>A </a:t>
            </a:r>
            <a:r>
              <a:rPr lang="en-US" dirty="0" err="1"/>
              <a:t>packaged_task</a:t>
            </a:r>
            <a:r>
              <a:rPr lang="en-US" dirty="0"/>
              <a:t> object consists of two components: a stored task and a shared state.</a:t>
            </a:r>
          </a:p>
          <a:p>
            <a:r>
              <a:rPr lang="en-US" dirty="0"/>
              <a:t>The templated </a:t>
            </a:r>
            <a:r>
              <a:rPr lang="en-US" dirty="0" err="1"/>
              <a:t>packaged_task</a:t>
            </a:r>
            <a:r>
              <a:rPr lang="en-US" dirty="0"/>
              <a:t> class defines a simple wrapper for passing the result of a task to a future object; that is, for launching a thread that executes a task and capturing the return value, which a future can subsequently retrieve. The member functions of the templated </a:t>
            </a:r>
            <a:r>
              <a:rPr lang="en-US" dirty="0" err="1"/>
              <a:t>packaged_task</a:t>
            </a:r>
            <a:r>
              <a:rPr lang="en-US" dirty="0"/>
              <a:t> class include:</a:t>
            </a:r>
          </a:p>
          <a:p>
            <a:pPr lvl="1"/>
            <a:r>
              <a:rPr lang="en-US" dirty="0" err="1">
                <a:highlight>
                  <a:srgbClr val="FFFF00"/>
                </a:highlight>
              </a:rPr>
              <a:t>packaged_task</a:t>
            </a:r>
            <a:r>
              <a:rPr lang="en-US" dirty="0">
                <a:highlight>
                  <a:srgbClr val="FFFF00"/>
                </a:highlight>
              </a:rPr>
              <a:t>() </a:t>
            </a:r>
            <a:r>
              <a:rPr lang="en-US" dirty="0"/>
              <a:t>- a </a:t>
            </a:r>
            <a:r>
              <a:rPr lang="en-US" dirty="0" err="1"/>
              <a:t>packaged_task</a:t>
            </a:r>
            <a:r>
              <a:rPr lang="en-US" dirty="0"/>
              <a:t> object with no shared state and no task</a:t>
            </a:r>
          </a:p>
          <a:p>
            <a:pPr lvl="1"/>
            <a:r>
              <a:rPr lang="en-US" dirty="0" err="1">
                <a:highlight>
                  <a:srgbClr val="FFFF00"/>
                </a:highlight>
              </a:rPr>
              <a:t>packaged_task</a:t>
            </a:r>
            <a:r>
              <a:rPr lang="en-US" dirty="0">
                <a:highlight>
                  <a:srgbClr val="FFFF00"/>
                </a:highlight>
              </a:rPr>
              <a:t>(</a:t>
            </a:r>
            <a:r>
              <a:rPr lang="en-US" dirty="0" err="1">
                <a:highlight>
                  <a:srgbClr val="FFFF00"/>
                </a:highlight>
              </a:rPr>
              <a:t>packaged_task</a:t>
            </a:r>
            <a:r>
              <a:rPr lang="en-US" dirty="0">
                <a:highlight>
                  <a:srgbClr val="FFFF00"/>
                </a:highlight>
              </a:rPr>
              <a:t>&amp;&amp; p) </a:t>
            </a:r>
            <a:r>
              <a:rPr lang="en-US" dirty="0" err="1">
                <a:highlight>
                  <a:srgbClr val="FFFF00"/>
                </a:highlight>
              </a:rPr>
              <a:t>noexcept</a:t>
            </a:r>
            <a:r>
              <a:rPr lang="en-US" dirty="0">
                <a:highlight>
                  <a:srgbClr val="FFFF00"/>
                </a:highlight>
              </a:rPr>
              <a:t> </a:t>
            </a:r>
            <a:r>
              <a:rPr lang="en-US" dirty="0"/>
              <a:t>- moves the shared state and stored task from </a:t>
            </a:r>
            <a:r>
              <a:rPr lang="en-US" dirty="0" err="1"/>
              <a:t>packaged_task</a:t>
            </a:r>
            <a:r>
              <a:rPr lang="en-US" dirty="0"/>
              <a:t> p to the newly created current object</a:t>
            </a:r>
          </a:p>
          <a:p>
            <a:pPr lvl="1"/>
            <a:r>
              <a:rPr lang="en-US" dirty="0">
                <a:highlight>
                  <a:srgbClr val="FFFF00"/>
                </a:highlight>
              </a:rPr>
              <a:t>~</a:t>
            </a:r>
            <a:r>
              <a:rPr lang="en-US" dirty="0" err="1">
                <a:highlight>
                  <a:srgbClr val="FFFF00"/>
                </a:highlight>
              </a:rPr>
              <a:t>packaged_task</a:t>
            </a:r>
            <a:r>
              <a:rPr lang="en-US" dirty="0">
                <a:highlight>
                  <a:srgbClr val="FFFF00"/>
                </a:highlight>
              </a:rPr>
              <a:t>() </a:t>
            </a:r>
            <a:r>
              <a:rPr lang="en-US" dirty="0"/>
              <a:t>- abandons the shared state and destroys the </a:t>
            </a:r>
            <a:r>
              <a:rPr lang="en-US" dirty="0" err="1"/>
              <a:t>packaged_task</a:t>
            </a:r>
            <a:endParaRPr lang="en-US" dirty="0"/>
          </a:p>
          <a:p>
            <a:pPr lvl="1"/>
            <a:r>
              <a:rPr lang="en-US" dirty="0" err="1">
                <a:highlight>
                  <a:srgbClr val="FFFF00"/>
                </a:highlight>
              </a:rPr>
              <a:t>packaged_task</a:t>
            </a:r>
            <a:r>
              <a:rPr lang="en-US" dirty="0">
                <a:highlight>
                  <a:srgbClr val="FFFF00"/>
                </a:highlight>
              </a:rPr>
              <a:t>&amp; operator=(</a:t>
            </a:r>
            <a:r>
              <a:rPr lang="en-US" dirty="0" err="1">
                <a:highlight>
                  <a:srgbClr val="FFFF00"/>
                </a:highlight>
              </a:rPr>
              <a:t>packaged_task</a:t>
            </a:r>
            <a:r>
              <a:rPr lang="en-US" dirty="0">
                <a:highlight>
                  <a:srgbClr val="FFFF00"/>
                </a:highlight>
              </a:rPr>
              <a:t>&amp;&amp; p) </a:t>
            </a:r>
            <a:r>
              <a:rPr lang="en-US" dirty="0" err="1">
                <a:highlight>
                  <a:srgbClr val="FFFF00"/>
                </a:highlight>
              </a:rPr>
              <a:t>noexcept</a:t>
            </a:r>
            <a:r>
              <a:rPr lang="en-US" dirty="0">
                <a:highlight>
                  <a:srgbClr val="FFFF00"/>
                </a:highlight>
              </a:rPr>
              <a:t> </a:t>
            </a:r>
            <a:r>
              <a:rPr lang="en-US" dirty="0"/>
              <a:t>- acquires the shared state and stored task from </a:t>
            </a:r>
            <a:r>
              <a:rPr lang="en-US" dirty="0" err="1"/>
              <a:t>packaged_task</a:t>
            </a:r>
            <a:r>
              <a:rPr lang="en-US" dirty="0"/>
              <a:t> p</a:t>
            </a:r>
          </a:p>
          <a:p>
            <a:pPr lvl="1"/>
            <a:r>
              <a:rPr lang="en-US" dirty="0">
                <a:highlight>
                  <a:srgbClr val="FFFF00"/>
                </a:highlight>
              </a:rPr>
              <a:t>bool valid() const </a:t>
            </a:r>
            <a:r>
              <a:rPr lang="en-US" dirty="0" err="1">
                <a:highlight>
                  <a:srgbClr val="FFFF00"/>
                </a:highlight>
              </a:rPr>
              <a:t>noexcept</a:t>
            </a:r>
            <a:r>
              <a:rPr lang="en-US" dirty="0">
                <a:highlight>
                  <a:srgbClr val="FFFF00"/>
                </a:highlight>
              </a:rPr>
              <a:t> </a:t>
            </a:r>
            <a:r>
              <a:rPr lang="en-US" dirty="0"/>
              <a:t>- returns true if the current object is associated with a shared state and a stored task</a:t>
            </a:r>
          </a:p>
          <a:p>
            <a:pPr lvl="1"/>
            <a:r>
              <a:rPr lang="en-US" dirty="0">
                <a:highlight>
                  <a:srgbClr val="FFFF00"/>
                </a:highlight>
              </a:rPr>
              <a:t>future&lt;T&gt; </a:t>
            </a:r>
            <a:r>
              <a:rPr lang="en-US" dirty="0" err="1">
                <a:highlight>
                  <a:srgbClr val="FFFF00"/>
                </a:highlight>
              </a:rPr>
              <a:t>get_future</a:t>
            </a:r>
            <a:r>
              <a:rPr lang="en-US" dirty="0">
                <a:highlight>
                  <a:srgbClr val="FFFF00"/>
                </a:highlight>
              </a:rPr>
              <a:t>() </a:t>
            </a:r>
            <a:r>
              <a:rPr lang="en-US" dirty="0"/>
              <a:t>- returns the future object associated with the current object's shared state</a:t>
            </a:r>
          </a:p>
          <a:p>
            <a:pPr lvl="1"/>
            <a:r>
              <a:rPr lang="en-US" dirty="0">
                <a:highlight>
                  <a:srgbClr val="FFFF00"/>
                </a:highlight>
              </a:rPr>
              <a:t>void operator()(</a:t>
            </a:r>
            <a:r>
              <a:rPr lang="en-US" dirty="0" err="1">
                <a:highlight>
                  <a:srgbClr val="FFFF00"/>
                </a:highlight>
              </a:rPr>
              <a:t>Args</a:t>
            </a:r>
            <a:r>
              <a:rPr lang="en-US" dirty="0">
                <a:highlight>
                  <a:srgbClr val="FFFF00"/>
                </a:highlight>
              </a:rPr>
              <a:t>...) </a:t>
            </a:r>
            <a:r>
              <a:rPr lang="en-US" dirty="0"/>
              <a:t>- forwards the function arguments of type </a:t>
            </a:r>
            <a:r>
              <a:rPr lang="en-US" dirty="0" err="1"/>
              <a:t>Args</a:t>
            </a:r>
            <a:r>
              <a:rPr lang="en-US" dirty="0"/>
              <a:t> to the stored task and initiates its execution</a:t>
            </a:r>
          </a:p>
          <a:p>
            <a:pPr lvl="1"/>
            <a:r>
              <a:rPr lang="en-US" dirty="0">
                <a:highlight>
                  <a:srgbClr val="FFFF00"/>
                </a:highlight>
              </a:rPr>
              <a:t>void swap(</a:t>
            </a:r>
            <a:r>
              <a:rPr lang="en-US" dirty="0" err="1">
                <a:highlight>
                  <a:srgbClr val="FFFF00"/>
                </a:highlight>
              </a:rPr>
              <a:t>packaged_task</a:t>
            </a:r>
            <a:r>
              <a:rPr lang="en-US" dirty="0">
                <a:highlight>
                  <a:srgbClr val="FFFF00"/>
                </a:highlight>
              </a:rPr>
              <a:t>&amp; p) </a:t>
            </a:r>
            <a:r>
              <a:rPr lang="en-US" dirty="0"/>
              <a:t>- swaps the shared state of the current object with that of object p</a:t>
            </a:r>
          </a:p>
          <a:p>
            <a:r>
              <a:rPr lang="en-US" dirty="0"/>
              <a:t>This template's copy-constructor and copy-assignment operations are deleted.</a:t>
            </a:r>
            <a:endParaRPr lang="en-CA" dirty="0"/>
          </a:p>
        </p:txBody>
      </p:sp>
    </p:spTree>
    <p:extLst>
      <p:ext uri="{BB962C8B-B14F-4D97-AF65-F5344CB8AC3E}">
        <p14:creationId xmlns:p14="http://schemas.microsoft.com/office/powerpoint/2010/main" val="2608883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2490-240D-A743-BB6B-293A85329B9E}"/>
              </a:ext>
            </a:extLst>
          </p:cNvPr>
          <p:cNvSpPr>
            <a:spLocks noGrp="1"/>
          </p:cNvSpPr>
          <p:nvPr>
            <p:ph type="title"/>
          </p:nvPr>
        </p:nvSpPr>
        <p:spPr/>
        <p:txBody>
          <a:bodyPr/>
          <a:lstStyle/>
          <a:p>
            <a:r>
              <a:rPr lang="en-US" dirty="0"/>
              <a:t>async() function​</a:t>
            </a:r>
            <a:br>
              <a:rPr lang="en-US" dirty="0"/>
            </a:br>
            <a:endParaRPr lang="en-CA" dirty="0"/>
          </a:p>
        </p:txBody>
      </p:sp>
      <p:sp>
        <p:nvSpPr>
          <p:cNvPr id="3" name="Content Placeholder 2">
            <a:extLst>
              <a:ext uri="{FF2B5EF4-FFF2-40B4-BE49-F238E27FC236}">
                <a16:creationId xmlns:a16="http://schemas.microsoft.com/office/drawing/2014/main" id="{9728EE26-A0A1-548D-CBAD-4A9695D4286B}"/>
              </a:ext>
            </a:extLst>
          </p:cNvPr>
          <p:cNvSpPr>
            <a:spLocks noGrp="1"/>
          </p:cNvSpPr>
          <p:nvPr>
            <p:ph idx="1"/>
          </p:nvPr>
        </p:nvSpPr>
        <p:spPr>
          <a:xfrm>
            <a:off x="97654" y="1853754"/>
            <a:ext cx="11940465" cy="4289594"/>
          </a:xfrm>
        </p:spPr>
        <p:txBody>
          <a:bodyPr>
            <a:normAutofit fontScale="77500" lnSpcReduction="20000"/>
          </a:bodyPr>
          <a:lstStyle/>
          <a:p>
            <a:r>
              <a:rPr lang="en-US" dirty="0"/>
              <a:t>The templated </a:t>
            </a:r>
            <a:r>
              <a:rPr lang="en-US" dirty="0">
                <a:highlight>
                  <a:srgbClr val="FFFF00"/>
                </a:highlight>
              </a:rPr>
              <a:t>async()</a:t>
            </a:r>
            <a:r>
              <a:rPr lang="en-US" dirty="0"/>
              <a:t> function provides an extremely simple pair that spawns a thread to execute a task and creates a future for retrieving the return value from that task.</a:t>
            </a:r>
          </a:p>
          <a:p>
            <a:r>
              <a:rPr lang="en-US" dirty="0"/>
              <a:t>An </a:t>
            </a:r>
            <a:r>
              <a:rPr lang="en-US" dirty="0">
                <a:highlight>
                  <a:srgbClr val="FFFF00"/>
                </a:highlight>
              </a:rPr>
              <a:t>async()</a:t>
            </a:r>
            <a:r>
              <a:rPr lang="en-US" dirty="0"/>
              <a:t> function</a:t>
            </a:r>
          </a:p>
          <a:p>
            <a:pPr lvl="1"/>
            <a:r>
              <a:rPr lang="en-US" dirty="0"/>
              <a:t>accepts the address of the function that defines the task</a:t>
            </a:r>
          </a:p>
          <a:p>
            <a:pPr lvl="1"/>
            <a:r>
              <a:rPr lang="en-US" dirty="0"/>
              <a:t>launches the task</a:t>
            </a:r>
          </a:p>
          <a:p>
            <a:pPr lvl="1"/>
            <a:r>
              <a:rPr lang="en-US" dirty="0"/>
              <a:t>reverts control to its caller</a:t>
            </a:r>
          </a:p>
          <a:p>
            <a:pPr lvl="1"/>
            <a:r>
              <a:rPr lang="en-US" dirty="0"/>
              <a:t>returns a </a:t>
            </a:r>
            <a:r>
              <a:rPr lang="en-US" dirty="0">
                <a:highlight>
                  <a:srgbClr val="FFFF00"/>
                </a:highlight>
              </a:rPr>
              <a:t>future</a:t>
            </a:r>
            <a:r>
              <a:rPr lang="en-US" dirty="0"/>
              <a:t> object that can retrieve the value returned on the task's completion</a:t>
            </a:r>
          </a:p>
          <a:p>
            <a:r>
              <a:rPr lang="en-US" dirty="0"/>
              <a:t>The executing task stores the return value temporarily in a shared state. The future object can retrieve the value from this shared state.</a:t>
            </a:r>
          </a:p>
          <a:p>
            <a:r>
              <a:rPr lang="en-US" dirty="0"/>
              <a:t>The template for an async() function has the form</a:t>
            </a:r>
          </a:p>
          <a:p>
            <a:pPr lvl="1"/>
            <a:r>
              <a:rPr lang="en-US" dirty="0">
                <a:highlight>
                  <a:srgbClr val="FFFF00"/>
                </a:highlight>
              </a:rPr>
              <a:t>template&lt;class </a:t>
            </a:r>
            <a:r>
              <a:rPr lang="en-US" dirty="0" err="1">
                <a:highlight>
                  <a:srgbClr val="FFFF00"/>
                </a:highlight>
              </a:rPr>
              <a:t>Fn</a:t>
            </a:r>
            <a:r>
              <a:rPr lang="en-US" dirty="0">
                <a:highlight>
                  <a:srgbClr val="FFFF00"/>
                </a:highlight>
              </a:rPr>
              <a:t>, class... </a:t>
            </a:r>
            <a:r>
              <a:rPr lang="en-US" dirty="0" err="1">
                <a:highlight>
                  <a:srgbClr val="FFFF00"/>
                </a:highlight>
              </a:rPr>
              <a:t>Args</a:t>
            </a:r>
            <a:r>
              <a:rPr lang="en-US" dirty="0">
                <a:highlight>
                  <a:srgbClr val="FFFF00"/>
                </a:highlight>
              </a:rPr>
              <a:t>&gt;</a:t>
            </a:r>
          </a:p>
          <a:p>
            <a:pPr lvl="1"/>
            <a:r>
              <a:rPr lang="en-US" dirty="0">
                <a:highlight>
                  <a:srgbClr val="FFFF00"/>
                </a:highlight>
              </a:rPr>
              <a:t>future&lt;</a:t>
            </a:r>
            <a:r>
              <a:rPr lang="en-US" dirty="0" err="1">
                <a:highlight>
                  <a:srgbClr val="FFFF00"/>
                </a:highlight>
              </a:rPr>
              <a:t>typename</a:t>
            </a:r>
            <a:r>
              <a:rPr lang="en-US" dirty="0">
                <a:highlight>
                  <a:srgbClr val="FFFF00"/>
                </a:highlight>
              </a:rPr>
              <a:t> </a:t>
            </a:r>
            <a:r>
              <a:rPr lang="en-US" dirty="0" err="1">
                <a:highlight>
                  <a:srgbClr val="FFFF00"/>
                </a:highlight>
              </a:rPr>
              <a:t>result_of</a:t>
            </a:r>
            <a:r>
              <a:rPr lang="en-US" dirty="0">
                <a:highlight>
                  <a:srgbClr val="FFFF00"/>
                </a:highlight>
              </a:rPr>
              <a:t>&lt;f(</a:t>
            </a:r>
            <a:r>
              <a:rPr lang="en-US" dirty="0" err="1">
                <a:highlight>
                  <a:srgbClr val="FFFF00"/>
                </a:highlight>
              </a:rPr>
              <a:t>Args</a:t>
            </a:r>
            <a:r>
              <a:rPr lang="en-US" dirty="0">
                <a:highlight>
                  <a:srgbClr val="FFFF00"/>
                </a:highlight>
              </a:rPr>
              <a:t>...)&gt;::type&gt; async(</a:t>
            </a:r>
            <a:r>
              <a:rPr lang="en-US" dirty="0" err="1">
                <a:highlight>
                  <a:srgbClr val="FFFF00"/>
                </a:highlight>
              </a:rPr>
              <a:t>Fn</a:t>
            </a:r>
            <a:r>
              <a:rPr lang="en-US" dirty="0">
                <a:highlight>
                  <a:srgbClr val="FFFF00"/>
                </a:highlight>
              </a:rPr>
              <a:t>&amp;&amp; </a:t>
            </a:r>
            <a:r>
              <a:rPr lang="en-US" dirty="0" err="1">
                <a:highlight>
                  <a:srgbClr val="FFFF00"/>
                </a:highlight>
              </a:rPr>
              <a:t>fn</a:t>
            </a:r>
            <a:r>
              <a:rPr lang="en-US" dirty="0">
                <a:highlight>
                  <a:srgbClr val="FFFF00"/>
                </a:highlight>
              </a:rPr>
              <a:t>, </a:t>
            </a:r>
            <a:r>
              <a:rPr lang="en-US" dirty="0" err="1">
                <a:highlight>
                  <a:srgbClr val="FFFF00"/>
                </a:highlight>
              </a:rPr>
              <a:t>Args</a:t>
            </a:r>
            <a:r>
              <a:rPr lang="en-US" dirty="0">
                <a:highlight>
                  <a:srgbClr val="FFFF00"/>
                </a:highlight>
              </a:rPr>
              <a:t>&amp;&amp;... </a:t>
            </a:r>
            <a:r>
              <a:rPr lang="en-US" dirty="0" err="1">
                <a:highlight>
                  <a:srgbClr val="FFFF00"/>
                </a:highlight>
              </a:rPr>
              <a:t>args</a:t>
            </a:r>
            <a:r>
              <a:rPr lang="en-US" dirty="0">
                <a:highlight>
                  <a:srgbClr val="FFFF00"/>
                </a:highlight>
              </a:rPr>
              <a:t>);</a:t>
            </a:r>
          </a:p>
          <a:p>
            <a:r>
              <a:rPr lang="en-US" dirty="0" err="1">
                <a:highlight>
                  <a:srgbClr val="FFFF00"/>
                </a:highlight>
              </a:rPr>
              <a:t>fn</a:t>
            </a:r>
            <a:r>
              <a:rPr lang="en-US" dirty="0"/>
              <a:t> is a pointer to a function or any kind of move-constructable function object of type </a:t>
            </a:r>
            <a:r>
              <a:rPr lang="en-US" dirty="0" err="1">
                <a:highlight>
                  <a:srgbClr val="FFFF00"/>
                </a:highlight>
              </a:rPr>
              <a:t>Fn</a:t>
            </a:r>
            <a:r>
              <a:rPr lang="en-US" dirty="0"/>
              <a:t> and </a:t>
            </a:r>
            <a:r>
              <a:rPr lang="en-US" dirty="0" err="1">
                <a:highlight>
                  <a:srgbClr val="FFFF00"/>
                </a:highlight>
              </a:rPr>
              <a:t>args</a:t>
            </a:r>
            <a:r>
              <a:rPr lang="en-US" dirty="0"/>
              <a:t> denotes arguments of type </a:t>
            </a:r>
            <a:r>
              <a:rPr lang="en-US" dirty="0" err="1"/>
              <a:t>Args</a:t>
            </a:r>
            <a:r>
              <a:rPr lang="en-US" dirty="0"/>
              <a:t> to the function, where type is also move-constructable.</a:t>
            </a:r>
          </a:p>
          <a:p>
            <a:endParaRPr lang="en-CA" dirty="0"/>
          </a:p>
        </p:txBody>
      </p:sp>
    </p:spTree>
    <p:extLst>
      <p:ext uri="{BB962C8B-B14F-4D97-AF65-F5344CB8AC3E}">
        <p14:creationId xmlns:p14="http://schemas.microsoft.com/office/powerpoint/2010/main" val="2033784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ACC17-F934-9415-EC38-31B71D178F5C}"/>
              </a:ext>
            </a:extLst>
          </p:cNvPr>
          <p:cNvSpPr>
            <a:spLocks noGrp="1"/>
          </p:cNvSpPr>
          <p:nvPr>
            <p:ph type="title"/>
          </p:nvPr>
        </p:nvSpPr>
        <p:spPr>
          <a:xfrm>
            <a:off x="306360" y="279901"/>
            <a:ext cx="9603275" cy="1049235"/>
          </a:xfrm>
        </p:spPr>
        <p:txBody>
          <a:bodyPr/>
          <a:lstStyle/>
          <a:p>
            <a:r>
              <a:rPr lang="en-US" dirty="0"/>
              <a:t>Examples Promise - Future</a:t>
            </a:r>
            <a:endParaRPr lang="en-CA" dirty="0"/>
          </a:p>
        </p:txBody>
      </p:sp>
      <p:sp>
        <p:nvSpPr>
          <p:cNvPr id="3" name="Content Placeholder 2">
            <a:extLst>
              <a:ext uri="{FF2B5EF4-FFF2-40B4-BE49-F238E27FC236}">
                <a16:creationId xmlns:a16="http://schemas.microsoft.com/office/drawing/2014/main" id="{53246A03-B1C8-30AD-CC00-4411F57C1D67}"/>
              </a:ext>
            </a:extLst>
          </p:cNvPr>
          <p:cNvSpPr>
            <a:spLocks noGrp="1"/>
          </p:cNvSpPr>
          <p:nvPr>
            <p:ph idx="1"/>
          </p:nvPr>
        </p:nvSpPr>
        <p:spPr>
          <a:xfrm>
            <a:off x="102174" y="1755267"/>
            <a:ext cx="5490757" cy="3890934"/>
          </a:xfrm>
        </p:spPr>
        <p:txBody>
          <a:bodyPr>
            <a:normAutofit fontScale="85000" lnSpcReduction="10000"/>
          </a:bodyPr>
          <a:lstStyle/>
          <a:p>
            <a:endParaRPr lang="en-US" dirty="0"/>
          </a:p>
          <a:p>
            <a:r>
              <a:rPr lang="en-US" dirty="0"/>
              <a:t>Fulfilling a promise on a child thread and retrieving the promised value on the main thread involves passing the promise object by reference to the thread. In the following program task() on thread t fulfills the promise by setting a value. The main thread retrieves that value.</a:t>
            </a:r>
          </a:p>
          <a:p>
            <a:endParaRPr lang="en-US" dirty="0"/>
          </a:p>
          <a:p>
            <a:endParaRPr lang="en-US" dirty="0"/>
          </a:p>
          <a:p>
            <a:r>
              <a:rPr lang="en-US" dirty="0"/>
              <a:t>Note that any return value from the function executed by a child thread can be captured by an std::promise object. The return value from the function is otherwise ignored.</a:t>
            </a:r>
          </a:p>
          <a:p>
            <a:endParaRPr lang="en-CA" dirty="0"/>
          </a:p>
        </p:txBody>
      </p:sp>
      <p:pic>
        <p:nvPicPr>
          <p:cNvPr id="5" name="Picture 4">
            <a:extLst>
              <a:ext uri="{FF2B5EF4-FFF2-40B4-BE49-F238E27FC236}">
                <a16:creationId xmlns:a16="http://schemas.microsoft.com/office/drawing/2014/main" id="{1B61B37F-656E-AE91-3C44-7A819C679D72}"/>
              </a:ext>
            </a:extLst>
          </p:cNvPr>
          <p:cNvPicPr>
            <a:picLocks noChangeAspect="1"/>
          </p:cNvPicPr>
          <p:nvPr/>
        </p:nvPicPr>
        <p:blipFill>
          <a:blip r:embed="rId2"/>
          <a:stretch>
            <a:fillRect/>
          </a:stretch>
        </p:blipFill>
        <p:spPr>
          <a:xfrm>
            <a:off x="6731234" y="428625"/>
            <a:ext cx="5353050" cy="6429375"/>
          </a:xfrm>
          <a:prstGeom prst="rect">
            <a:avLst/>
          </a:prstGeom>
        </p:spPr>
      </p:pic>
    </p:spTree>
    <p:extLst>
      <p:ext uri="{BB962C8B-B14F-4D97-AF65-F5344CB8AC3E}">
        <p14:creationId xmlns:p14="http://schemas.microsoft.com/office/powerpoint/2010/main" val="1729736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70CE-AFDE-5B26-41E0-2E85263ABA84}"/>
              </a:ext>
            </a:extLst>
          </p:cNvPr>
          <p:cNvSpPr>
            <a:spLocks noGrp="1"/>
          </p:cNvSpPr>
          <p:nvPr>
            <p:ph type="title"/>
          </p:nvPr>
        </p:nvSpPr>
        <p:spPr/>
        <p:txBody>
          <a:bodyPr/>
          <a:lstStyle/>
          <a:p>
            <a:r>
              <a:rPr lang="en-US" dirty="0"/>
              <a:t>Packaged Task​</a:t>
            </a:r>
            <a:br>
              <a:rPr lang="en-US" dirty="0"/>
            </a:br>
            <a:endParaRPr lang="en-CA" dirty="0"/>
          </a:p>
        </p:txBody>
      </p:sp>
      <p:sp>
        <p:nvSpPr>
          <p:cNvPr id="3" name="Content Placeholder 2">
            <a:extLst>
              <a:ext uri="{FF2B5EF4-FFF2-40B4-BE49-F238E27FC236}">
                <a16:creationId xmlns:a16="http://schemas.microsoft.com/office/drawing/2014/main" id="{6E8D5914-5EF8-B22E-709F-059D80DDA2C4}"/>
              </a:ext>
            </a:extLst>
          </p:cNvPr>
          <p:cNvSpPr>
            <a:spLocks noGrp="1"/>
          </p:cNvSpPr>
          <p:nvPr>
            <p:ph idx="1"/>
          </p:nvPr>
        </p:nvSpPr>
        <p:spPr>
          <a:xfrm>
            <a:off x="125847" y="2042365"/>
            <a:ext cx="5970153" cy="3450613"/>
          </a:xfrm>
        </p:spPr>
        <p:txBody>
          <a:bodyPr>
            <a:normAutofit lnSpcReduction="10000"/>
          </a:bodyPr>
          <a:lstStyle/>
          <a:p>
            <a:endParaRPr lang="en-US" dirty="0"/>
          </a:p>
          <a:p>
            <a:r>
              <a:rPr lang="en-US" dirty="0"/>
              <a:t>The following program packages a task and a shared state. The </a:t>
            </a:r>
            <a:r>
              <a:rPr lang="en-US" dirty="0" err="1"/>
              <a:t>get_future</a:t>
            </a:r>
            <a:r>
              <a:rPr lang="en-US" dirty="0"/>
              <a:t>() member function retrieves the future object that will hold the return value generated by execution of the task. Calling the </a:t>
            </a:r>
            <a:r>
              <a:rPr lang="en-US" dirty="0" err="1"/>
              <a:t>packaged_task</a:t>
            </a:r>
            <a:r>
              <a:rPr lang="en-US" dirty="0"/>
              <a:t> executes the task, while calling the get() member function on the future object retrieves the return value, which the main function can then display:</a:t>
            </a:r>
            <a:endParaRPr lang="en-CA" dirty="0"/>
          </a:p>
        </p:txBody>
      </p:sp>
      <p:pic>
        <p:nvPicPr>
          <p:cNvPr id="5" name="Picture 4">
            <a:extLst>
              <a:ext uri="{FF2B5EF4-FFF2-40B4-BE49-F238E27FC236}">
                <a16:creationId xmlns:a16="http://schemas.microsoft.com/office/drawing/2014/main" id="{B5758FC9-137F-CB5B-0FD8-3ACCB5C3CA67}"/>
              </a:ext>
            </a:extLst>
          </p:cNvPr>
          <p:cNvPicPr>
            <a:picLocks noChangeAspect="1"/>
          </p:cNvPicPr>
          <p:nvPr/>
        </p:nvPicPr>
        <p:blipFill>
          <a:blip r:embed="rId2"/>
          <a:stretch>
            <a:fillRect/>
          </a:stretch>
        </p:blipFill>
        <p:spPr>
          <a:xfrm>
            <a:off x="6932178" y="216023"/>
            <a:ext cx="5133975" cy="6248400"/>
          </a:xfrm>
          <a:prstGeom prst="rect">
            <a:avLst/>
          </a:prstGeom>
        </p:spPr>
      </p:pic>
    </p:spTree>
    <p:extLst>
      <p:ext uri="{BB962C8B-B14F-4D97-AF65-F5344CB8AC3E}">
        <p14:creationId xmlns:p14="http://schemas.microsoft.com/office/powerpoint/2010/main" val="3259949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B58D-737B-A84B-B95F-9ABC647EBBAB}"/>
              </a:ext>
            </a:extLst>
          </p:cNvPr>
          <p:cNvSpPr>
            <a:spLocks noGrp="1"/>
          </p:cNvSpPr>
          <p:nvPr>
            <p:ph type="title"/>
          </p:nvPr>
        </p:nvSpPr>
        <p:spPr/>
        <p:txBody>
          <a:bodyPr/>
          <a:lstStyle/>
          <a:p>
            <a:r>
              <a:rPr lang="en-US" dirty="0"/>
              <a:t>async()</a:t>
            </a:r>
            <a:endParaRPr lang="en-CA" dirty="0"/>
          </a:p>
        </p:txBody>
      </p:sp>
      <p:sp>
        <p:nvSpPr>
          <p:cNvPr id="3" name="Content Placeholder 2">
            <a:extLst>
              <a:ext uri="{FF2B5EF4-FFF2-40B4-BE49-F238E27FC236}">
                <a16:creationId xmlns:a16="http://schemas.microsoft.com/office/drawing/2014/main" id="{564A4054-52C6-327C-4E63-CF216A4754EB}"/>
              </a:ext>
            </a:extLst>
          </p:cNvPr>
          <p:cNvSpPr>
            <a:spLocks noGrp="1"/>
          </p:cNvSpPr>
          <p:nvPr>
            <p:ph idx="1"/>
          </p:nvPr>
        </p:nvSpPr>
        <p:spPr>
          <a:xfrm>
            <a:off x="204187" y="2015732"/>
            <a:ext cx="5548544" cy="3450613"/>
          </a:xfrm>
        </p:spPr>
        <p:txBody>
          <a:bodyPr/>
          <a:lstStyle/>
          <a:p>
            <a:r>
              <a:rPr lang="en-US" dirty="0"/>
              <a:t>The following program launches task() asynchronously and returns the future object associated with the shared state. The get() member function on the future object retrieves the value of the shared state, which the main function can then display:</a:t>
            </a:r>
          </a:p>
          <a:p>
            <a:endParaRPr lang="en-US" dirty="0"/>
          </a:p>
          <a:p>
            <a:endParaRPr lang="en-CA" dirty="0"/>
          </a:p>
        </p:txBody>
      </p:sp>
      <p:pic>
        <p:nvPicPr>
          <p:cNvPr id="5" name="Picture 4">
            <a:extLst>
              <a:ext uri="{FF2B5EF4-FFF2-40B4-BE49-F238E27FC236}">
                <a16:creationId xmlns:a16="http://schemas.microsoft.com/office/drawing/2014/main" id="{F4D0405E-EDC1-C5B8-79BE-FDE82664D170}"/>
              </a:ext>
            </a:extLst>
          </p:cNvPr>
          <p:cNvPicPr>
            <a:picLocks noChangeAspect="1"/>
          </p:cNvPicPr>
          <p:nvPr/>
        </p:nvPicPr>
        <p:blipFill>
          <a:blip r:embed="rId2"/>
          <a:stretch>
            <a:fillRect/>
          </a:stretch>
        </p:blipFill>
        <p:spPr>
          <a:xfrm>
            <a:off x="6439271" y="804862"/>
            <a:ext cx="5210175" cy="5248275"/>
          </a:xfrm>
          <a:prstGeom prst="rect">
            <a:avLst/>
          </a:prstGeom>
        </p:spPr>
      </p:pic>
    </p:spTree>
    <p:extLst>
      <p:ext uri="{BB962C8B-B14F-4D97-AF65-F5344CB8AC3E}">
        <p14:creationId xmlns:p14="http://schemas.microsoft.com/office/powerpoint/2010/main" val="41788736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373BC-EA68-B223-F6AD-E73FF2E8E595}"/>
              </a:ext>
            </a:extLst>
          </p:cNvPr>
          <p:cNvSpPr>
            <a:spLocks noGrp="1"/>
          </p:cNvSpPr>
          <p:nvPr>
            <p:ph type="title"/>
          </p:nvPr>
        </p:nvSpPr>
        <p:spPr/>
        <p:txBody>
          <a:bodyPr/>
          <a:lstStyle/>
          <a:p>
            <a:r>
              <a:rPr lang="en-CA" dirty="0"/>
              <a:t>summary</a:t>
            </a:r>
          </a:p>
        </p:txBody>
      </p:sp>
      <p:sp>
        <p:nvSpPr>
          <p:cNvPr id="3" name="Content Placeholder 2">
            <a:extLst>
              <a:ext uri="{FF2B5EF4-FFF2-40B4-BE49-F238E27FC236}">
                <a16:creationId xmlns:a16="http://schemas.microsoft.com/office/drawing/2014/main" id="{1B9BA447-4686-3DC2-6A33-885EA0921016}"/>
              </a:ext>
            </a:extLst>
          </p:cNvPr>
          <p:cNvSpPr>
            <a:spLocks noGrp="1"/>
          </p:cNvSpPr>
          <p:nvPr>
            <p:ph idx="1"/>
          </p:nvPr>
        </p:nvSpPr>
        <p:spPr/>
        <p:txBody>
          <a:bodyPr/>
          <a:lstStyle/>
          <a:p>
            <a:r>
              <a:rPr lang="en-CA" dirty="0"/>
              <a:t>Multitasking</a:t>
            </a:r>
          </a:p>
          <a:p>
            <a:r>
              <a:rPr lang="en-CA" dirty="0"/>
              <a:t>Multithreading</a:t>
            </a:r>
          </a:p>
          <a:p>
            <a:r>
              <a:rPr lang="en-CA" dirty="0"/>
              <a:t>Processes </a:t>
            </a:r>
          </a:p>
          <a:p>
            <a:r>
              <a:rPr lang="en-CA" dirty="0"/>
              <a:t>Thread</a:t>
            </a:r>
          </a:p>
          <a:p>
            <a:r>
              <a:rPr lang="en-CA" dirty="0"/>
              <a:t>Terminologies</a:t>
            </a:r>
          </a:p>
          <a:p>
            <a:endParaRPr lang="en-CA" dirty="0"/>
          </a:p>
        </p:txBody>
      </p:sp>
    </p:spTree>
    <p:extLst>
      <p:ext uri="{BB962C8B-B14F-4D97-AF65-F5344CB8AC3E}">
        <p14:creationId xmlns:p14="http://schemas.microsoft.com/office/powerpoint/2010/main" val="2545238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ECFB-99AB-13C0-BF77-28345997207B}"/>
              </a:ext>
            </a:extLst>
          </p:cNvPr>
          <p:cNvSpPr>
            <a:spLocks noGrp="1"/>
          </p:cNvSpPr>
          <p:nvPr>
            <p:ph type="title"/>
          </p:nvPr>
        </p:nvSpPr>
        <p:spPr/>
        <p:txBody>
          <a:bodyPr/>
          <a:lstStyle/>
          <a:p>
            <a:r>
              <a:rPr lang="en-CA" dirty="0"/>
              <a:t>exercise</a:t>
            </a:r>
          </a:p>
        </p:txBody>
      </p:sp>
      <p:sp>
        <p:nvSpPr>
          <p:cNvPr id="3" name="Content Placeholder 2">
            <a:extLst>
              <a:ext uri="{FF2B5EF4-FFF2-40B4-BE49-F238E27FC236}">
                <a16:creationId xmlns:a16="http://schemas.microsoft.com/office/drawing/2014/main" id="{AE037BCD-4534-0136-C11F-037F88D6FBEE}"/>
              </a:ext>
            </a:extLst>
          </p:cNvPr>
          <p:cNvSpPr>
            <a:spLocks noGrp="1"/>
          </p:cNvSpPr>
          <p:nvPr>
            <p:ph idx="1"/>
          </p:nvPr>
        </p:nvSpPr>
        <p:spPr/>
        <p:txBody>
          <a:bodyPr/>
          <a:lstStyle/>
          <a:p>
            <a:pPr algn="l">
              <a:buFont typeface="Arial" panose="020B0604020202020204" pitchFamily="34" charset="0"/>
              <a:buChar char="•"/>
            </a:pPr>
            <a:r>
              <a:rPr lang="en-CA" b="0" i="0" dirty="0">
                <a:solidFill>
                  <a:srgbClr val="1C1E21"/>
                </a:solidFill>
                <a:effectLst/>
                <a:latin typeface="system-ui"/>
              </a:rPr>
              <a:t>Read Wikipedia on </a:t>
            </a:r>
            <a:r>
              <a:rPr lang="en-CA" b="0" i="0" dirty="0">
                <a:solidFill>
                  <a:srgbClr val="1C1E21"/>
                </a:solidFill>
                <a:effectLst/>
                <a:latin typeface="system-ui"/>
                <a:hlinkClick r:id="rId2"/>
              </a:rPr>
              <a:t>Threads</a:t>
            </a:r>
            <a:endParaRPr lang="en-CA" b="0" i="0" dirty="0">
              <a:solidFill>
                <a:srgbClr val="1C1E21"/>
              </a:solidFill>
              <a:effectLst/>
              <a:latin typeface="system-ui"/>
            </a:endParaRPr>
          </a:p>
          <a:p>
            <a:pPr marL="0" indent="0">
              <a:buNone/>
            </a:pPr>
            <a:endParaRPr lang="en-CA" dirty="0"/>
          </a:p>
        </p:txBody>
      </p:sp>
    </p:spTree>
    <p:extLst>
      <p:ext uri="{BB962C8B-B14F-4D97-AF65-F5344CB8AC3E}">
        <p14:creationId xmlns:p14="http://schemas.microsoft.com/office/powerpoint/2010/main" val="377818195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FCAD9F006CB684785C48873F49AAE65" ma:contentTypeVersion="2" ma:contentTypeDescription="Create a new document." ma:contentTypeScope="" ma:versionID="96f828d4cfac7551138c7919ab73a1ac">
  <xsd:schema xmlns:xsd="http://www.w3.org/2001/XMLSchema" xmlns:xs="http://www.w3.org/2001/XMLSchema" xmlns:p="http://schemas.microsoft.com/office/2006/metadata/properties" xmlns:ns3="06e64d17-5527-488e-a8df-37c810582537" targetNamespace="http://schemas.microsoft.com/office/2006/metadata/properties" ma:root="true" ma:fieldsID="b9bd8427c61cf70c77e6545ce46a77d1" ns3:_="">
    <xsd:import namespace="06e64d17-5527-488e-a8df-37c810582537"/>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e64d17-5527-488e-a8df-37c8105825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5F02EC-492F-48E4-9FB3-621DF9EA3C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e64d17-5527-488e-a8df-37c810582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C624C8-8772-403D-B8FA-3D2653404813}">
  <ds:schemaRefs>
    <ds:schemaRef ds:uri="http://purl.org/dc/terms/"/>
    <ds:schemaRef ds:uri="http://www.w3.org/XML/1998/namespace"/>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06e64d17-5527-488e-a8df-37c810582537"/>
    <ds:schemaRef ds:uri="http://schemas.microsoft.com/office/2006/metadata/properties"/>
  </ds:schemaRefs>
</ds:datastoreItem>
</file>

<file path=customXml/itemProps3.xml><?xml version="1.0" encoding="utf-8"?>
<ds:datastoreItem xmlns:ds="http://schemas.openxmlformats.org/officeDocument/2006/customXml" ds:itemID="{192D8CED-F660-47EF-B9E6-FED2E3837BA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12689</TotalTime>
  <Words>3367</Words>
  <Application>Microsoft Office PowerPoint</Application>
  <PresentationFormat>Widescreen</PresentationFormat>
  <Paragraphs>184</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Gill Sans MT</vt:lpstr>
      <vt:lpstr>system-ui</vt:lpstr>
      <vt:lpstr>Gallery</vt:lpstr>
      <vt:lpstr>Object Oriented Software Development (C++) OOP345</vt:lpstr>
      <vt:lpstr>PowerPoint Presentation</vt:lpstr>
      <vt:lpstr>Week 11</vt:lpstr>
      <vt:lpstr>Objective- Multi-Threading </vt:lpstr>
      <vt:lpstr>Multi-Threading </vt:lpstr>
      <vt:lpstr>Multi-Threading</vt:lpstr>
      <vt:lpstr>Performance​ </vt:lpstr>
      <vt:lpstr>multi-tasking</vt:lpstr>
      <vt:lpstr>Role of Problem Size​ </vt:lpstr>
      <vt:lpstr>Multi-tasking</vt:lpstr>
      <vt:lpstr>Process​ </vt:lpstr>
      <vt:lpstr>Process​</vt:lpstr>
      <vt:lpstr>Thread​ </vt:lpstr>
      <vt:lpstr>Thread​ </vt:lpstr>
      <vt:lpstr>Terminology​ </vt:lpstr>
      <vt:lpstr>Shared Memory</vt:lpstr>
      <vt:lpstr>Shared State​ </vt:lpstr>
      <vt:lpstr>Mutexes, Locks, and Atomics​ </vt:lpstr>
      <vt:lpstr>Atomics​ </vt:lpstr>
      <vt:lpstr>Deadlock​ </vt:lpstr>
      <vt:lpstr>Policy-Based Execution​-Execution Policies​ </vt:lpstr>
      <vt:lpstr>Example</vt:lpstr>
      <vt:lpstr>Thread Class</vt:lpstr>
      <vt:lpstr>Example​ </vt:lpstr>
      <vt:lpstr>Thread Identifier</vt:lpstr>
      <vt:lpstr>PowerPoint Presentation</vt:lpstr>
      <vt:lpstr>Function Object​ </vt:lpstr>
      <vt:lpstr>Lambda Expression​ </vt:lpstr>
      <vt:lpstr>future Library​ </vt:lpstr>
      <vt:lpstr>Futures</vt:lpstr>
      <vt:lpstr>Providers​ </vt:lpstr>
      <vt:lpstr>promise Objects</vt:lpstr>
      <vt:lpstr>packaged_task Object</vt:lpstr>
      <vt:lpstr>async() function​ </vt:lpstr>
      <vt:lpstr>Examples Promise - Future</vt:lpstr>
      <vt:lpstr>Packaged Task​ </vt:lpstr>
      <vt:lpstr>async()</vt:lpstr>
      <vt:lpstr>summary</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Software Development (C++) OOP345</dc:title>
  <dc:creator>Madiha Kazmi</dc:creator>
  <cp:lastModifiedBy>Madiha Kazmi</cp:lastModifiedBy>
  <cp:revision>125</cp:revision>
  <dcterms:created xsi:type="dcterms:W3CDTF">2022-09-05T03:30:05Z</dcterms:created>
  <dcterms:modified xsi:type="dcterms:W3CDTF">2022-11-29T18:43:11Z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0x0101005FCAD9F006CB684785C48873F49AAE65</vt:lpwstr>
  </property>
</Properties>
</file>